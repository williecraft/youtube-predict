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ntserrat Bold" charset="1" panose="00000800000000000000"/>
      <p:regular r:id="rId21"/>
    </p:embeddedFont>
    <p:embeddedFont>
      <p:font typeface="Poppins" charset="1" panose="00000500000000000000"/>
      <p:regular r:id="rId22"/>
    </p:embeddedFont>
    <p:embeddedFont>
      <p:font typeface="Poppins Bold" charset="1" panose="000008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media/image39.png" Type="http://schemas.openxmlformats.org/officeDocument/2006/relationships/image"/><Relationship Id="rId9" Target="../media/image4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jpeg" Type="http://schemas.openxmlformats.org/officeDocument/2006/relationships/image"/><Relationship Id="rId3" Target="../media/image42.png" Type="http://schemas.openxmlformats.org/officeDocument/2006/relationships/image"/><Relationship Id="rId4" Target="../media/image4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762772" cy="709824"/>
          </a:xfrm>
          <a:custGeom>
            <a:avLst/>
            <a:gdLst/>
            <a:ahLst/>
            <a:cxnLst/>
            <a:rect r="r" b="b" t="t" l="l"/>
            <a:pathLst>
              <a:path h="709824" w="762772">
                <a:moveTo>
                  <a:pt x="0" y="0"/>
                </a:moveTo>
                <a:lnTo>
                  <a:pt x="762772" y="0"/>
                </a:lnTo>
                <a:lnTo>
                  <a:pt x="762772" y="709824"/>
                </a:lnTo>
                <a:lnTo>
                  <a:pt x="0" y="709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948693" y="1383612"/>
            <a:ext cx="6310607" cy="7200900"/>
          </a:xfrm>
          <a:custGeom>
            <a:avLst/>
            <a:gdLst/>
            <a:ahLst/>
            <a:cxnLst/>
            <a:rect r="r" b="b" t="t" l="l"/>
            <a:pathLst>
              <a:path h="7200900" w="6310607">
                <a:moveTo>
                  <a:pt x="0" y="0"/>
                </a:moveTo>
                <a:lnTo>
                  <a:pt x="6310607" y="0"/>
                </a:lnTo>
                <a:lnTo>
                  <a:pt x="6310607" y="7200900"/>
                </a:lnTo>
                <a:lnTo>
                  <a:pt x="0" y="7200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2667093"/>
            <a:ext cx="9253225" cy="3893869"/>
          </a:xfrm>
          <a:prstGeom prst="rect">
            <a:avLst/>
          </a:prstGeom>
        </p:spPr>
        <p:txBody>
          <a:bodyPr anchor="t" rtlCol="false" tIns="0" lIns="0" bIns="0" rIns="0">
            <a:spAutoFit/>
          </a:bodyPr>
          <a:lstStyle/>
          <a:p>
            <a:pPr algn="l">
              <a:lnSpc>
                <a:spcPts val="15120"/>
              </a:lnSpc>
            </a:pPr>
            <a:r>
              <a:rPr lang="en-US" b="true" sz="14400">
                <a:solidFill>
                  <a:srgbClr val="EFF1E8"/>
                </a:solidFill>
                <a:latin typeface="Montserrat Bold"/>
                <a:ea typeface="Montserrat Bold"/>
                <a:cs typeface="Montserrat Bold"/>
                <a:sym typeface="Montserrat Bold"/>
              </a:rPr>
              <a:t>Data Analyst</a:t>
            </a:r>
          </a:p>
        </p:txBody>
      </p:sp>
      <p:grpSp>
        <p:nvGrpSpPr>
          <p:cNvPr name="Group 5" id="5"/>
          <p:cNvGrpSpPr/>
          <p:nvPr/>
        </p:nvGrpSpPr>
        <p:grpSpPr>
          <a:xfrm rot="0">
            <a:off x="17519831" y="-691855"/>
            <a:ext cx="1676063" cy="11497700"/>
            <a:chOff x="0" y="0"/>
            <a:chExt cx="441432" cy="3028201"/>
          </a:xfrm>
        </p:grpSpPr>
        <p:sp>
          <p:nvSpPr>
            <p:cNvPr name="Freeform 6" id="6"/>
            <p:cNvSpPr/>
            <p:nvPr/>
          </p:nvSpPr>
          <p:spPr>
            <a:xfrm flipH="false" flipV="false" rot="0">
              <a:off x="0" y="0"/>
              <a:ext cx="441432" cy="3028201"/>
            </a:xfrm>
            <a:custGeom>
              <a:avLst/>
              <a:gdLst/>
              <a:ahLst/>
              <a:cxnLst/>
              <a:rect r="r" b="b" t="t" l="l"/>
              <a:pathLst>
                <a:path h="3028201" w="441432">
                  <a:moveTo>
                    <a:pt x="0" y="0"/>
                  </a:moveTo>
                  <a:lnTo>
                    <a:pt x="441432" y="0"/>
                  </a:lnTo>
                  <a:lnTo>
                    <a:pt x="441432" y="3028201"/>
                  </a:lnTo>
                  <a:lnTo>
                    <a:pt x="0" y="3028201"/>
                  </a:lnTo>
                  <a:close/>
                </a:path>
              </a:pathLst>
            </a:custGeom>
            <a:solidFill>
              <a:srgbClr val="EFF1E8"/>
            </a:solidFill>
          </p:spPr>
        </p:sp>
        <p:sp>
          <p:nvSpPr>
            <p:cNvPr name="TextBox 7" id="7"/>
            <p:cNvSpPr txBox="true"/>
            <p:nvPr/>
          </p:nvSpPr>
          <p:spPr>
            <a:xfrm>
              <a:off x="0" y="-38100"/>
              <a:ext cx="441432" cy="3066301"/>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962956" y="991814"/>
            <a:ext cx="1870631" cy="746711"/>
          </a:xfrm>
          <a:prstGeom prst="rect">
            <a:avLst/>
          </a:prstGeom>
        </p:spPr>
        <p:txBody>
          <a:bodyPr anchor="t" rtlCol="false" tIns="0" lIns="0" bIns="0" rIns="0">
            <a:spAutoFit/>
          </a:bodyPr>
          <a:lstStyle/>
          <a:p>
            <a:pPr algn="l">
              <a:lnSpc>
                <a:spcPts val="2939"/>
              </a:lnSpc>
              <a:spcBef>
                <a:spcPct val="0"/>
              </a:spcBef>
            </a:pPr>
            <a:r>
              <a:rPr lang="en-US" sz="2099">
                <a:solidFill>
                  <a:srgbClr val="EFF1E8"/>
                </a:solidFill>
                <a:latin typeface="Poppins"/>
                <a:ea typeface="Poppins"/>
                <a:cs typeface="Poppins"/>
                <a:sym typeface="Poppins"/>
              </a:rPr>
              <a:t>Thynk Unlimited</a:t>
            </a:r>
          </a:p>
        </p:txBody>
      </p:sp>
      <p:sp>
        <p:nvSpPr>
          <p:cNvPr name="TextBox 9" id="9"/>
          <p:cNvSpPr txBox="true"/>
          <p:nvPr/>
        </p:nvSpPr>
        <p:spPr>
          <a:xfrm rot="0">
            <a:off x="1028700" y="6698243"/>
            <a:ext cx="7880342" cy="358825"/>
          </a:xfrm>
          <a:prstGeom prst="rect">
            <a:avLst/>
          </a:prstGeom>
        </p:spPr>
        <p:txBody>
          <a:bodyPr anchor="t" rtlCol="false" tIns="0" lIns="0" bIns="0" rIns="0">
            <a:spAutoFit/>
          </a:bodyPr>
          <a:lstStyle/>
          <a:p>
            <a:pPr algn="l">
              <a:lnSpc>
                <a:spcPts val="2799"/>
              </a:lnSpc>
              <a:spcBef>
                <a:spcPct val="0"/>
              </a:spcBef>
            </a:pPr>
            <a:r>
              <a:rPr lang="en-US" sz="1999" spc="225">
                <a:solidFill>
                  <a:srgbClr val="EFF1E8"/>
                </a:solidFill>
                <a:latin typeface="Poppins"/>
                <a:ea typeface="Poppins"/>
                <a:cs typeface="Poppins"/>
                <a:sym typeface="Poppins"/>
              </a:rPr>
              <a:t>Transforming Data into Strategic Business Value</a:t>
            </a:r>
          </a:p>
        </p:txBody>
      </p:sp>
      <p:sp>
        <p:nvSpPr>
          <p:cNvPr name="TextBox 10" id="10"/>
          <p:cNvSpPr txBox="true"/>
          <p:nvPr/>
        </p:nvSpPr>
        <p:spPr>
          <a:xfrm rot="0">
            <a:off x="1028700" y="7520738"/>
            <a:ext cx="7471831" cy="1063774"/>
          </a:xfrm>
          <a:prstGeom prst="rect">
            <a:avLst/>
          </a:prstGeom>
        </p:spPr>
        <p:txBody>
          <a:bodyPr anchor="t" rtlCol="false" tIns="0" lIns="0" bIns="0" rIns="0">
            <a:spAutoFit/>
          </a:bodyPr>
          <a:lstStyle/>
          <a:p>
            <a:pPr algn="just">
              <a:lnSpc>
                <a:spcPts val="2799"/>
              </a:lnSpc>
              <a:spcBef>
                <a:spcPct val="0"/>
              </a:spcBef>
            </a:pPr>
            <a:r>
              <a:rPr lang="en-US" sz="1999">
                <a:solidFill>
                  <a:srgbClr val="EFF1E8"/>
                </a:solidFill>
                <a:latin typeface="Poppins"/>
                <a:ea typeface="Poppins"/>
                <a:cs typeface="Poppins"/>
                <a:sym typeface="Poppins"/>
              </a:rPr>
              <a:t>An overview of how data analysis drives smarter decisions, operational efficiency, and long-term growth in modern organizations</a:t>
            </a:r>
          </a:p>
        </p:txBody>
      </p:sp>
      <p:sp>
        <p:nvSpPr>
          <p:cNvPr name="AutoShape 11" id="11"/>
          <p:cNvSpPr/>
          <p:nvPr/>
        </p:nvSpPr>
        <p:spPr>
          <a:xfrm flipH="true" flipV="true">
            <a:off x="1047750" y="8855456"/>
            <a:ext cx="0" cy="402844"/>
          </a:xfrm>
          <a:prstGeom prst="line">
            <a:avLst/>
          </a:prstGeom>
          <a:ln cap="flat" w="38100">
            <a:solidFill>
              <a:srgbClr val="EFF1E8"/>
            </a:solidFill>
            <a:prstDash val="solid"/>
            <a:headEnd type="none" len="sm" w="sm"/>
            <a:tailEnd type="none" len="sm" w="sm"/>
          </a:ln>
        </p:spPr>
      </p:sp>
      <p:sp>
        <p:nvSpPr>
          <p:cNvPr name="AutoShape 12" id="12"/>
          <p:cNvSpPr/>
          <p:nvPr/>
        </p:nvSpPr>
        <p:spPr>
          <a:xfrm flipH="true" flipV="true">
            <a:off x="1191738" y="8855456"/>
            <a:ext cx="0" cy="402844"/>
          </a:xfrm>
          <a:prstGeom prst="line">
            <a:avLst/>
          </a:prstGeom>
          <a:ln cap="flat" w="38100">
            <a:solidFill>
              <a:srgbClr val="EFF1E8"/>
            </a:solidFill>
            <a:prstDash val="solid"/>
            <a:headEnd type="none" len="sm" w="sm"/>
            <a:tailEnd type="none" len="sm" w="sm"/>
          </a:ln>
        </p:spPr>
      </p:sp>
      <p:sp>
        <p:nvSpPr>
          <p:cNvPr name="AutoShape 13" id="13"/>
          <p:cNvSpPr/>
          <p:nvPr/>
        </p:nvSpPr>
        <p:spPr>
          <a:xfrm flipH="true" flipV="true">
            <a:off x="1335726" y="8855456"/>
            <a:ext cx="0" cy="402844"/>
          </a:xfrm>
          <a:prstGeom prst="line">
            <a:avLst/>
          </a:prstGeom>
          <a:ln cap="flat" w="38100">
            <a:solidFill>
              <a:srgbClr val="EFF1E8"/>
            </a:solidFill>
            <a:prstDash val="solid"/>
            <a:headEnd type="none" len="sm" w="sm"/>
            <a:tailEnd type="none" len="sm" w="sm"/>
          </a:ln>
        </p:spPr>
      </p:sp>
      <p:sp>
        <p:nvSpPr>
          <p:cNvPr name="AutoShape 14" id="14"/>
          <p:cNvSpPr/>
          <p:nvPr/>
        </p:nvSpPr>
        <p:spPr>
          <a:xfrm flipH="true" flipV="true">
            <a:off x="16952274" y="8855456"/>
            <a:ext cx="0" cy="402844"/>
          </a:xfrm>
          <a:prstGeom prst="line">
            <a:avLst/>
          </a:prstGeom>
          <a:ln cap="flat" w="38100">
            <a:solidFill>
              <a:srgbClr val="EFF1E8"/>
            </a:solidFill>
            <a:prstDash val="solid"/>
            <a:headEnd type="none" len="sm" w="sm"/>
            <a:tailEnd type="none" len="sm" w="sm"/>
          </a:ln>
        </p:spPr>
      </p:sp>
      <p:sp>
        <p:nvSpPr>
          <p:cNvPr name="AutoShape 15" id="15"/>
          <p:cNvSpPr/>
          <p:nvPr/>
        </p:nvSpPr>
        <p:spPr>
          <a:xfrm flipV="true">
            <a:off x="17096262" y="8855456"/>
            <a:ext cx="0" cy="402844"/>
          </a:xfrm>
          <a:prstGeom prst="line">
            <a:avLst/>
          </a:prstGeom>
          <a:ln cap="flat" w="38100">
            <a:solidFill>
              <a:srgbClr val="EFF1E8"/>
            </a:solidFill>
            <a:prstDash val="solid"/>
            <a:headEnd type="none" len="sm" w="sm"/>
            <a:tailEnd type="none" len="sm" w="sm"/>
          </a:ln>
        </p:spPr>
      </p:sp>
      <p:sp>
        <p:nvSpPr>
          <p:cNvPr name="AutoShape 16" id="16"/>
          <p:cNvSpPr/>
          <p:nvPr/>
        </p:nvSpPr>
        <p:spPr>
          <a:xfrm flipV="true">
            <a:off x="17240250" y="8855456"/>
            <a:ext cx="0" cy="402844"/>
          </a:xfrm>
          <a:prstGeom prst="line">
            <a:avLst/>
          </a:prstGeom>
          <a:ln cap="flat" w="38100">
            <a:solidFill>
              <a:srgbClr val="EFF1E8"/>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sp>
        <p:nvSpPr>
          <p:cNvPr name="Freeform 2" id="2"/>
          <p:cNvSpPr/>
          <p:nvPr/>
        </p:nvSpPr>
        <p:spPr>
          <a:xfrm flipH="false" flipV="false" rot="0">
            <a:off x="9945029" y="1194596"/>
            <a:ext cx="7314271" cy="6182391"/>
          </a:xfrm>
          <a:custGeom>
            <a:avLst/>
            <a:gdLst/>
            <a:ahLst/>
            <a:cxnLst/>
            <a:rect r="r" b="b" t="t" l="l"/>
            <a:pathLst>
              <a:path h="6182391" w="7314271">
                <a:moveTo>
                  <a:pt x="0" y="0"/>
                </a:moveTo>
                <a:lnTo>
                  <a:pt x="7314271" y="0"/>
                </a:lnTo>
                <a:lnTo>
                  <a:pt x="7314271" y="6182391"/>
                </a:lnTo>
                <a:lnTo>
                  <a:pt x="0" y="61823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8211764"/>
            <a:ext cx="16230600" cy="1046536"/>
            <a:chOff x="0" y="0"/>
            <a:chExt cx="4274726" cy="275631"/>
          </a:xfrm>
        </p:grpSpPr>
        <p:sp>
          <p:nvSpPr>
            <p:cNvPr name="Freeform 4" id="4"/>
            <p:cNvSpPr/>
            <p:nvPr/>
          </p:nvSpPr>
          <p:spPr>
            <a:xfrm flipH="false" flipV="false" rot="0">
              <a:off x="0" y="0"/>
              <a:ext cx="4274726" cy="275631"/>
            </a:xfrm>
            <a:custGeom>
              <a:avLst/>
              <a:gdLst/>
              <a:ahLst/>
              <a:cxnLst/>
              <a:rect r="r" b="b" t="t" l="l"/>
              <a:pathLst>
                <a:path h="275631" w="4274726">
                  <a:moveTo>
                    <a:pt x="47700" y="0"/>
                  </a:moveTo>
                  <a:lnTo>
                    <a:pt x="4227026" y="0"/>
                  </a:lnTo>
                  <a:cubicBezTo>
                    <a:pt x="4239677" y="0"/>
                    <a:pt x="4251809" y="5025"/>
                    <a:pt x="4260755" y="13971"/>
                  </a:cubicBezTo>
                  <a:cubicBezTo>
                    <a:pt x="4269700" y="22916"/>
                    <a:pt x="4274726" y="35049"/>
                    <a:pt x="4274726" y="47700"/>
                  </a:cubicBezTo>
                  <a:lnTo>
                    <a:pt x="4274726" y="227931"/>
                  </a:lnTo>
                  <a:cubicBezTo>
                    <a:pt x="4274726" y="240582"/>
                    <a:pt x="4269700" y="252715"/>
                    <a:pt x="4260755" y="261660"/>
                  </a:cubicBezTo>
                  <a:cubicBezTo>
                    <a:pt x="4251809" y="270605"/>
                    <a:pt x="4239677" y="275631"/>
                    <a:pt x="4227026" y="275631"/>
                  </a:cubicBezTo>
                  <a:lnTo>
                    <a:pt x="47700" y="275631"/>
                  </a:lnTo>
                  <a:cubicBezTo>
                    <a:pt x="35049" y="275631"/>
                    <a:pt x="22916" y="270605"/>
                    <a:pt x="13971" y="261660"/>
                  </a:cubicBezTo>
                  <a:cubicBezTo>
                    <a:pt x="5025" y="252715"/>
                    <a:pt x="0" y="240582"/>
                    <a:pt x="0" y="227931"/>
                  </a:cubicBezTo>
                  <a:lnTo>
                    <a:pt x="0" y="47700"/>
                  </a:lnTo>
                  <a:cubicBezTo>
                    <a:pt x="0" y="35049"/>
                    <a:pt x="5025" y="22916"/>
                    <a:pt x="13971" y="13971"/>
                  </a:cubicBezTo>
                  <a:cubicBezTo>
                    <a:pt x="22916" y="5025"/>
                    <a:pt x="35049" y="0"/>
                    <a:pt x="47700" y="0"/>
                  </a:cubicBezTo>
                  <a:close/>
                </a:path>
              </a:pathLst>
            </a:custGeom>
            <a:solidFill>
              <a:srgbClr val="343734"/>
            </a:solidFill>
          </p:spPr>
        </p:sp>
        <p:sp>
          <p:nvSpPr>
            <p:cNvPr name="TextBox 5" id="5"/>
            <p:cNvSpPr txBox="true"/>
            <p:nvPr/>
          </p:nvSpPr>
          <p:spPr>
            <a:xfrm>
              <a:off x="0" y="-38100"/>
              <a:ext cx="4274726" cy="313731"/>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123950"/>
            <a:ext cx="7736587" cy="2473910"/>
          </a:xfrm>
          <a:prstGeom prst="rect">
            <a:avLst/>
          </a:prstGeom>
        </p:spPr>
        <p:txBody>
          <a:bodyPr anchor="t" rtlCol="false" tIns="0" lIns="0" bIns="0" rIns="0">
            <a:spAutoFit/>
          </a:bodyPr>
          <a:lstStyle/>
          <a:p>
            <a:pPr algn="l">
              <a:lnSpc>
                <a:spcPts val="9679"/>
              </a:lnSpc>
            </a:pPr>
            <a:r>
              <a:rPr lang="en-US" b="true" sz="8799">
                <a:solidFill>
                  <a:srgbClr val="343734"/>
                </a:solidFill>
                <a:latin typeface="Montserrat Bold"/>
                <a:ea typeface="Montserrat Bold"/>
                <a:cs typeface="Montserrat Bold"/>
                <a:sym typeface="Montserrat Bold"/>
              </a:rPr>
              <a:t>The</a:t>
            </a:r>
            <a:r>
              <a:rPr lang="en-US" b="true" sz="8799">
                <a:solidFill>
                  <a:srgbClr val="343734"/>
                </a:solidFill>
                <a:latin typeface="Montserrat Bold"/>
                <a:ea typeface="Montserrat Bold"/>
                <a:cs typeface="Montserrat Bold"/>
                <a:sym typeface="Montserrat Bold"/>
              </a:rPr>
              <a:t> Definition</a:t>
            </a:r>
          </a:p>
        </p:txBody>
      </p:sp>
      <p:sp>
        <p:nvSpPr>
          <p:cNvPr name="TextBox 7" id="7"/>
          <p:cNvSpPr txBox="true"/>
          <p:nvPr/>
        </p:nvSpPr>
        <p:spPr>
          <a:xfrm rot="0">
            <a:off x="1028700" y="3836366"/>
            <a:ext cx="7140660" cy="3540621"/>
          </a:xfrm>
          <a:prstGeom prst="rect">
            <a:avLst/>
          </a:prstGeom>
        </p:spPr>
        <p:txBody>
          <a:bodyPr anchor="t" rtlCol="false" tIns="0" lIns="0" bIns="0" rIns="0">
            <a:spAutoFit/>
          </a:bodyPr>
          <a:lstStyle/>
          <a:p>
            <a:pPr algn="just">
              <a:lnSpc>
                <a:spcPts val="2800"/>
              </a:lnSpc>
              <a:spcBef>
                <a:spcPct val="0"/>
              </a:spcBef>
            </a:pPr>
            <a:r>
              <a:rPr lang="en-US" sz="2000">
                <a:solidFill>
                  <a:srgbClr val="343734"/>
                </a:solidFill>
                <a:latin typeface="Poppins"/>
                <a:ea typeface="Poppins"/>
                <a:cs typeface="Poppins"/>
                <a:sym typeface="Poppins"/>
              </a:rPr>
              <a:t>Lorem Ipsum tempor ad aliquip eiusmod occaecat adipisicing ipsum et officia excepteur officia enim in fugiat Lorem proident esse duis ad magna dolore ad ut cupidatat eu aliqua laboris enim commodo ut cupidatat duis cupidatat do laboris labore ad dolor Lorem Ipsum tempor ad aliquip eiusmod occaecat adipisicing ipsum et officia excepteur officia enim in fugiat Lorem proident esse duis ad magna dolore ad ut cupidatat eu aliqua laboris enim commodo ut cupidatat duis cupidatat do laboris labore ad dolor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080713"/>
            <a:ext cx="8350744" cy="5177587"/>
          </a:xfrm>
          <a:custGeom>
            <a:avLst/>
            <a:gdLst/>
            <a:ahLst/>
            <a:cxnLst/>
            <a:rect r="r" b="b" t="t" l="l"/>
            <a:pathLst>
              <a:path h="5177587" w="8350744">
                <a:moveTo>
                  <a:pt x="0" y="0"/>
                </a:moveTo>
                <a:lnTo>
                  <a:pt x="8350744" y="0"/>
                </a:lnTo>
                <a:lnTo>
                  <a:pt x="8350744" y="5177587"/>
                </a:lnTo>
                <a:lnTo>
                  <a:pt x="0" y="51775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5974720" y="1028700"/>
            <a:ext cx="1284580" cy="1284580"/>
          </a:xfrm>
          <a:custGeom>
            <a:avLst/>
            <a:gdLst/>
            <a:ahLst/>
            <a:cxnLst/>
            <a:rect r="r" b="b" t="t" l="l"/>
            <a:pathLst>
              <a:path h="1284580" w="1284580">
                <a:moveTo>
                  <a:pt x="1284580" y="1284580"/>
                </a:moveTo>
                <a:lnTo>
                  <a:pt x="0" y="1284580"/>
                </a:lnTo>
                <a:lnTo>
                  <a:pt x="0" y="0"/>
                </a:lnTo>
                <a:lnTo>
                  <a:pt x="1284580" y="0"/>
                </a:lnTo>
                <a:lnTo>
                  <a:pt x="1284580" y="128458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123950"/>
            <a:ext cx="9346453" cy="2473910"/>
          </a:xfrm>
          <a:prstGeom prst="rect">
            <a:avLst/>
          </a:prstGeom>
        </p:spPr>
        <p:txBody>
          <a:bodyPr anchor="t" rtlCol="false" tIns="0" lIns="0" bIns="0" rIns="0">
            <a:spAutoFit/>
          </a:bodyPr>
          <a:lstStyle/>
          <a:p>
            <a:pPr algn="l">
              <a:lnSpc>
                <a:spcPts val="9679"/>
              </a:lnSpc>
            </a:pPr>
            <a:r>
              <a:rPr lang="en-US" b="true" sz="8799">
                <a:solidFill>
                  <a:srgbClr val="EFF1E8"/>
                </a:solidFill>
                <a:latin typeface="Montserrat Bold"/>
                <a:ea typeface="Montserrat Bold"/>
                <a:cs typeface="Montserrat Bold"/>
                <a:sym typeface="Montserrat Bold"/>
              </a:rPr>
              <a:t>The</a:t>
            </a:r>
            <a:r>
              <a:rPr lang="en-US" b="true" sz="8799">
                <a:solidFill>
                  <a:srgbClr val="EFF1E8"/>
                </a:solidFill>
                <a:latin typeface="Montserrat Bold"/>
                <a:ea typeface="Montserrat Bold"/>
                <a:cs typeface="Montserrat Bold"/>
                <a:sym typeface="Montserrat Bold"/>
              </a:rPr>
              <a:t> Strategic Importance</a:t>
            </a:r>
          </a:p>
        </p:txBody>
      </p:sp>
      <p:sp>
        <p:nvSpPr>
          <p:cNvPr name="TextBox 5" id="5"/>
          <p:cNvSpPr txBox="true"/>
          <p:nvPr/>
        </p:nvSpPr>
        <p:spPr>
          <a:xfrm rot="0">
            <a:off x="10685074" y="4014038"/>
            <a:ext cx="6574226" cy="3893096"/>
          </a:xfrm>
          <a:prstGeom prst="rect">
            <a:avLst/>
          </a:prstGeom>
        </p:spPr>
        <p:txBody>
          <a:bodyPr anchor="t" rtlCol="false" tIns="0" lIns="0" bIns="0" rIns="0">
            <a:spAutoFit/>
          </a:bodyPr>
          <a:lstStyle/>
          <a:p>
            <a:pPr algn="just">
              <a:lnSpc>
                <a:spcPts val="2800"/>
              </a:lnSpc>
              <a:spcBef>
                <a:spcPct val="0"/>
              </a:spcBef>
            </a:pPr>
            <a:r>
              <a:rPr lang="en-US" sz="2000">
                <a:solidFill>
                  <a:srgbClr val="EFF1E8"/>
                </a:solidFill>
                <a:latin typeface="Poppins"/>
                <a:ea typeface="Poppins"/>
                <a:cs typeface="Poppins"/>
                <a:sym typeface="Poppins"/>
              </a:rPr>
              <a:t>Lorem Ipsum tempor ad aliquip eiusmod occaecat adipisicing ipsum et officia excepteur officia enim in fugiat Lorem proident esse duis ad magna dolore ad ut cupidatat eu aliqua laboris enim commodo ut cupidatat duis cupidatat do laboris labore ad dolor Lorem Ipsum tempor ad aliquip eiusmod occaecat adipisicing ipsum et officia excepteur officia enim in fugiat Lorem proident esse duis ad magna dolore ad ut cupidatat eu aliqua laboris enim commodo ut cupidatat duis cupidatat do laboris labore ad dolor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1028700" y="5298857"/>
            <a:ext cx="3003266" cy="760738"/>
            <a:chOff x="0" y="0"/>
            <a:chExt cx="790984" cy="200359"/>
          </a:xfrm>
        </p:grpSpPr>
        <p:sp>
          <p:nvSpPr>
            <p:cNvPr name="Freeform 3" id="3"/>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343734"/>
            </a:solidFill>
          </p:spPr>
        </p:sp>
        <p:sp>
          <p:nvSpPr>
            <p:cNvPr name="TextBox 4" id="4"/>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335534" y="5298857"/>
            <a:ext cx="3003266" cy="760738"/>
            <a:chOff x="0" y="0"/>
            <a:chExt cx="790984" cy="200359"/>
          </a:xfrm>
        </p:grpSpPr>
        <p:sp>
          <p:nvSpPr>
            <p:cNvPr name="Freeform 6" id="6"/>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343734"/>
            </a:solidFill>
          </p:spPr>
        </p:sp>
        <p:sp>
          <p:nvSpPr>
            <p:cNvPr name="TextBox 7" id="7"/>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642367" y="5298857"/>
            <a:ext cx="3003266" cy="760738"/>
            <a:chOff x="0" y="0"/>
            <a:chExt cx="790984" cy="200359"/>
          </a:xfrm>
        </p:grpSpPr>
        <p:sp>
          <p:nvSpPr>
            <p:cNvPr name="Freeform 9" id="9"/>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343734"/>
            </a:solidFill>
          </p:spPr>
        </p:sp>
        <p:sp>
          <p:nvSpPr>
            <p:cNvPr name="TextBox 10" id="10"/>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949201" y="5298857"/>
            <a:ext cx="3003266" cy="760738"/>
            <a:chOff x="0" y="0"/>
            <a:chExt cx="790984" cy="200359"/>
          </a:xfrm>
        </p:grpSpPr>
        <p:sp>
          <p:nvSpPr>
            <p:cNvPr name="Freeform 12" id="12"/>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343734"/>
            </a:solidFill>
          </p:spPr>
        </p:sp>
        <p:sp>
          <p:nvSpPr>
            <p:cNvPr name="TextBox 13" id="13"/>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4256034" y="5298857"/>
            <a:ext cx="3003266" cy="760738"/>
            <a:chOff x="0" y="0"/>
            <a:chExt cx="790984" cy="200359"/>
          </a:xfrm>
        </p:grpSpPr>
        <p:sp>
          <p:nvSpPr>
            <p:cNvPr name="Freeform 15" id="15"/>
            <p:cNvSpPr/>
            <p:nvPr/>
          </p:nvSpPr>
          <p:spPr>
            <a:xfrm flipH="false" flipV="false" rot="0">
              <a:off x="0" y="0"/>
              <a:ext cx="790984" cy="200359"/>
            </a:xfrm>
            <a:custGeom>
              <a:avLst/>
              <a:gdLst/>
              <a:ahLst/>
              <a:cxnLst/>
              <a:rect r="r" b="b" t="t" l="l"/>
              <a:pathLst>
                <a:path h="200359" w="790984">
                  <a:moveTo>
                    <a:pt x="100180" y="0"/>
                  </a:moveTo>
                  <a:lnTo>
                    <a:pt x="690804" y="0"/>
                  </a:lnTo>
                  <a:cubicBezTo>
                    <a:pt x="746132" y="0"/>
                    <a:pt x="790984" y="44852"/>
                    <a:pt x="790984" y="100180"/>
                  </a:cubicBezTo>
                  <a:lnTo>
                    <a:pt x="790984" y="100180"/>
                  </a:lnTo>
                  <a:cubicBezTo>
                    <a:pt x="790984" y="155507"/>
                    <a:pt x="746132" y="200359"/>
                    <a:pt x="690804" y="200359"/>
                  </a:cubicBezTo>
                  <a:lnTo>
                    <a:pt x="100180" y="200359"/>
                  </a:lnTo>
                  <a:cubicBezTo>
                    <a:pt x="44852" y="200359"/>
                    <a:pt x="0" y="155507"/>
                    <a:pt x="0" y="100180"/>
                  </a:cubicBezTo>
                  <a:lnTo>
                    <a:pt x="0" y="100180"/>
                  </a:lnTo>
                  <a:cubicBezTo>
                    <a:pt x="0" y="44852"/>
                    <a:pt x="44852" y="0"/>
                    <a:pt x="100180" y="0"/>
                  </a:cubicBezTo>
                  <a:close/>
                </a:path>
              </a:pathLst>
            </a:custGeom>
            <a:solidFill>
              <a:srgbClr val="343734"/>
            </a:solidFill>
          </p:spPr>
        </p:sp>
        <p:sp>
          <p:nvSpPr>
            <p:cNvPr name="TextBox 16" id="16"/>
            <p:cNvSpPr txBox="true"/>
            <p:nvPr/>
          </p:nvSpPr>
          <p:spPr>
            <a:xfrm>
              <a:off x="0" y="-38100"/>
              <a:ext cx="790984" cy="238459"/>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028700" y="6812071"/>
            <a:ext cx="16230600" cy="2877077"/>
            <a:chOff x="0" y="0"/>
            <a:chExt cx="2514545" cy="445735"/>
          </a:xfrm>
        </p:grpSpPr>
        <p:sp>
          <p:nvSpPr>
            <p:cNvPr name="Freeform 18" id="18"/>
            <p:cNvSpPr/>
            <p:nvPr/>
          </p:nvSpPr>
          <p:spPr>
            <a:xfrm flipH="false" flipV="false" rot="0">
              <a:off x="0" y="0"/>
              <a:ext cx="2514545" cy="445735"/>
            </a:xfrm>
            <a:custGeom>
              <a:avLst/>
              <a:gdLst/>
              <a:ahLst/>
              <a:cxnLst/>
              <a:rect r="r" b="b" t="t" l="l"/>
              <a:pathLst>
                <a:path h="445735" w="2514545">
                  <a:moveTo>
                    <a:pt x="0" y="0"/>
                  </a:moveTo>
                  <a:lnTo>
                    <a:pt x="2514545" y="0"/>
                  </a:lnTo>
                  <a:lnTo>
                    <a:pt x="2514545" y="445735"/>
                  </a:lnTo>
                  <a:lnTo>
                    <a:pt x="0" y="445735"/>
                  </a:lnTo>
                  <a:close/>
                </a:path>
              </a:pathLst>
            </a:custGeom>
            <a:blipFill>
              <a:blip r:embed="rId2"/>
              <a:stretch>
                <a:fillRect l="0" t="-138215" r="0" b="-138215"/>
              </a:stretch>
            </a:blipFill>
          </p:spPr>
        </p:sp>
      </p:grpSp>
      <p:sp>
        <p:nvSpPr>
          <p:cNvPr name="TextBox 19" id="19"/>
          <p:cNvSpPr txBox="true"/>
          <p:nvPr/>
        </p:nvSpPr>
        <p:spPr>
          <a:xfrm rot="0">
            <a:off x="1400104" y="1123950"/>
            <a:ext cx="15487792" cy="1245210"/>
          </a:xfrm>
          <a:prstGeom prst="rect">
            <a:avLst/>
          </a:prstGeom>
        </p:spPr>
        <p:txBody>
          <a:bodyPr anchor="t" rtlCol="false" tIns="0" lIns="0" bIns="0" rIns="0">
            <a:spAutoFit/>
          </a:bodyPr>
          <a:lstStyle/>
          <a:p>
            <a:pPr algn="ctr">
              <a:lnSpc>
                <a:spcPts val="9679"/>
              </a:lnSpc>
            </a:pPr>
            <a:r>
              <a:rPr lang="en-US" b="true" sz="8799">
                <a:solidFill>
                  <a:srgbClr val="343734"/>
                </a:solidFill>
                <a:latin typeface="Montserrat Bold"/>
                <a:ea typeface="Montserrat Bold"/>
                <a:cs typeface="Montserrat Bold"/>
                <a:sym typeface="Montserrat Bold"/>
              </a:rPr>
              <a:t>Primary</a:t>
            </a:r>
            <a:r>
              <a:rPr lang="en-US" b="true" sz="8799">
                <a:solidFill>
                  <a:srgbClr val="343734"/>
                </a:solidFill>
                <a:latin typeface="Montserrat Bold"/>
                <a:ea typeface="Montserrat Bold"/>
                <a:cs typeface="Montserrat Bold"/>
                <a:sym typeface="Montserrat Bold"/>
              </a:rPr>
              <a:t> Responsibilities</a:t>
            </a:r>
          </a:p>
        </p:txBody>
      </p:sp>
      <p:sp>
        <p:nvSpPr>
          <p:cNvPr name="TextBox 20" id="20"/>
          <p:cNvSpPr txBox="true"/>
          <p:nvPr/>
        </p:nvSpPr>
        <p:spPr>
          <a:xfrm rot="0">
            <a:off x="1683161" y="2911547"/>
            <a:ext cx="14921678" cy="1778248"/>
          </a:xfrm>
          <a:prstGeom prst="rect">
            <a:avLst/>
          </a:prstGeom>
        </p:spPr>
        <p:txBody>
          <a:bodyPr anchor="t" rtlCol="false" tIns="0" lIns="0" bIns="0" rIns="0">
            <a:spAutoFit/>
          </a:bodyPr>
          <a:lstStyle/>
          <a:p>
            <a:pPr algn="just">
              <a:lnSpc>
                <a:spcPts val="2800"/>
              </a:lnSpc>
              <a:spcBef>
                <a:spcPct val="0"/>
              </a:spcBef>
            </a:pPr>
            <a:r>
              <a:rPr lang="en-US" sz="2000">
                <a:solidFill>
                  <a:srgbClr val="343734"/>
                </a:solidFill>
                <a:latin typeface="Poppins"/>
                <a:ea typeface="Poppins"/>
                <a:cs typeface="Poppins"/>
                <a:sym typeface="Poppins"/>
              </a:rPr>
              <a:t>Lorem Ipsum tempor ad aliquip eiusmod occaecat adipisicing ipsum et officia excepteur officia enim in fugiat Lorem proident esse duis ad magna dolore ad ut cupidatat eu aliqua laboris enim commodo ut cupidatat duis cupidatat do laboris labore ad dolor Lorem Ipsum tempor ad aliquip eiusmod occaecat adipisicing ipsum et officia excepteur officia enim in fugiat Lorem proident esse duis ad magna dolore ad ut cupidatat eu aliqua laboris enim commodo ut cupidatat duis cupidatat do laboris labore ad dolor </a:t>
            </a:r>
          </a:p>
        </p:txBody>
      </p:sp>
      <p:sp>
        <p:nvSpPr>
          <p:cNvPr name="TextBox 21" id="21"/>
          <p:cNvSpPr txBox="true"/>
          <p:nvPr/>
        </p:nvSpPr>
        <p:spPr>
          <a:xfrm rot="0">
            <a:off x="1094696" y="5353166"/>
            <a:ext cx="2871274" cy="566396"/>
          </a:xfrm>
          <a:prstGeom prst="rect">
            <a:avLst/>
          </a:prstGeom>
        </p:spPr>
        <p:txBody>
          <a:bodyPr anchor="t" rtlCol="false" tIns="0" lIns="0" bIns="0" rIns="0">
            <a:spAutoFit/>
          </a:bodyPr>
          <a:lstStyle/>
          <a:p>
            <a:pPr algn="ctr">
              <a:lnSpc>
                <a:spcPts val="4479"/>
              </a:lnSpc>
              <a:spcBef>
                <a:spcPct val="0"/>
              </a:spcBef>
            </a:pPr>
            <a:r>
              <a:rPr lang="en-US" sz="3199">
                <a:solidFill>
                  <a:srgbClr val="EFF1E8"/>
                </a:solidFill>
                <a:latin typeface="Poppins"/>
                <a:ea typeface="Poppins"/>
                <a:cs typeface="Poppins"/>
                <a:sym typeface="Poppins"/>
              </a:rPr>
              <a:t>Collect Data</a:t>
            </a:r>
          </a:p>
        </p:txBody>
      </p:sp>
      <p:sp>
        <p:nvSpPr>
          <p:cNvPr name="TextBox 22" id="22"/>
          <p:cNvSpPr txBox="true"/>
          <p:nvPr/>
        </p:nvSpPr>
        <p:spPr>
          <a:xfrm rot="0">
            <a:off x="4401529" y="5353166"/>
            <a:ext cx="2871274" cy="566396"/>
          </a:xfrm>
          <a:prstGeom prst="rect">
            <a:avLst/>
          </a:prstGeom>
        </p:spPr>
        <p:txBody>
          <a:bodyPr anchor="t" rtlCol="false" tIns="0" lIns="0" bIns="0" rIns="0">
            <a:spAutoFit/>
          </a:bodyPr>
          <a:lstStyle/>
          <a:p>
            <a:pPr algn="ctr">
              <a:lnSpc>
                <a:spcPts val="4479"/>
              </a:lnSpc>
              <a:spcBef>
                <a:spcPct val="0"/>
              </a:spcBef>
            </a:pPr>
            <a:r>
              <a:rPr lang="en-US" sz="3199">
                <a:solidFill>
                  <a:srgbClr val="EFF1E8"/>
                </a:solidFill>
                <a:latin typeface="Poppins"/>
                <a:ea typeface="Poppins"/>
                <a:cs typeface="Poppins"/>
                <a:sym typeface="Poppins"/>
              </a:rPr>
              <a:t>Va</a:t>
            </a:r>
            <a:r>
              <a:rPr lang="en-US" sz="3199">
                <a:solidFill>
                  <a:srgbClr val="EFF1E8"/>
                </a:solidFill>
                <a:latin typeface="Poppins"/>
                <a:ea typeface="Poppins"/>
                <a:cs typeface="Poppins"/>
                <a:sym typeface="Poppins"/>
              </a:rPr>
              <a:t>lidate</a:t>
            </a:r>
          </a:p>
        </p:txBody>
      </p:sp>
      <p:sp>
        <p:nvSpPr>
          <p:cNvPr name="TextBox 23" id="23"/>
          <p:cNvSpPr txBox="true"/>
          <p:nvPr/>
        </p:nvSpPr>
        <p:spPr>
          <a:xfrm rot="0">
            <a:off x="7708363" y="5353166"/>
            <a:ext cx="2871274" cy="566396"/>
          </a:xfrm>
          <a:prstGeom prst="rect">
            <a:avLst/>
          </a:prstGeom>
        </p:spPr>
        <p:txBody>
          <a:bodyPr anchor="t" rtlCol="false" tIns="0" lIns="0" bIns="0" rIns="0">
            <a:spAutoFit/>
          </a:bodyPr>
          <a:lstStyle/>
          <a:p>
            <a:pPr algn="ctr">
              <a:lnSpc>
                <a:spcPts val="4479"/>
              </a:lnSpc>
              <a:spcBef>
                <a:spcPct val="0"/>
              </a:spcBef>
            </a:pPr>
            <a:r>
              <a:rPr lang="en-US" sz="3199">
                <a:solidFill>
                  <a:srgbClr val="EFF1E8"/>
                </a:solidFill>
                <a:latin typeface="Poppins"/>
                <a:ea typeface="Poppins"/>
                <a:cs typeface="Poppins"/>
                <a:sym typeface="Poppins"/>
              </a:rPr>
              <a:t>Ana</a:t>
            </a:r>
            <a:r>
              <a:rPr lang="en-US" sz="3199">
                <a:solidFill>
                  <a:srgbClr val="EFF1E8"/>
                </a:solidFill>
                <a:latin typeface="Poppins"/>
                <a:ea typeface="Poppins"/>
                <a:cs typeface="Poppins"/>
                <a:sym typeface="Poppins"/>
              </a:rPr>
              <a:t>lyze</a:t>
            </a:r>
          </a:p>
        </p:txBody>
      </p:sp>
      <p:sp>
        <p:nvSpPr>
          <p:cNvPr name="TextBox 24" id="24"/>
          <p:cNvSpPr txBox="true"/>
          <p:nvPr/>
        </p:nvSpPr>
        <p:spPr>
          <a:xfrm rot="0">
            <a:off x="11015197" y="5353166"/>
            <a:ext cx="2871274" cy="566396"/>
          </a:xfrm>
          <a:prstGeom prst="rect">
            <a:avLst/>
          </a:prstGeom>
        </p:spPr>
        <p:txBody>
          <a:bodyPr anchor="t" rtlCol="false" tIns="0" lIns="0" bIns="0" rIns="0">
            <a:spAutoFit/>
          </a:bodyPr>
          <a:lstStyle/>
          <a:p>
            <a:pPr algn="ctr">
              <a:lnSpc>
                <a:spcPts val="4479"/>
              </a:lnSpc>
              <a:spcBef>
                <a:spcPct val="0"/>
              </a:spcBef>
            </a:pPr>
            <a:r>
              <a:rPr lang="en-US" sz="3199">
                <a:solidFill>
                  <a:srgbClr val="EFF1E8"/>
                </a:solidFill>
                <a:latin typeface="Poppins"/>
                <a:ea typeface="Poppins"/>
                <a:cs typeface="Poppins"/>
                <a:sym typeface="Poppins"/>
              </a:rPr>
              <a:t>R</a:t>
            </a:r>
            <a:r>
              <a:rPr lang="en-US" sz="3199">
                <a:solidFill>
                  <a:srgbClr val="EFF1E8"/>
                </a:solidFill>
                <a:latin typeface="Poppins"/>
                <a:ea typeface="Poppins"/>
                <a:cs typeface="Poppins"/>
                <a:sym typeface="Poppins"/>
              </a:rPr>
              <a:t>eport</a:t>
            </a:r>
          </a:p>
        </p:txBody>
      </p:sp>
      <p:sp>
        <p:nvSpPr>
          <p:cNvPr name="TextBox 25" id="25"/>
          <p:cNvSpPr txBox="true"/>
          <p:nvPr/>
        </p:nvSpPr>
        <p:spPr>
          <a:xfrm rot="0">
            <a:off x="14322030" y="5353166"/>
            <a:ext cx="2871274" cy="566396"/>
          </a:xfrm>
          <a:prstGeom prst="rect">
            <a:avLst/>
          </a:prstGeom>
        </p:spPr>
        <p:txBody>
          <a:bodyPr anchor="t" rtlCol="false" tIns="0" lIns="0" bIns="0" rIns="0">
            <a:spAutoFit/>
          </a:bodyPr>
          <a:lstStyle/>
          <a:p>
            <a:pPr algn="ctr">
              <a:lnSpc>
                <a:spcPts val="4479"/>
              </a:lnSpc>
              <a:spcBef>
                <a:spcPct val="0"/>
              </a:spcBef>
            </a:pPr>
            <a:r>
              <a:rPr lang="en-US" sz="3199">
                <a:solidFill>
                  <a:srgbClr val="EFF1E8"/>
                </a:solidFill>
                <a:latin typeface="Poppins"/>
                <a:ea typeface="Poppins"/>
                <a:cs typeface="Poppins"/>
                <a:sym typeface="Poppins"/>
              </a:rPr>
              <a:t>Rec</a:t>
            </a:r>
            <a:r>
              <a:rPr lang="en-US" sz="3199">
                <a:solidFill>
                  <a:srgbClr val="EFF1E8"/>
                </a:solidFill>
                <a:latin typeface="Poppins"/>
                <a:ea typeface="Poppins"/>
                <a:cs typeface="Poppins"/>
                <a:sym typeface="Poppins"/>
              </a:rPr>
              <a:t>ommend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1028700" y="4332551"/>
            <a:ext cx="697231" cy="69723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1E8"/>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847042" y="4332551"/>
            <a:ext cx="8399578" cy="697231"/>
            <a:chOff x="0" y="0"/>
            <a:chExt cx="2933836" cy="243532"/>
          </a:xfrm>
        </p:grpSpPr>
        <p:sp>
          <p:nvSpPr>
            <p:cNvPr name="Freeform 6" id="6"/>
            <p:cNvSpPr/>
            <p:nvPr/>
          </p:nvSpPr>
          <p:spPr>
            <a:xfrm flipH="false" flipV="false" rot="0">
              <a:off x="0" y="0"/>
              <a:ext cx="2933836" cy="243532"/>
            </a:xfrm>
            <a:custGeom>
              <a:avLst/>
              <a:gdLst/>
              <a:ahLst/>
              <a:cxnLst/>
              <a:rect r="r" b="b" t="t" l="l"/>
              <a:pathLst>
                <a:path h="243532" w="2933836">
                  <a:moveTo>
                    <a:pt x="47007" y="0"/>
                  </a:moveTo>
                  <a:lnTo>
                    <a:pt x="2886829" y="0"/>
                  </a:lnTo>
                  <a:cubicBezTo>
                    <a:pt x="2899296" y="0"/>
                    <a:pt x="2911252" y="4952"/>
                    <a:pt x="2920068" y="13768"/>
                  </a:cubicBezTo>
                  <a:cubicBezTo>
                    <a:pt x="2928883" y="22583"/>
                    <a:pt x="2933836" y="34540"/>
                    <a:pt x="2933836" y="47007"/>
                  </a:cubicBezTo>
                  <a:lnTo>
                    <a:pt x="2933836" y="196525"/>
                  </a:lnTo>
                  <a:cubicBezTo>
                    <a:pt x="2933836" y="208992"/>
                    <a:pt x="2928883" y="220948"/>
                    <a:pt x="2920068" y="229764"/>
                  </a:cubicBezTo>
                  <a:cubicBezTo>
                    <a:pt x="2911252" y="238579"/>
                    <a:pt x="2899296" y="243532"/>
                    <a:pt x="2886829" y="243532"/>
                  </a:cubicBezTo>
                  <a:lnTo>
                    <a:pt x="47007" y="243532"/>
                  </a:lnTo>
                  <a:cubicBezTo>
                    <a:pt x="34540" y="243532"/>
                    <a:pt x="22583" y="238579"/>
                    <a:pt x="13768" y="229764"/>
                  </a:cubicBezTo>
                  <a:cubicBezTo>
                    <a:pt x="4952" y="220948"/>
                    <a:pt x="0" y="208992"/>
                    <a:pt x="0" y="196525"/>
                  </a:cubicBezTo>
                  <a:lnTo>
                    <a:pt x="0" y="47007"/>
                  </a:lnTo>
                  <a:cubicBezTo>
                    <a:pt x="0" y="34540"/>
                    <a:pt x="4952" y="22583"/>
                    <a:pt x="13768" y="13768"/>
                  </a:cubicBezTo>
                  <a:cubicBezTo>
                    <a:pt x="22583" y="4952"/>
                    <a:pt x="34540" y="0"/>
                    <a:pt x="47007" y="0"/>
                  </a:cubicBezTo>
                  <a:close/>
                </a:path>
              </a:pathLst>
            </a:custGeom>
            <a:solidFill>
              <a:srgbClr val="EFF1E8"/>
            </a:solidFill>
          </p:spPr>
        </p:sp>
        <p:sp>
          <p:nvSpPr>
            <p:cNvPr name="TextBox 7" id="7"/>
            <p:cNvSpPr txBox="true"/>
            <p:nvPr/>
          </p:nvSpPr>
          <p:spPr>
            <a:xfrm>
              <a:off x="0" y="-38100"/>
              <a:ext cx="2933836" cy="28163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5364008"/>
            <a:ext cx="697231" cy="69723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1E8"/>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847042" y="5364008"/>
            <a:ext cx="8399578" cy="697231"/>
            <a:chOff x="0" y="0"/>
            <a:chExt cx="2933836" cy="243532"/>
          </a:xfrm>
        </p:grpSpPr>
        <p:sp>
          <p:nvSpPr>
            <p:cNvPr name="Freeform 12" id="12"/>
            <p:cNvSpPr/>
            <p:nvPr/>
          </p:nvSpPr>
          <p:spPr>
            <a:xfrm flipH="false" flipV="false" rot="0">
              <a:off x="0" y="0"/>
              <a:ext cx="2933836" cy="243532"/>
            </a:xfrm>
            <a:custGeom>
              <a:avLst/>
              <a:gdLst/>
              <a:ahLst/>
              <a:cxnLst/>
              <a:rect r="r" b="b" t="t" l="l"/>
              <a:pathLst>
                <a:path h="243532" w="2933836">
                  <a:moveTo>
                    <a:pt x="47007" y="0"/>
                  </a:moveTo>
                  <a:lnTo>
                    <a:pt x="2886829" y="0"/>
                  </a:lnTo>
                  <a:cubicBezTo>
                    <a:pt x="2899296" y="0"/>
                    <a:pt x="2911252" y="4952"/>
                    <a:pt x="2920068" y="13768"/>
                  </a:cubicBezTo>
                  <a:cubicBezTo>
                    <a:pt x="2928883" y="22583"/>
                    <a:pt x="2933836" y="34540"/>
                    <a:pt x="2933836" y="47007"/>
                  </a:cubicBezTo>
                  <a:lnTo>
                    <a:pt x="2933836" y="196525"/>
                  </a:lnTo>
                  <a:cubicBezTo>
                    <a:pt x="2933836" y="208992"/>
                    <a:pt x="2928883" y="220948"/>
                    <a:pt x="2920068" y="229764"/>
                  </a:cubicBezTo>
                  <a:cubicBezTo>
                    <a:pt x="2911252" y="238579"/>
                    <a:pt x="2899296" y="243532"/>
                    <a:pt x="2886829" y="243532"/>
                  </a:cubicBezTo>
                  <a:lnTo>
                    <a:pt x="47007" y="243532"/>
                  </a:lnTo>
                  <a:cubicBezTo>
                    <a:pt x="34540" y="243532"/>
                    <a:pt x="22583" y="238579"/>
                    <a:pt x="13768" y="229764"/>
                  </a:cubicBezTo>
                  <a:cubicBezTo>
                    <a:pt x="4952" y="220948"/>
                    <a:pt x="0" y="208992"/>
                    <a:pt x="0" y="196525"/>
                  </a:cubicBezTo>
                  <a:lnTo>
                    <a:pt x="0" y="47007"/>
                  </a:lnTo>
                  <a:cubicBezTo>
                    <a:pt x="0" y="34540"/>
                    <a:pt x="4952" y="22583"/>
                    <a:pt x="13768" y="13768"/>
                  </a:cubicBezTo>
                  <a:cubicBezTo>
                    <a:pt x="22583" y="4952"/>
                    <a:pt x="34540" y="0"/>
                    <a:pt x="47007" y="0"/>
                  </a:cubicBezTo>
                  <a:close/>
                </a:path>
              </a:pathLst>
            </a:custGeom>
            <a:solidFill>
              <a:srgbClr val="EFF1E8"/>
            </a:solidFill>
          </p:spPr>
        </p:sp>
        <p:sp>
          <p:nvSpPr>
            <p:cNvPr name="TextBox 13" id="13"/>
            <p:cNvSpPr txBox="true"/>
            <p:nvPr/>
          </p:nvSpPr>
          <p:spPr>
            <a:xfrm>
              <a:off x="0" y="-38100"/>
              <a:ext cx="2933836" cy="2816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028700" y="6395464"/>
            <a:ext cx="697231" cy="69723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1E8"/>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847042" y="6395464"/>
            <a:ext cx="8399578" cy="697231"/>
            <a:chOff x="0" y="0"/>
            <a:chExt cx="2933836" cy="243532"/>
          </a:xfrm>
        </p:grpSpPr>
        <p:sp>
          <p:nvSpPr>
            <p:cNvPr name="Freeform 18" id="18"/>
            <p:cNvSpPr/>
            <p:nvPr/>
          </p:nvSpPr>
          <p:spPr>
            <a:xfrm flipH="false" flipV="false" rot="0">
              <a:off x="0" y="0"/>
              <a:ext cx="2933836" cy="243532"/>
            </a:xfrm>
            <a:custGeom>
              <a:avLst/>
              <a:gdLst/>
              <a:ahLst/>
              <a:cxnLst/>
              <a:rect r="r" b="b" t="t" l="l"/>
              <a:pathLst>
                <a:path h="243532" w="2933836">
                  <a:moveTo>
                    <a:pt x="47007" y="0"/>
                  </a:moveTo>
                  <a:lnTo>
                    <a:pt x="2886829" y="0"/>
                  </a:lnTo>
                  <a:cubicBezTo>
                    <a:pt x="2899296" y="0"/>
                    <a:pt x="2911252" y="4952"/>
                    <a:pt x="2920068" y="13768"/>
                  </a:cubicBezTo>
                  <a:cubicBezTo>
                    <a:pt x="2928883" y="22583"/>
                    <a:pt x="2933836" y="34540"/>
                    <a:pt x="2933836" y="47007"/>
                  </a:cubicBezTo>
                  <a:lnTo>
                    <a:pt x="2933836" y="196525"/>
                  </a:lnTo>
                  <a:cubicBezTo>
                    <a:pt x="2933836" y="208992"/>
                    <a:pt x="2928883" y="220948"/>
                    <a:pt x="2920068" y="229764"/>
                  </a:cubicBezTo>
                  <a:cubicBezTo>
                    <a:pt x="2911252" y="238579"/>
                    <a:pt x="2899296" y="243532"/>
                    <a:pt x="2886829" y="243532"/>
                  </a:cubicBezTo>
                  <a:lnTo>
                    <a:pt x="47007" y="243532"/>
                  </a:lnTo>
                  <a:cubicBezTo>
                    <a:pt x="34540" y="243532"/>
                    <a:pt x="22583" y="238579"/>
                    <a:pt x="13768" y="229764"/>
                  </a:cubicBezTo>
                  <a:cubicBezTo>
                    <a:pt x="4952" y="220948"/>
                    <a:pt x="0" y="208992"/>
                    <a:pt x="0" y="196525"/>
                  </a:cubicBezTo>
                  <a:lnTo>
                    <a:pt x="0" y="47007"/>
                  </a:lnTo>
                  <a:cubicBezTo>
                    <a:pt x="0" y="34540"/>
                    <a:pt x="4952" y="22583"/>
                    <a:pt x="13768" y="13768"/>
                  </a:cubicBezTo>
                  <a:cubicBezTo>
                    <a:pt x="22583" y="4952"/>
                    <a:pt x="34540" y="0"/>
                    <a:pt x="47007" y="0"/>
                  </a:cubicBezTo>
                  <a:close/>
                </a:path>
              </a:pathLst>
            </a:custGeom>
            <a:solidFill>
              <a:srgbClr val="EFF1E8"/>
            </a:solidFill>
          </p:spPr>
        </p:sp>
        <p:sp>
          <p:nvSpPr>
            <p:cNvPr name="TextBox 19" id="19"/>
            <p:cNvSpPr txBox="true"/>
            <p:nvPr/>
          </p:nvSpPr>
          <p:spPr>
            <a:xfrm>
              <a:off x="0" y="-38100"/>
              <a:ext cx="2933836" cy="281632"/>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028700" y="7426921"/>
            <a:ext cx="697231" cy="69723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1E8"/>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847042" y="7426921"/>
            <a:ext cx="8399578" cy="697231"/>
            <a:chOff x="0" y="0"/>
            <a:chExt cx="2933836" cy="243532"/>
          </a:xfrm>
        </p:grpSpPr>
        <p:sp>
          <p:nvSpPr>
            <p:cNvPr name="Freeform 24" id="24"/>
            <p:cNvSpPr/>
            <p:nvPr/>
          </p:nvSpPr>
          <p:spPr>
            <a:xfrm flipH="false" flipV="false" rot="0">
              <a:off x="0" y="0"/>
              <a:ext cx="2933836" cy="243532"/>
            </a:xfrm>
            <a:custGeom>
              <a:avLst/>
              <a:gdLst/>
              <a:ahLst/>
              <a:cxnLst/>
              <a:rect r="r" b="b" t="t" l="l"/>
              <a:pathLst>
                <a:path h="243532" w="2933836">
                  <a:moveTo>
                    <a:pt x="47007" y="0"/>
                  </a:moveTo>
                  <a:lnTo>
                    <a:pt x="2886829" y="0"/>
                  </a:lnTo>
                  <a:cubicBezTo>
                    <a:pt x="2899296" y="0"/>
                    <a:pt x="2911252" y="4952"/>
                    <a:pt x="2920068" y="13768"/>
                  </a:cubicBezTo>
                  <a:cubicBezTo>
                    <a:pt x="2928883" y="22583"/>
                    <a:pt x="2933836" y="34540"/>
                    <a:pt x="2933836" y="47007"/>
                  </a:cubicBezTo>
                  <a:lnTo>
                    <a:pt x="2933836" y="196525"/>
                  </a:lnTo>
                  <a:cubicBezTo>
                    <a:pt x="2933836" y="208992"/>
                    <a:pt x="2928883" y="220948"/>
                    <a:pt x="2920068" y="229764"/>
                  </a:cubicBezTo>
                  <a:cubicBezTo>
                    <a:pt x="2911252" y="238579"/>
                    <a:pt x="2899296" y="243532"/>
                    <a:pt x="2886829" y="243532"/>
                  </a:cubicBezTo>
                  <a:lnTo>
                    <a:pt x="47007" y="243532"/>
                  </a:lnTo>
                  <a:cubicBezTo>
                    <a:pt x="34540" y="243532"/>
                    <a:pt x="22583" y="238579"/>
                    <a:pt x="13768" y="229764"/>
                  </a:cubicBezTo>
                  <a:cubicBezTo>
                    <a:pt x="4952" y="220948"/>
                    <a:pt x="0" y="208992"/>
                    <a:pt x="0" y="196525"/>
                  </a:cubicBezTo>
                  <a:lnTo>
                    <a:pt x="0" y="47007"/>
                  </a:lnTo>
                  <a:cubicBezTo>
                    <a:pt x="0" y="34540"/>
                    <a:pt x="4952" y="22583"/>
                    <a:pt x="13768" y="13768"/>
                  </a:cubicBezTo>
                  <a:cubicBezTo>
                    <a:pt x="22583" y="4952"/>
                    <a:pt x="34540" y="0"/>
                    <a:pt x="47007" y="0"/>
                  </a:cubicBezTo>
                  <a:close/>
                </a:path>
              </a:pathLst>
            </a:custGeom>
            <a:solidFill>
              <a:srgbClr val="EFF1E8"/>
            </a:solidFill>
          </p:spPr>
        </p:sp>
        <p:sp>
          <p:nvSpPr>
            <p:cNvPr name="TextBox 25" id="25"/>
            <p:cNvSpPr txBox="true"/>
            <p:nvPr/>
          </p:nvSpPr>
          <p:spPr>
            <a:xfrm>
              <a:off x="0" y="-38100"/>
              <a:ext cx="2933836" cy="281632"/>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1028700" y="8458377"/>
            <a:ext cx="697231" cy="69723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1E8"/>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1847042" y="8458377"/>
            <a:ext cx="8399578" cy="697231"/>
            <a:chOff x="0" y="0"/>
            <a:chExt cx="2933836" cy="243532"/>
          </a:xfrm>
        </p:grpSpPr>
        <p:sp>
          <p:nvSpPr>
            <p:cNvPr name="Freeform 30" id="30"/>
            <p:cNvSpPr/>
            <p:nvPr/>
          </p:nvSpPr>
          <p:spPr>
            <a:xfrm flipH="false" flipV="false" rot="0">
              <a:off x="0" y="0"/>
              <a:ext cx="2933836" cy="243532"/>
            </a:xfrm>
            <a:custGeom>
              <a:avLst/>
              <a:gdLst/>
              <a:ahLst/>
              <a:cxnLst/>
              <a:rect r="r" b="b" t="t" l="l"/>
              <a:pathLst>
                <a:path h="243532" w="2933836">
                  <a:moveTo>
                    <a:pt x="47007" y="0"/>
                  </a:moveTo>
                  <a:lnTo>
                    <a:pt x="2886829" y="0"/>
                  </a:lnTo>
                  <a:cubicBezTo>
                    <a:pt x="2899296" y="0"/>
                    <a:pt x="2911252" y="4952"/>
                    <a:pt x="2920068" y="13768"/>
                  </a:cubicBezTo>
                  <a:cubicBezTo>
                    <a:pt x="2928883" y="22583"/>
                    <a:pt x="2933836" y="34540"/>
                    <a:pt x="2933836" y="47007"/>
                  </a:cubicBezTo>
                  <a:lnTo>
                    <a:pt x="2933836" y="196525"/>
                  </a:lnTo>
                  <a:cubicBezTo>
                    <a:pt x="2933836" y="208992"/>
                    <a:pt x="2928883" y="220948"/>
                    <a:pt x="2920068" y="229764"/>
                  </a:cubicBezTo>
                  <a:cubicBezTo>
                    <a:pt x="2911252" y="238579"/>
                    <a:pt x="2899296" y="243532"/>
                    <a:pt x="2886829" y="243532"/>
                  </a:cubicBezTo>
                  <a:lnTo>
                    <a:pt x="47007" y="243532"/>
                  </a:lnTo>
                  <a:cubicBezTo>
                    <a:pt x="34540" y="243532"/>
                    <a:pt x="22583" y="238579"/>
                    <a:pt x="13768" y="229764"/>
                  </a:cubicBezTo>
                  <a:cubicBezTo>
                    <a:pt x="4952" y="220948"/>
                    <a:pt x="0" y="208992"/>
                    <a:pt x="0" y="196525"/>
                  </a:cubicBezTo>
                  <a:lnTo>
                    <a:pt x="0" y="47007"/>
                  </a:lnTo>
                  <a:cubicBezTo>
                    <a:pt x="0" y="34540"/>
                    <a:pt x="4952" y="22583"/>
                    <a:pt x="13768" y="13768"/>
                  </a:cubicBezTo>
                  <a:cubicBezTo>
                    <a:pt x="22583" y="4952"/>
                    <a:pt x="34540" y="0"/>
                    <a:pt x="47007" y="0"/>
                  </a:cubicBezTo>
                  <a:close/>
                </a:path>
              </a:pathLst>
            </a:custGeom>
            <a:solidFill>
              <a:srgbClr val="EFF1E8"/>
            </a:solidFill>
          </p:spPr>
        </p:sp>
        <p:sp>
          <p:nvSpPr>
            <p:cNvPr name="TextBox 31" id="31"/>
            <p:cNvSpPr txBox="true"/>
            <p:nvPr/>
          </p:nvSpPr>
          <p:spPr>
            <a:xfrm>
              <a:off x="0" y="-38100"/>
              <a:ext cx="2933836" cy="281632"/>
            </a:xfrm>
            <a:prstGeom prst="rect">
              <a:avLst/>
            </a:prstGeom>
          </p:spPr>
          <p:txBody>
            <a:bodyPr anchor="ctr" rtlCol="false" tIns="50800" lIns="50800" bIns="50800" rIns="50800"/>
            <a:lstStyle/>
            <a:p>
              <a:pPr algn="ctr">
                <a:lnSpc>
                  <a:spcPts val="2659"/>
                </a:lnSpc>
              </a:pPr>
            </a:p>
          </p:txBody>
        </p:sp>
      </p:grpSp>
      <p:sp>
        <p:nvSpPr>
          <p:cNvPr name="Freeform 32" id="32"/>
          <p:cNvSpPr/>
          <p:nvPr/>
        </p:nvSpPr>
        <p:spPr>
          <a:xfrm flipH="false" flipV="false" rot="0">
            <a:off x="11453139" y="5669566"/>
            <a:ext cx="4882709" cy="3514709"/>
          </a:xfrm>
          <a:custGeom>
            <a:avLst/>
            <a:gdLst/>
            <a:ahLst/>
            <a:cxnLst/>
            <a:rect r="r" b="b" t="t" l="l"/>
            <a:pathLst>
              <a:path h="3514709" w="4882709">
                <a:moveTo>
                  <a:pt x="0" y="0"/>
                </a:moveTo>
                <a:lnTo>
                  <a:pt x="4882709" y="0"/>
                </a:lnTo>
                <a:lnTo>
                  <a:pt x="4882709" y="3514709"/>
                </a:lnTo>
                <a:lnTo>
                  <a:pt x="0" y="3514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3" id="33"/>
          <p:cNvSpPr txBox="true"/>
          <p:nvPr/>
        </p:nvSpPr>
        <p:spPr>
          <a:xfrm rot="0">
            <a:off x="2253422" y="1123950"/>
            <a:ext cx="13781156" cy="2473910"/>
          </a:xfrm>
          <a:prstGeom prst="rect">
            <a:avLst/>
          </a:prstGeom>
        </p:spPr>
        <p:txBody>
          <a:bodyPr anchor="t" rtlCol="false" tIns="0" lIns="0" bIns="0" rIns="0">
            <a:spAutoFit/>
          </a:bodyPr>
          <a:lstStyle/>
          <a:p>
            <a:pPr algn="ctr">
              <a:lnSpc>
                <a:spcPts val="9679"/>
              </a:lnSpc>
            </a:pPr>
            <a:r>
              <a:rPr lang="en-US" b="true" sz="8799">
                <a:solidFill>
                  <a:srgbClr val="EFF1E8"/>
                </a:solidFill>
                <a:latin typeface="Montserrat Bold"/>
                <a:ea typeface="Montserrat Bold"/>
                <a:cs typeface="Montserrat Bold"/>
                <a:sym typeface="Montserrat Bold"/>
              </a:rPr>
              <a:t>Types of Business Questions Answered</a:t>
            </a:r>
          </a:p>
        </p:txBody>
      </p:sp>
      <p:sp>
        <p:nvSpPr>
          <p:cNvPr name="TextBox 34" id="34"/>
          <p:cNvSpPr txBox="true"/>
          <p:nvPr/>
        </p:nvSpPr>
        <p:spPr>
          <a:xfrm rot="0">
            <a:off x="1955682" y="4473179"/>
            <a:ext cx="8182298" cy="358825"/>
          </a:xfrm>
          <a:prstGeom prst="rect">
            <a:avLst/>
          </a:prstGeom>
        </p:spPr>
        <p:txBody>
          <a:bodyPr anchor="t" rtlCol="false" tIns="0" lIns="0" bIns="0" rIns="0">
            <a:spAutoFit/>
          </a:bodyPr>
          <a:lstStyle/>
          <a:p>
            <a:pPr algn="ctr">
              <a:lnSpc>
                <a:spcPts val="2799"/>
              </a:lnSpc>
              <a:spcBef>
                <a:spcPct val="0"/>
              </a:spcBef>
            </a:pPr>
            <a:r>
              <a:rPr lang="en-US" sz="1999">
                <a:solidFill>
                  <a:srgbClr val="70A1BD"/>
                </a:solidFill>
                <a:latin typeface="Poppins"/>
                <a:ea typeface="Poppins"/>
                <a:cs typeface="Poppins"/>
                <a:sym typeface="Poppins"/>
              </a:rPr>
              <a:t>Why are sales increasing or decreasing?</a:t>
            </a:r>
          </a:p>
        </p:txBody>
      </p:sp>
      <p:sp>
        <p:nvSpPr>
          <p:cNvPr name="TextBox 35" id="35"/>
          <p:cNvSpPr txBox="true"/>
          <p:nvPr/>
        </p:nvSpPr>
        <p:spPr>
          <a:xfrm rot="0">
            <a:off x="939709" y="4383682"/>
            <a:ext cx="875213" cy="537820"/>
          </a:xfrm>
          <a:prstGeom prst="rect">
            <a:avLst/>
          </a:prstGeom>
        </p:spPr>
        <p:txBody>
          <a:bodyPr anchor="t" rtlCol="false" tIns="0" lIns="0" bIns="0" rIns="0">
            <a:spAutoFit/>
          </a:bodyPr>
          <a:lstStyle/>
          <a:p>
            <a:pPr algn="ctr">
              <a:lnSpc>
                <a:spcPts val="4480"/>
              </a:lnSpc>
              <a:spcBef>
                <a:spcPct val="0"/>
              </a:spcBef>
            </a:pPr>
            <a:r>
              <a:rPr lang="en-US" b="true" sz="3200">
                <a:solidFill>
                  <a:srgbClr val="70A1BD"/>
                </a:solidFill>
                <a:latin typeface="Montserrat Bold"/>
                <a:ea typeface="Montserrat Bold"/>
                <a:cs typeface="Montserrat Bold"/>
                <a:sym typeface="Montserrat Bold"/>
              </a:rPr>
              <a:t>1</a:t>
            </a:r>
          </a:p>
        </p:txBody>
      </p:sp>
      <p:sp>
        <p:nvSpPr>
          <p:cNvPr name="TextBox 36" id="36"/>
          <p:cNvSpPr txBox="true"/>
          <p:nvPr/>
        </p:nvSpPr>
        <p:spPr>
          <a:xfrm rot="0">
            <a:off x="1955682" y="5504636"/>
            <a:ext cx="8182298" cy="358825"/>
          </a:xfrm>
          <a:prstGeom prst="rect">
            <a:avLst/>
          </a:prstGeom>
        </p:spPr>
        <p:txBody>
          <a:bodyPr anchor="t" rtlCol="false" tIns="0" lIns="0" bIns="0" rIns="0">
            <a:spAutoFit/>
          </a:bodyPr>
          <a:lstStyle/>
          <a:p>
            <a:pPr algn="ctr">
              <a:lnSpc>
                <a:spcPts val="2799"/>
              </a:lnSpc>
              <a:spcBef>
                <a:spcPct val="0"/>
              </a:spcBef>
            </a:pPr>
            <a:r>
              <a:rPr lang="en-US" sz="1999">
                <a:solidFill>
                  <a:srgbClr val="70A1BD"/>
                </a:solidFill>
                <a:latin typeface="Poppins"/>
                <a:ea typeface="Poppins"/>
                <a:cs typeface="Poppins"/>
                <a:sym typeface="Poppins"/>
              </a:rPr>
              <a:t>Which customer segments generate the highest revenue?</a:t>
            </a:r>
          </a:p>
        </p:txBody>
      </p:sp>
      <p:sp>
        <p:nvSpPr>
          <p:cNvPr name="TextBox 37" id="37"/>
          <p:cNvSpPr txBox="true"/>
          <p:nvPr/>
        </p:nvSpPr>
        <p:spPr>
          <a:xfrm rot="0">
            <a:off x="939709" y="5415138"/>
            <a:ext cx="875213" cy="537820"/>
          </a:xfrm>
          <a:prstGeom prst="rect">
            <a:avLst/>
          </a:prstGeom>
        </p:spPr>
        <p:txBody>
          <a:bodyPr anchor="t" rtlCol="false" tIns="0" lIns="0" bIns="0" rIns="0">
            <a:spAutoFit/>
          </a:bodyPr>
          <a:lstStyle/>
          <a:p>
            <a:pPr algn="ctr">
              <a:lnSpc>
                <a:spcPts val="4480"/>
              </a:lnSpc>
              <a:spcBef>
                <a:spcPct val="0"/>
              </a:spcBef>
            </a:pPr>
            <a:r>
              <a:rPr lang="en-US" b="true" sz="3200">
                <a:solidFill>
                  <a:srgbClr val="70A1BD"/>
                </a:solidFill>
                <a:latin typeface="Montserrat Bold"/>
                <a:ea typeface="Montserrat Bold"/>
                <a:cs typeface="Montserrat Bold"/>
                <a:sym typeface="Montserrat Bold"/>
              </a:rPr>
              <a:t>2</a:t>
            </a:r>
          </a:p>
        </p:txBody>
      </p:sp>
      <p:sp>
        <p:nvSpPr>
          <p:cNvPr name="TextBox 38" id="38"/>
          <p:cNvSpPr txBox="true"/>
          <p:nvPr/>
        </p:nvSpPr>
        <p:spPr>
          <a:xfrm rot="0">
            <a:off x="1955682" y="6536092"/>
            <a:ext cx="8182298" cy="358825"/>
          </a:xfrm>
          <a:prstGeom prst="rect">
            <a:avLst/>
          </a:prstGeom>
        </p:spPr>
        <p:txBody>
          <a:bodyPr anchor="t" rtlCol="false" tIns="0" lIns="0" bIns="0" rIns="0">
            <a:spAutoFit/>
          </a:bodyPr>
          <a:lstStyle/>
          <a:p>
            <a:pPr algn="ctr">
              <a:lnSpc>
                <a:spcPts val="2799"/>
              </a:lnSpc>
              <a:spcBef>
                <a:spcPct val="0"/>
              </a:spcBef>
            </a:pPr>
            <a:r>
              <a:rPr lang="en-US" sz="1999">
                <a:solidFill>
                  <a:srgbClr val="70A1BD"/>
                </a:solidFill>
                <a:latin typeface="Poppins"/>
                <a:ea typeface="Poppins"/>
                <a:cs typeface="Poppins"/>
                <a:sym typeface="Poppins"/>
              </a:rPr>
              <a:t>What factors influence operational efficiency?</a:t>
            </a:r>
          </a:p>
        </p:txBody>
      </p:sp>
      <p:sp>
        <p:nvSpPr>
          <p:cNvPr name="TextBox 39" id="39"/>
          <p:cNvSpPr txBox="true"/>
          <p:nvPr/>
        </p:nvSpPr>
        <p:spPr>
          <a:xfrm rot="0">
            <a:off x="939709" y="6446595"/>
            <a:ext cx="875213" cy="537820"/>
          </a:xfrm>
          <a:prstGeom prst="rect">
            <a:avLst/>
          </a:prstGeom>
        </p:spPr>
        <p:txBody>
          <a:bodyPr anchor="t" rtlCol="false" tIns="0" lIns="0" bIns="0" rIns="0">
            <a:spAutoFit/>
          </a:bodyPr>
          <a:lstStyle/>
          <a:p>
            <a:pPr algn="ctr">
              <a:lnSpc>
                <a:spcPts val="4480"/>
              </a:lnSpc>
              <a:spcBef>
                <a:spcPct val="0"/>
              </a:spcBef>
            </a:pPr>
            <a:r>
              <a:rPr lang="en-US" b="true" sz="3200">
                <a:solidFill>
                  <a:srgbClr val="70A1BD"/>
                </a:solidFill>
                <a:latin typeface="Montserrat Bold"/>
                <a:ea typeface="Montserrat Bold"/>
                <a:cs typeface="Montserrat Bold"/>
                <a:sym typeface="Montserrat Bold"/>
              </a:rPr>
              <a:t>3</a:t>
            </a:r>
          </a:p>
        </p:txBody>
      </p:sp>
      <p:sp>
        <p:nvSpPr>
          <p:cNvPr name="TextBox 40" id="40"/>
          <p:cNvSpPr txBox="true"/>
          <p:nvPr/>
        </p:nvSpPr>
        <p:spPr>
          <a:xfrm rot="0">
            <a:off x="1955682" y="7567549"/>
            <a:ext cx="8182298" cy="358825"/>
          </a:xfrm>
          <a:prstGeom prst="rect">
            <a:avLst/>
          </a:prstGeom>
        </p:spPr>
        <p:txBody>
          <a:bodyPr anchor="t" rtlCol="false" tIns="0" lIns="0" bIns="0" rIns="0">
            <a:spAutoFit/>
          </a:bodyPr>
          <a:lstStyle/>
          <a:p>
            <a:pPr algn="ctr">
              <a:lnSpc>
                <a:spcPts val="2799"/>
              </a:lnSpc>
              <a:spcBef>
                <a:spcPct val="0"/>
              </a:spcBef>
            </a:pPr>
            <a:r>
              <a:rPr lang="en-US" sz="1999">
                <a:solidFill>
                  <a:srgbClr val="70A1BD"/>
                </a:solidFill>
                <a:latin typeface="Poppins"/>
                <a:ea typeface="Poppins"/>
                <a:cs typeface="Poppins"/>
                <a:sym typeface="Poppins"/>
              </a:rPr>
              <a:t>Where are financial leakages occurring?</a:t>
            </a:r>
          </a:p>
        </p:txBody>
      </p:sp>
      <p:sp>
        <p:nvSpPr>
          <p:cNvPr name="TextBox 41" id="41"/>
          <p:cNvSpPr txBox="true"/>
          <p:nvPr/>
        </p:nvSpPr>
        <p:spPr>
          <a:xfrm rot="0">
            <a:off x="939709" y="7478051"/>
            <a:ext cx="875213" cy="537820"/>
          </a:xfrm>
          <a:prstGeom prst="rect">
            <a:avLst/>
          </a:prstGeom>
        </p:spPr>
        <p:txBody>
          <a:bodyPr anchor="t" rtlCol="false" tIns="0" lIns="0" bIns="0" rIns="0">
            <a:spAutoFit/>
          </a:bodyPr>
          <a:lstStyle/>
          <a:p>
            <a:pPr algn="ctr">
              <a:lnSpc>
                <a:spcPts val="4480"/>
              </a:lnSpc>
              <a:spcBef>
                <a:spcPct val="0"/>
              </a:spcBef>
            </a:pPr>
            <a:r>
              <a:rPr lang="en-US" b="true" sz="3200">
                <a:solidFill>
                  <a:srgbClr val="70A1BD"/>
                </a:solidFill>
                <a:latin typeface="Montserrat Bold"/>
                <a:ea typeface="Montserrat Bold"/>
                <a:cs typeface="Montserrat Bold"/>
                <a:sym typeface="Montserrat Bold"/>
              </a:rPr>
              <a:t>4</a:t>
            </a:r>
          </a:p>
        </p:txBody>
      </p:sp>
      <p:sp>
        <p:nvSpPr>
          <p:cNvPr name="TextBox 42" id="42"/>
          <p:cNvSpPr txBox="true"/>
          <p:nvPr/>
        </p:nvSpPr>
        <p:spPr>
          <a:xfrm rot="0">
            <a:off x="1955682" y="8599005"/>
            <a:ext cx="8182298" cy="358825"/>
          </a:xfrm>
          <a:prstGeom prst="rect">
            <a:avLst/>
          </a:prstGeom>
        </p:spPr>
        <p:txBody>
          <a:bodyPr anchor="t" rtlCol="false" tIns="0" lIns="0" bIns="0" rIns="0">
            <a:spAutoFit/>
          </a:bodyPr>
          <a:lstStyle/>
          <a:p>
            <a:pPr algn="ctr">
              <a:lnSpc>
                <a:spcPts val="2799"/>
              </a:lnSpc>
              <a:spcBef>
                <a:spcPct val="0"/>
              </a:spcBef>
            </a:pPr>
            <a:r>
              <a:rPr lang="en-US" sz="1999">
                <a:solidFill>
                  <a:srgbClr val="70A1BD"/>
                </a:solidFill>
                <a:latin typeface="Poppins"/>
                <a:ea typeface="Poppins"/>
                <a:cs typeface="Poppins"/>
                <a:sym typeface="Poppins"/>
              </a:rPr>
              <a:t>What trends indicate future growth potential?</a:t>
            </a:r>
          </a:p>
        </p:txBody>
      </p:sp>
      <p:sp>
        <p:nvSpPr>
          <p:cNvPr name="TextBox 43" id="43"/>
          <p:cNvSpPr txBox="true"/>
          <p:nvPr/>
        </p:nvSpPr>
        <p:spPr>
          <a:xfrm rot="0">
            <a:off x="939709" y="8509508"/>
            <a:ext cx="875213" cy="537820"/>
          </a:xfrm>
          <a:prstGeom prst="rect">
            <a:avLst/>
          </a:prstGeom>
        </p:spPr>
        <p:txBody>
          <a:bodyPr anchor="t" rtlCol="false" tIns="0" lIns="0" bIns="0" rIns="0">
            <a:spAutoFit/>
          </a:bodyPr>
          <a:lstStyle/>
          <a:p>
            <a:pPr algn="ctr">
              <a:lnSpc>
                <a:spcPts val="4480"/>
              </a:lnSpc>
              <a:spcBef>
                <a:spcPct val="0"/>
              </a:spcBef>
            </a:pPr>
            <a:r>
              <a:rPr lang="en-US" b="true" sz="3200">
                <a:solidFill>
                  <a:srgbClr val="70A1BD"/>
                </a:solidFill>
                <a:latin typeface="Montserrat Bold"/>
                <a:ea typeface="Montserrat Bold"/>
                <a:cs typeface="Montserrat Bold"/>
                <a:sym typeface="Montserrat Bold"/>
              </a:rPr>
              <a:t>5</a:t>
            </a:r>
          </a:p>
        </p:txBody>
      </p:sp>
      <p:sp>
        <p:nvSpPr>
          <p:cNvPr name="TextBox 44" id="44"/>
          <p:cNvSpPr txBox="true"/>
          <p:nvPr/>
        </p:nvSpPr>
        <p:spPr>
          <a:xfrm rot="0">
            <a:off x="11453139" y="4300234"/>
            <a:ext cx="4391373" cy="1063774"/>
          </a:xfrm>
          <a:prstGeom prst="rect">
            <a:avLst/>
          </a:prstGeom>
        </p:spPr>
        <p:txBody>
          <a:bodyPr anchor="t" rtlCol="false" tIns="0" lIns="0" bIns="0" rIns="0">
            <a:spAutoFit/>
          </a:bodyPr>
          <a:lstStyle/>
          <a:p>
            <a:pPr algn="just">
              <a:lnSpc>
                <a:spcPts val="2799"/>
              </a:lnSpc>
              <a:spcBef>
                <a:spcPct val="0"/>
              </a:spcBef>
            </a:pPr>
            <a:r>
              <a:rPr lang="en-US" sz="1999">
                <a:solidFill>
                  <a:srgbClr val="EFF1E8"/>
                </a:solidFill>
                <a:latin typeface="Poppins"/>
                <a:ea typeface="Poppins"/>
                <a:cs typeface="Poppins"/>
                <a:sym typeface="Poppins"/>
              </a:rPr>
              <a:t>Their analysis provides clarity in situations where uncertainty previously existed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10080258" y="-195490"/>
            <a:ext cx="7179042" cy="10655429"/>
            <a:chOff x="0" y="0"/>
            <a:chExt cx="1112221" cy="1650805"/>
          </a:xfrm>
        </p:grpSpPr>
        <p:sp>
          <p:nvSpPr>
            <p:cNvPr name="Freeform 3" id="3"/>
            <p:cNvSpPr/>
            <p:nvPr/>
          </p:nvSpPr>
          <p:spPr>
            <a:xfrm flipH="false" flipV="false" rot="0">
              <a:off x="0" y="0"/>
              <a:ext cx="1112221" cy="1650805"/>
            </a:xfrm>
            <a:custGeom>
              <a:avLst/>
              <a:gdLst/>
              <a:ahLst/>
              <a:cxnLst/>
              <a:rect r="r" b="b" t="t" l="l"/>
              <a:pathLst>
                <a:path h="1650805" w="1112221">
                  <a:moveTo>
                    <a:pt x="0" y="0"/>
                  </a:moveTo>
                  <a:lnTo>
                    <a:pt x="1112221" y="0"/>
                  </a:lnTo>
                  <a:lnTo>
                    <a:pt x="1112221" y="1650805"/>
                  </a:lnTo>
                  <a:lnTo>
                    <a:pt x="0" y="1650805"/>
                  </a:lnTo>
                  <a:close/>
                </a:path>
              </a:pathLst>
            </a:custGeom>
            <a:blipFill>
              <a:blip r:embed="rId2"/>
              <a:stretch>
                <a:fillRect l="-37367" t="0" r="-85066" b="0"/>
              </a:stretch>
            </a:blipFill>
          </p:spPr>
        </p:sp>
      </p:grpSp>
      <p:sp>
        <p:nvSpPr>
          <p:cNvPr name="Freeform 4" id="4"/>
          <p:cNvSpPr/>
          <p:nvPr/>
        </p:nvSpPr>
        <p:spPr>
          <a:xfrm flipH="true" flipV="false" rot="0">
            <a:off x="-493290" y="4865060"/>
            <a:ext cx="3804517" cy="5594879"/>
          </a:xfrm>
          <a:custGeom>
            <a:avLst/>
            <a:gdLst/>
            <a:ahLst/>
            <a:cxnLst/>
            <a:rect r="r" b="b" t="t" l="l"/>
            <a:pathLst>
              <a:path h="5594879" w="3804517">
                <a:moveTo>
                  <a:pt x="3804517" y="0"/>
                </a:moveTo>
                <a:lnTo>
                  <a:pt x="0" y="0"/>
                </a:lnTo>
                <a:lnTo>
                  <a:pt x="0" y="5594879"/>
                </a:lnTo>
                <a:lnTo>
                  <a:pt x="3804517" y="5594879"/>
                </a:lnTo>
                <a:lnTo>
                  <a:pt x="380451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028700" y="1123950"/>
            <a:ext cx="8833896" cy="2473910"/>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Sourc</a:t>
            </a:r>
            <a:r>
              <a:rPr lang="en-US" b="true" sz="8799">
                <a:solidFill>
                  <a:srgbClr val="343734"/>
                </a:solidFill>
                <a:latin typeface="Montserrat Bold"/>
                <a:ea typeface="Montserrat Bold"/>
                <a:cs typeface="Montserrat Bold"/>
                <a:sym typeface="Montserrat Bold"/>
              </a:rPr>
              <a:t>es</a:t>
            </a:r>
            <a:r>
              <a:rPr lang="en-US" b="true" sz="8799">
                <a:solidFill>
                  <a:srgbClr val="343734"/>
                </a:solidFill>
                <a:latin typeface="Montserrat Bold"/>
                <a:ea typeface="Montserrat Bold"/>
                <a:cs typeface="Montserrat Bold"/>
                <a:sym typeface="Montserrat Bold"/>
              </a:rPr>
              <a:t> of Business Data</a:t>
            </a:r>
          </a:p>
        </p:txBody>
      </p:sp>
      <p:sp>
        <p:nvSpPr>
          <p:cNvPr name="TextBox 6" id="6"/>
          <p:cNvSpPr txBox="true"/>
          <p:nvPr/>
        </p:nvSpPr>
        <p:spPr>
          <a:xfrm rot="0">
            <a:off x="1028700" y="3960788"/>
            <a:ext cx="8260459" cy="3188146"/>
          </a:xfrm>
          <a:prstGeom prst="rect">
            <a:avLst/>
          </a:prstGeom>
        </p:spPr>
        <p:txBody>
          <a:bodyPr anchor="t" rtlCol="false" tIns="0" lIns="0" bIns="0" rIns="0">
            <a:spAutoFit/>
          </a:bodyPr>
          <a:lstStyle/>
          <a:p>
            <a:pPr algn="just">
              <a:lnSpc>
                <a:spcPts val="2800"/>
              </a:lnSpc>
              <a:spcBef>
                <a:spcPct val="0"/>
              </a:spcBef>
            </a:pPr>
            <a:r>
              <a:rPr lang="en-US" sz="2000">
                <a:solidFill>
                  <a:srgbClr val="343734"/>
                </a:solidFill>
                <a:latin typeface="Poppins"/>
                <a:ea typeface="Poppins"/>
                <a:cs typeface="Poppins"/>
                <a:sym typeface="Poppins"/>
              </a:rPr>
              <a:t>Lorem Ipsum tempor ad aliquip eiusmod occaecat adipisicing ipsum et officia excepteur officia enim in fugiat Lorem proident esse duis ad magna dolore ad ut cupidatat eu aliqua laboris enim commodo ut cupidatat duis cupidatat do laboris labore ad dolor Lorem Ipsum tempor ad aliquip eiusmod occaecat adipisicing ipsum et officia excepteur officia enim in fugiat Lorem proident esse duis ad magna dolore ad ut cupidatat eu aliqua laboris enim commodo ut cupidatat duis cupidatat do laboris labore ad dolor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1028700" y="3103743"/>
            <a:ext cx="5176543" cy="2934108"/>
            <a:chOff x="0" y="0"/>
            <a:chExt cx="1363369" cy="772769"/>
          </a:xfrm>
        </p:grpSpPr>
        <p:sp>
          <p:nvSpPr>
            <p:cNvPr name="Freeform 3" id="3"/>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4" id="4"/>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6555729" y="3103743"/>
            <a:ext cx="5176543" cy="2934108"/>
            <a:chOff x="0" y="0"/>
            <a:chExt cx="1363369" cy="772769"/>
          </a:xfrm>
        </p:grpSpPr>
        <p:sp>
          <p:nvSpPr>
            <p:cNvPr name="Freeform 6" id="6"/>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7" id="7"/>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084696" y="3103743"/>
            <a:ext cx="5176543" cy="2934108"/>
            <a:chOff x="0" y="0"/>
            <a:chExt cx="1363369" cy="772769"/>
          </a:xfrm>
        </p:grpSpPr>
        <p:sp>
          <p:nvSpPr>
            <p:cNvPr name="Freeform 9" id="9"/>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10" id="10"/>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3640222" y="6324192"/>
            <a:ext cx="5176543" cy="2934108"/>
            <a:chOff x="0" y="0"/>
            <a:chExt cx="1363369" cy="772769"/>
          </a:xfrm>
        </p:grpSpPr>
        <p:sp>
          <p:nvSpPr>
            <p:cNvPr name="Freeform 12" id="12"/>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13" id="13"/>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9167250" y="6324192"/>
            <a:ext cx="5176543" cy="2934108"/>
            <a:chOff x="0" y="0"/>
            <a:chExt cx="1363369" cy="772769"/>
          </a:xfrm>
        </p:grpSpPr>
        <p:sp>
          <p:nvSpPr>
            <p:cNvPr name="Freeform 15" id="15"/>
            <p:cNvSpPr/>
            <p:nvPr/>
          </p:nvSpPr>
          <p:spPr>
            <a:xfrm flipH="false" flipV="false" rot="0">
              <a:off x="0" y="0"/>
              <a:ext cx="1363369" cy="772769"/>
            </a:xfrm>
            <a:custGeom>
              <a:avLst/>
              <a:gdLst/>
              <a:ahLst/>
              <a:cxnLst/>
              <a:rect r="r" b="b" t="t" l="l"/>
              <a:pathLst>
                <a:path h="772769" w="1363369">
                  <a:moveTo>
                    <a:pt x="23929" y="0"/>
                  </a:moveTo>
                  <a:lnTo>
                    <a:pt x="1339440" y="0"/>
                  </a:lnTo>
                  <a:cubicBezTo>
                    <a:pt x="1352656" y="0"/>
                    <a:pt x="1363369" y="10713"/>
                    <a:pt x="1363369" y="23929"/>
                  </a:cubicBezTo>
                  <a:lnTo>
                    <a:pt x="1363369" y="748840"/>
                  </a:lnTo>
                  <a:cubicBezTo>
                    <a:pt x="1363369" y="755186"/>
                    <a:pt x="1360848" y="761273"/>
                    <a:pt x="1356361" y="765760"/>
                  </a:cubicBezTo>
                  <a:cubicBezTo>
                    <a:pt x="1351873" y="770248"/>
                    <a:pt x="1345786" y="772769"/>
                    <a:pt x="1339440" y="772769"/>
                  </a:cubicBezTo>
                  <a:lnTo>
                    <a:pt x="23929" y="772769"/>
                  </a:lnTo>
                  <a:cubicBezTo>
                    <a:pt x="17583" y="772769"/>
                    <a:pt x="11496" y="770248"/>
                    <a:pt x="7009" y="765760"/>
                  </a:cubicBezTo>
                  <a:cubicBezTo>
                    <a:pt x="2521" y="761273"/>
                    <a:pt x="0" y="755186"/>
                    <a:pt x="0" y="748840"/>
                  </a:cubicBezTo>
                  <a:lnTo>
                    <a:pt x="0" y="23929"/>
                  </a:lnTo>
                  <a:cubicBezTo>
                    <a:pt x="0" y="17583"/>
                    <a:pt x="2521" y="11496"/>
                    <a:pt x="7009" y="7009"/>
                  </a:cubicBezTo>
                  <a:cubicBezTo>
                    <a:pt x="11496" y="2521"/>
                    <a:pt x="17583" y="0"/>
                    <a:pt x="23929" y="0"/>
                  </a:cubicBezTo>
                  <a:close/>
                </a:path>
              </a:pathLst>
            </a:custGeom>
            <a:solidFill>
              <a:srgbClr val="EFF1E8"/>
            </a:solidFill>
          </p:spPr>
        </p:sp>
        <p:sp>
          <p:nvSpPr>
            <p:cNvPr name="TextBox 16" id="16"/>
            <p:cNvSpPr txBox="true"/>
            <p:nvPr/>
          </p:nvSpPr>
          <p:spPr>
            <a:xfrm>
              <a:off x="0" y="-38100"/>
              <a:ext cx="1363369" cy="810869"/>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050717" y="8103556"/>
            <a:ext cx="1145602" cy="1145602"/>
          </a:xfrm>
          <a:custGeom>
            <a:avLst/>
            <a:gdLst/>
            <a:ahLst/>
            <a:cxnLst/>
            <a:rect r="r" b="b" t="t" l="l"/>
            <a:pathLst>
              <a:path h="1145602" w="1145602">
                <a:moveTo>
                  <a:pt x="0" y="0"/>
                </a:moveTo>
                <a:lnTo>
                  <a:pt x="1145602" y="0"/>
                </a:lnTo>
                <a:lnTo>
                  <a:pt x="1145602" y="1145602"/>
                </a:lnTo>
                <a:lnTo>
                  <a:pt x="0" y="11456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1126711" y="1123950"/>
            <a:ext cx="16034578" cy="1245210"/>
          </a:xfrm>
          <a:prstGeom prst="rect">
            <a:avLst/>
          </a:prstGeom>
        </p:spPr>
        <p:txBody>
          <a:bodyPr anchor="t" rtlCol="false" tIns="0" lIns="0" bIns="0" rIns="0">
            <a:spAutoFit/>
          </a:bodyPr>
          <a:lstStyle/>
          <a:p>
            <a:pPr algn="ctr">
              <a:lnSpc>
                <a:spcPts val="9679"/>
              </a:lnSpc>
            </a:pPr>
            <a:r>
              <a:rPr lang="en-US" b="true" sz="8799">
                <a:solidFill>
                  <a:srgbClr val="EFF1E8"/>
                </a:solidFill>
                <a:latin typeface="Montserrat Bold"/>
                <a:ea typeface="Montserrat Bold"/>
                <a:cs typeface="Montserrat Bold"/>
                <a:sym typeface="Montserrat Bold"/>
              </a:rPr>
              <a:t>The Data Analysis Process</a:t>
            </a:r>
          </a:p>
        </p:txBody>
      </p:sp>
      <p:sp>
        <p:nvSpPr>
          <p:cNvPr name="TextBox 19" id="19"/>
          <p:cNvSpPr txBox="true"/>
          <p:nvPr/>
        </p:nvSpPr>
        <p:spPr>
          <a:xfrm rot="0">
            <a:off x="1354398" y="3889779"/>
            <a:ext cx="4460007" cy="330250"/>
          </a:xfrm>
          <a:prstGeom prst="rect">
            <a:avLst/>
          </a:prstGeom>
        </p:spPr>
        <p:txBody>
          <a:bodyPr anchor="t" rtlCol="false" tIns="0" lIns="0" bIns="0" rIns="0">
            <a:spAutoFit/>
          </a:bodyPr>
          <a:lstStyle/>
          <a:p>
            <a:pPr algn="l">
              <a:lnSpc>
                <a:spcPts val="2799"/>
              </a:lnSpc>
              <a:spcBef>
                <a:spcPct val="0"/>
              </a:spcBef>
            </a:pPr>
            <a:r>
              <a:rPr lang="en-US" b="true" sz="1999">
                <a:solidFill>
                  <a:srgbClr val="70A1BD"/>
                </a:solidFill>
                <a:latin typeface="Montserrat Bold"/>
                <a:ea typeface="Montserrat Bold"/>
                <a:cs typeface="Montserrat Bold"/>
                <a:sym typeface="Montserrat Bold"/>
              </a:rPr>
              <a:t>Define the Business Objective</a:t>
            </a:r>
          </a:p>
        </p:txBody>
      </p:sp>
      <p:sp>
        <p:nvSpPr>
          <p:cNvPr name="TextBox 20" id="20"/>
          <p:cNvSpPr txBox="true"/>
          <p:nvPr/>
        </p:nvSpPr>
        <p:spPr>
          <a:xfrm rot="0">
            <a:off x="1354398" y="4322644"/>
            <a:ext cx="4221162" cy="1416249"/>
          </a:xfrm>
          <a:prstGeom prst="rect">
            <a:avLst/>
          </a:prstGeom>
        </p:spPr>
        <p:txBody>
          <a:bodyPr anchor="t" rtlCol="false" tIns="0" lIns="0" bIns="0" rIns="0">
            <a:spAutoFit/>
          </a:bodyPr>
          <a:lstStyle/>
          <a:p>
            <a:pPr algn="l">
              <a:lnSpc>
                <a:spcPts val="2799"/>
              </a:lnSpc>
              <a:spcBef>
                <a:spcPct val="0"/>
              </a:spcBef>
            </a:pPr>
            <a:r>
              <a:rPr lang="en-US" sz="1999">
                <a:solidFill>
                  <a:srgbClr val="70A1BD"/>
                </a:solidFill>
                <a:latin typeface="Poppins"/>
                <a:ea typeface="Poppins"/>
                <a:cs typeface="Poppins"/>
                <a:sym typeface="Poppins"/>
              </a:rPr>
              <a:t>Identify a measurable goal such as increasing revenue by 10% or reducing operational costs by 15%</a:t>
            </a:r>
          </a:p>
        </p:txBody>
      </p:sp>
      <p:sp>
        <p:nvSpPr>
          <p:cNvPr name="TextBox 21" id="21"/>
          <p:cNvSpPr txBox="true"/>
          <p:nvPr/>
        </p:nvSpPr>
        <p:spPr>
          <a:xfrm rot="0">
            <a:off x="1354398" y="3151934"/>
            <a:ext cx="875213" cy="712421"/>
          </a:xfrm>
          <a:prstGeom prst="rect">
            <a:avLst/>
          </a:prstGeom>
        </p:spPr>
        <p:txBody>
          <a:bodyPr anchor="t" rtlCol="false" tIns="0" lIns="0" bIns="0" rIns="0">
            <a:spAutoFit/>
          </a:bodyPr>
          <a:lstStyle/>
          <a:p>
            <a:pPr algn="l">
              <a:lnSpc>
                <a:spcPts val="5879"/>
              </a:lnSpc>
              <a:spcBef>
                <a:spcPct val="0"/>
              </a:spcBef>
            </a:pPr>
            <a:r>
              <a:rPr lang="en-US" b="true" sz="4199">
                <a:solidFill>
                  <a:srgbClr val="70A1BD"/>
                </a:solidFill>
                <a:latin typeface="Montserrat Bold"/>
                <a:ea typeface="Montserrat Bold"/>
                <a:cs typeface="Montserrat Bold"/>
                <a:sym typeface="Montserrat Bold"/>
              </a:rPr>
              <a:t>1</a:t>
            </a:r>
          </a:p>
        </p:txBody>
      </p:sp>
      <p:sp>
        <p:nvSpPr>
          <p:cNvPr name="TextBox 22" id="22"/>
          <p:cNvSpPr txBox="true"/>
          <p:nvPr/>
        </p:nvSpPr>
        <p:spPr>
          <a:xfrm rot="0">
            <a:off x="6881427" y="3889779"/>
            <a:ext cx="4460007" cy="330250"/>
          </a:xfrm>
          <a:prstGeom prst="rect">
            <a:avLst/>
          </a:prstGeom>
        </p:spPr>
        <p:txBody>
          <a:bodyPr anchor="t" rtlCol="false" tIns="0" lIns="0" bIns="0" rIns="0">
            <a:spAutoFit/>
          </a:bodyPr>
          <a:lstStyle/>
          <a:p>
            <a:pPr algn="l">
              <a:lnSpc>
                <a:spcPts val="2799"/>
              </a:lnSpc>
              <a:spcBef>
                <a:spcPct val="0"/>
              </a:spcBef>
            </a:pPr>
            <a:r>
              <a:rPr lang="en-US" b="true" sz="1999">
                <a:solidFill>
                  <a:srgbClr val="70A1BD"/>
                </a:solidFill>
                <a:latin typeface="Montserrat Bold"/>
                <a:ea typeface="Montserrat Bold"/>
                <a:cs typeface="Montserrat Bold"/>
                <a:sym typeface="Montserrat Bold"/>
              </a:rPr>
              <a:t>Data Collection</a:t>
            </a:r>
          </a:p>
        </p:txBody>
      </p:sp>
      <p:sp>
        <p:nvSpPr>
          <p:cNvPr name="TextBox 23" id="23"/>
          <p:cNvSpPr txBox="true"/>
          <p:nvPr/>
        </p:nvSpPr>
        <p:spPr>
          <a:xfrm rot="0">
            <a:off x="6881427" y="4322644"/>
            <a:ext cx="4221162" cy="1063774"/>
          </a:xfrm>
          <a:prstGeom prst="rect">
            <a:avLst/>
          </a:prstGeom>
        </p:spPr>
        <p:txBody>
          <a:bodyPr anchor="t" rtlCol="false" tIns="0" lIns="0" bIns="0" rIns="0">
            <a:spAutoFit/>
          </a:bodyPr>
          <a:lstStyle/>
          <a:p>
            <a:pPr algn="l">
              <a:lnSpc>
                <a:spcPts val="2799"/>
              </a:lnSpc>
              <a:spcBef>
                <a:spcPct val="0"/>
              </a:spcBef>
            </a:pPr>
            <a:r>
              <a:rPr lang="en-US" sz="1999">
                <a:solidFill>
                  <a:srgbClr val="70A1BD"/>
                </a:solidFill>
                <a:latin typeface="Poppins"/>
                <a:ea typeface="Poppins"/>
                <a:cs typeface="Poppins"/>
                <a:sym typeface="Poppins"/>
              </a:rPr>
              <a:t>Gather rel</a:t>
            </a:r>
            <a:r>
              <a:rPr lang="en-US" sz="1999">
                <a:solidFill>
                  <a:srgbClr val="70A1BD"/>
                </a:solidFill>
                <a:latin typeface="Poppins"/>
                <a:ea typeface="Poppins"/>
                <a:cs typeface="Poppins"/>
                <a:sym typeface="Poppins"/>
              </a:rPr>
              <a:t>evant quantitative and qualitative data from internal and external sources</a:t>
            </a:r>
          </a:p>
        </p:txBody>
      </p:sp>
      <p:sp>
        <p:nvSpPr>
          <p:cNvPr name="TextBox 24" id="24"/>
          <p:cNvSpPr txBox="true"/>
          <p:nvPr/>
        </p:nvSpPr>
        <p:spPr>
          <a:xfrm rot="0">
            <a:off x="6881427" y="3151934"/>
            <a:ext cx="875213" cy="712421"/>
          </a:xfrm>
          <a:prstGeom prst="rect">
            <a:avLst/>
          </a:prstGeom>
        </p:spPr>
        <p:txBody>
          <a:bodyPr anchor="t" rtlCol="false" tIns="0" lIns="0" bIns="0" rIns="0">
            <a:spAutoFit/>
          </a:bodyPr>
          <a:lstStyle/>
          <a:p>
            <a:pPr algn="l">
              <a:lnSpc>
                <a:spcPts val="5879"/>
              </a:lnSpc>
              <a:spcBef>
                <a:spcPct val="0"/>
              </a:spcBef>
            </a:pPr>
            <a:r>
              <a:rPr lang="en-US" b="true" sz="4199">
                <a:solidFill>
                  <a:srgbClr val="70A1BD"/>
                </a:solidFill>
                <a:latin typeface="Montserrat Bold"/>
                <a:ea typeface="Montserrat Bold"/>
                <a:cs typeface="Montserrat Bold"/>
                <a:sym typeface="Montserrat Bold"/>
              </a:rPr>
              <a:t>2</a:t>
            </a:r>
          </a:p>
        </p:txBody>
      </p:sp>
      <p:sp>
        <p:nvSpPr>
          <p:cNvPr name="TextBox 25" id="25"/>
          <p:cNvSpPr txBox="true"/>
          <p:nvPr/>
        </p:nvSpPr>
        <p:spPr>
          <a:xfrm rot="0">
            <a:off x="12410394" y="3889779"/>
            <a:ext cx="4460007" cy="330250"/>
          </a:xfrm>
          <a:prstGeom prst="rect">
            <a:avLst/>
          </a:prstGeom>
        </p:spPr>
        <p:txBody>
          <a:bodyPr anchor="t" rtlCol="false" tIns="0" lIns="0" bIns="0" rIns="0">
            <a:spAutoFit/>
          </a:bodyPr>
          <a:lstStyle/>
          <a:p>
            <a:pPr algn="l">
              <a:lnSpc>
                <a:spcPts val="2799"/>
              </a:lnSpc>
              <a:spcBef>
                <a:spcPct val="0"/>
              </a:spcBef>
            </a:pPr>
            <a:r>
              <a:rPr lang="en-US" b="true" sz="1999">
                <a:solidFill>
                  <a:srgbClr val="70A1BD"/>
                </a:solidFill>
                <a:latin typeface="Montserrat Bold"/>
                <a:ea typeface="Montserrat Bold"/>
                <a:cs typeface="Montserrat Bold"/>
                <a:sym typeface="Montserrat Bold"/>
              </a:rPr>
              <a:t>Data Preparation &amp; Validation</a:t>
            </a:r>
          </a:p>
        </p:txBody>
      </p:sp>
      <p:sp>
        <p:nvSpPr>
          <p:cNvPr name="TextBox 26" id="26"/>
          <p:cNvSpPr txBox="true"/>
          <p:nvPr/>
        </p:nvSpPr>
        <p:spPr>
          <a:xfrm rot="0">
            <a:off x="12410394" y="4322644"/>
            <a:ext cx="4221162" cy="1416249"/>
          </a:xfrm>
          <a:prstGeom prst="rect">
            <a:avLst/>
          </a:prstGeom>
        </p:spPr>
        <p:txBody>
          <a:bodyPr anchor="t" rtlCol="false" tIns="0" lIns="0" bIns="0" rIns="0">
            <a:spAutoFit/>
          </a:bodyPr>
          <a:lstStyle/>
          <a:p>
            <a:pPr algn="l">
              <a:lnSpc>
                <a:spcPts val="2799"/>
              </a:lnSpc>
              <a:spcBef>
                <a:spcPct val="0"/>
              </a:spcBef>
            </a:pPr>
            <a:r>
              <a:rPr lang="en-US" sz="1999">
                <a:solidFill>
                  <a:srgbClr val="70A1BD"/>
                </a:solidFill>
                <a:latin typeface="Poppins"/>
                <a:ea typeface="Poppins"/>
                <a:cs typeface="Poppins"/>
                <a:sym typeface="Poppins"/>
              </a:rPr>
              <a:t>Cl</a:t>
            </a:r>
            <a:r>
              <a:rPr lang="en-US" sz="1999">
                <a:solidFill>
                  <a:srgbClr val="70A1BD"/>
                </a:solidFill>
                <a:latin typeface="Poppins"/>
                <a:ea typeface="Poppins"/>
                <a:cs typeface="Poppins"/>
                <a:sym typeface="Poppins"/>
              </a:rPr>
              <a:t>ean incomplete records, remove duplicates, and ensure accuracy to maintain data integrity</a:t>
            </a:r>
          </a:p>
        </p:txBody>
      </p:sp>
      <p:sp>
        <p:nvSpPr>
          <p:cNvPr name="TextBox 27" id="27"/>
          <p:cNvSpPr txBox="true"/>
          <p:nvPr/>
        </p:nvSpPr>
        <p:spPr>
          <a:xfrm rot="0">
            <a:off x="12410394" y="3151934"/>
            <a:ext cx="875213" cy="712421"/>
          </a:xfrm>
          <a:prstGeom prst="rect">
            <a:avLst/>
          </a:prstGeom>
        </p:spPr>
        <p:txBody>
          <a:bodyPr anchor="t" rtlCol="false" tIns="0" lIns="0" bIns="0" rIns="0">
            <a:spAutoFit/>
          </a:bodyPr>
          <a:lstStyle/>
          <a:p>
            <a:pPr algn="l">
              <a:lnSpc>
                <a:spcPts val="5879"/>
              </a:lnSpc>
              <a:spcBef>
                <a:spcPct val="0"/>
              </a:spcBef>
            </a:pPr>
            <a:r>
              <a:rPr lang="en-US" b="true" sz="4199">
                <a:solidFill>
                  <a:srgbClr val="70A1BD"/>
                </a:solidFill>
                <a:latin typeface="Montserrat Bold"/>
                <a:ea typeface="Montserrat Bold"/>
                <a:cs typeface="Montserrat Bold"/>
                <a:sym typeface="Montserrat Bold"/>
              </a:rPr>
              <a:t>3</a:t>
            </a:r>
          </a:p>
        </p:txBody>
      </p:sp>
      <p:sp>
        <p:nvSpPr>
          <p:cNvPr name="TextBox 28" id="28"/>
          <p:cNvSpPr txBox="true"/>
          <p:nvPr/>
        </p:nvSpPr>
        <p:spPr>
          <a:xfrm rot="0">
            <a:off x="3965920" y="7110228"/>
            <a:ext cx="4460007" cy="330250"/>
          </a:xfrm>
          <a:prstGeom prst="rect">
            <a:avLst/>
          </a:prstGeom>
        </p:spPr>
        <p:txBody>
          <a:bodyPr anchor="t" rtlCol="false" tIns="0" lIns="0" bIns="0" rIns="0">
            <a:spAutoFit/>
          </a:bodyPr>
          <a:lstStyle/>
          <a:p>
            <a:pPr algn="l">
              <a:lnSpc>
                <a:spcPts val="2799"/>
              </a:lnSpc>
              <a:spcBef>
                <a:spcPct val="0"/>
              </a:spcBef>
            </a:pPr>
            <a:r>
              <a:rPr lang="en-US" b="true" sz="1999">
                <a:solidFill>
                  <a:srgbClr val="70A1BD"/>
                </a:solidFill>
                <a:latin typeface="Montserrat Bold"/>
                <a:ea typeface="Montserrat Bold"/>
                <a:cs typeface="Montserrat Bold"/>
                <a:sym typeface="Montserrat Bold"/>
              </a:rPr>
              <a:t>A</a:t>
            </a:r>
            <a:r>
              <a:rPr lang="en-US" b="true" sz="1999">
                <a:solidFill>
                  <a:srgbClr val="70A1BD"/>
                </a:solidFill>
                <a:latin typeface="Montserrat Bold"/>
                <a:ea typeface="Montserrat Bold"/>
                <a:cs typeface="Montserrat Bold"/>
                <a:sym typeface="Montserrat Bold"/>
              </a:rPr>
              <a:t>nalysis &amp; Interpretation</a:t>
            </a:r>
          </a:p>
        </p:txBody>
      </p:sp>
      <p:sp>
        <p:nvSpPr>
          <p:cNvPr name="TextBox 29" id="29"/>
          <p:cNvSpPr txBox="true"/>
          <p:nvPr/>
        </p:nvSpPr>
        <p:spPr>
          <a:xfrm rot="0">
            <a:off x="3965920" y="7543094"/>
            <a:ext cx="4221162" cy="1063774"/>
          </a:xfrm>
          <a:prstGeom prst="rect">
            <a:avLst/>
          </a:prstGeom>
        </p:spPr>
        <p:txBody>
          <a:bodyPr anchor="t" rtlCol="false" tIns="0" lIns="0" bIns="0" rIns="0">
            <a:spAutoFit/>
          </a:bodyPr>
          <a:lstStyle/>
          <a:p>
            <a:pPr algn="l">
              <a:lnSpc>
                <a:spcPts val="2799"/>
              </a:lnSpc>
              <a:spcBef>
                <a:spcPct val="0"/>
              </a:spcBef>
            </a:pPr>
            <a:r>
              <a:rPr lang="en-US" sz="1999">
                <a:solidFill>
                  <a:srgbClr val="70A1BD"/>
                </a:solidFill>
                <a:latin typeface="Poppins"/>
                <a:ea typeface="Poppins"/>
                <a:cs typeface="Poppins"/>
                <a:sym typeface="Poppins"/>
              </a:rPr>
              <a:t>Identify patterns, correlations, performance gaps, and statistical relationships</a:t>
            </a:r>
          </a:p>
        </p:txBody>
      </p:sp>
      <p:sp>
        <p:nvSpPr>
          <p:cNvPr name="TextBox 30" id="30"/>
          <p:cNvSpPr txBox="true"/>
          <p:nvPr/>
        </p:nvSpPr>
        <p:spPr>
          <a:xfrm rot="0">
            <a:off x="3965920" y="6372383"/>
            <a:ext cx="875213" cy="712421"/>
          </a:xfrm>
          <a:prstGeom prst="rect">
            <a:avLst/>
          </a:prstGeom>
        </p:spPr>
        <p:txBody>
          <a:bodyPr anchor="t" rtlCol="false" tIns="0" lIns="0" bIns="0" rIns="0">
            <a:spAutoFit/>
          </a:bodyPr>
          <a:lstStyle/>
          <a:p>
            <a:pPr algn="l">
              <a:lnSpc>
                <a:spcPts val="5879"/>
              </a:lnSpc>
              <a:spcBef>
                <a:spcPct val="0"/>
              </a:spcBef>
            </a:pPr>
            <a:r>
              <a:rPr lang="en-US" b="true" sz="4199">
                <a:solidFill>
                  <a:srgbClr val="70A1BD"/>
                </a:solidFill>
                <a:latin typeface="Montserrat Bold"/>
                <a:ea typeface="Montserrat Bold"/>
                <a:cs typeface="Montserrat Bold"/>
                <a:sym typeface="Montserrat Bold"/>
              </a:rPr>
              <a:t>4</a:t>
            </a:r>
          </a:p>
        </p:txBody>
      </p:sp>
      <p:sp>
        <p:nvSpPr>
          <p:cNvPr name="TextBox 31" id="31"/>
          <p:cNvSpPr txBox="true"/>
          <p:nvPr/>
        </p:nvSpPr>
        <p:spPr>
          <a:xfrm rot="0">
            <a:off x="9492949" y="7110228"/>
            <a:ext cx="4460007" cy="330250"/>
          </a:xfrm>
          <a:prstGeom prst="rect">
            <a:avLst/>
          </a:prstGeom>
        </p:spPr>
        <p:txBody>
          <a:bodyPr anchor="t" rtlCol="false" tIns="0" lIns="0" bIns="0" rIns="0">
            <a:spAutoFit/>
          </a:bodyPr>
          <a:lstStyle/>
          <a:p>
            <a:pPr algn="l">
              <a:lnSpc>
                <a:spcPts val="2799"/>
              </a:lnSpc>
              <a:spcBef>
                <a:spcPct val="0"/>
              </a:spcBef>
            </a:pPr>
            <a:r>
              <a:rPr lang="en-US" b="true" sz="1999">
                <a:solidFill>
                  <a:srgbClr val="70A1BD"/>
                </a:solidFill>
                <a:latin typeface="Montserrat Bold"/>
                <a:ea typeface="Montserrat Bold"/>
                <a:cs typeface="Montserrat Bold"/>
                <a:sym typeface="Montserrat Bold"/>
              </a:rPr>
              <a:t>Stra</a:t>
            </a:r>
            <a:r>
              <a:rPr lang="en-US" b="true" sz="1999">
                <a:solidFill>
                  <a:srgbClr val="70A1BD"/>
                </a:solidFill>
                <a:latin typeface="Montserrat Bold"/>
                <a:ea typeface="Montserrat Bold"/>
                <a:cs typeface="Montserrat Bold"/>
                <a:sym typeface="Montserrat Bold"/>
              </a:rPr>
              <a:t>tegic Recommendation</a:t>
            </a:r>
          </a:p>
        </p:txBody>
      </p:sp>
      <p:sp>
        <p:nvSpPr>
          <p:cNvPr name="TextBox 32" id="32"/>
          <p:cNvSpPr txBox="true"/>
          <p:nvPr/>
        </p:nvSpPr>
        <p:spPr>
          <a:xfrm rot="0">
            <a:off x="9492949" y="7543094"/>
            <a:ext cx="4221162" cy="1063774"/>
          </a:xfrm>
          <a:prstGeom prst="rect">
            <a:avLst/>
          </a:prstGeom>
        </p:spPr>
        <p:txBody>
          <a:bodyPr anchor="t" rtlCol="false" tIns="0" lIns="0" bIns="0" rIns="0">
            <a:spAutoFit/>
          </a:bodyPr>
          <a:lstStyle/>
          <a:p>
            <a:pPr algn="l">
              <a:lnSpc>
                <a:spcPts val="2799"/>
              </a:lnSpc>
              <a:spcBef>
                <a:spcPct val="0"/>
              </a:spcBef>
            </a:pPr>
            <a:r>
              <a:rPr lang="en-US" sz="1999">
                <a:solidFill>
                  <a:srgbClr val="70A1BD"/>
                </a:solidFill>
                <a:latin typeface="Poppins"/>
                <a:ea typeface="Poppins"/>
                <a:cs typeface="Poppins"/>
                <a:sym typeface="Poppins"/>
              </a:rPr>
              <a:t>T</a:t>
            </a:r>
            <a:r>
              <a:rPr lang="en-US" sz="1999">
                <a:solidFill>
                  <a:srgbClr val="70A1BD"/>
                </a:solidFill>
                <a:latin typeface="Poppins"/>
                <a:ea typeface="Poppins"/>
                <a:cs typeface="Poppins"/>
                <a:sym typeface="Poppins"/>
              </a:rPr>
              <a:t>ranslate findings into actionable steps aligned with business KPIs</a:t>
            </a:r>
          </a:p>
        </p:txBody>
      </p:sp>
      <p:sp>
        <p:nvSpPr>
          <p:cNvPr name="TextBox 33" id="33"/>
          <p:cNvSpPr txBox="true"/>
          <p:nvPr/>
        </p:nvSpPr>
        <p:spPr>
          <a:xfrm rot="0">
            <a:off x="9492949" y="6372383"/>
            <a:ext cx="875213" cy="712421"/>
          </a:xfrm>
          <a:prstGeom prst="rect">
            <a:avLst/>
          </a:prstGeom>
        </p:spPr>
        <p:txBody>
          <a:bodyPr anchor="t" rtlCol="false" tIns="0" lIns="0" bIns="0" rIns="0">
            <a:spAutoFit/>
          </a:bodyPr>
          <a:lstStyle/>
          <a:p>
            <a:pPr algn="l">
              <a:lnSpc>
                <a:spcPts val="5879"/>
              </a:lnSpc>
              <a:spcBef>
                <a:spcPct val="0"/>
              </a:spcBef>
            </a:pPr>
            <a:r>
              <a:rPr lang="en-US" b="true" sz="4199">
                <a:solidFill>
                  <a:srgbClr val="70A1BD"/>
                </a:solidFill>
                <a:latin typeface="Montserrat Bold"/>
                <a:ea typeface="Montserrat Bold"/>
                <a:cs typeface="Montserrat Bold"/>
                <a:sym typeface="Montserrat Bold"/>
              </a:rPr>
              <a:t>5</a:t>
            </a:r>
          </a:p>
        </p:txBody>
      </p:sp>
      <p:sp>
        <p:nvSpPr>
          <p:cNvPr name="Freeform 34" id="34"/>
          <p:cNvSpPr/>
          <p:nvPr/>
        </p:nvSpPr>
        <p:spPr>
          <a:xfrm flipH="true" flipV="false" rot="0">
            <a:off x="16115637" y="8112698"/>
            <a:ext cx="1145602" cy="1145602"/>
          </a:xfrm>
          <a:custGeom>
            <a:avLst/>
            <a:gdLst/>
            <a:ahLst/>
            <a:cxnLst/>
            <a:rect r="r" b="b" t="t" l="l"/>
            <a:pathLst>
              <a:path h="1145602" w="1145602">
                <a:moveTo>
                  <a:pt x="1145602" y="0"/>
                </a:moveTo>
                <a:lnTo>
                  <a:pt x="0" y="0"/>
                </a:lnTo>
                <a:lnTo>
                  <a:pt x="0" y="1145602"/>
                </a:lnTo>
                <a:lnTo>
                  <a:pt x="1145602" y="1145602"/>
                </a:lnTo>
                <a:lnTo>
                  <a:pt x="11456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1047021" y="4773929"/>
            <a:ext cx="12105053" cy="907317"/>
            <a:chOff x="0" y="0"/>
            <a:chExt cx="3188162" cy="238964"/>
          </a:xfrm>
        </p:grpSpPr>
        <p:sp>
          <p:nvSpPr>
            <p:cNvPr name="Freeform 3" id="3"/>
            <p:cNvSpPr/>
            <p:nvPr/>
          </p:nvSpPr>
          <p:spPr>
            <a:xfrm flipH="false" flipV="false" rot="0">
              <a:off x="0" y="0"/>
              <a:ext cx="3188162" cy="238964"/>
            </a:xfrm>
            <a:custGeom>
              <a:avLst/>
              <a:gdLst/>
              <a:ahLst/>
              <a:cxnLst/>
              <a:rect r="r" b="b" t="t" l="l"/>
              <a:pathLst>
                <a:path h="238964" w="3188162">
                  <a:moveTo>
                    <a:pt x="32618" y="0"/>
                  </a:moveTo>
                  <a:lnTo>
                    <a:pt x="3155545" y="0"/>
                  </a:lnTo>
                  <a:cubicBezTo>
                    <a:pt x="3173559" y="0"/>
                    <a:pt x="3188162" y="14603"/>
                    <a:pt x="3188162" y="32618"/>
                  </a:cubicBezTo>
                  <a:lnTo>
                    <a:pt x="3188162" y="206347"/>
                  </a:lnTo>
                  <a:cubicBezTo>
                    <a:pt x="3188162" y="224361"/>
                    <a:pt x="3173559" y="238964"/>
                    <a:pt x="3155545" y="238964"/>
                  </a:cubicBezTo>
                  <a:lnTo>
                    <a:pt x="32618" y="238964"/>
                  </a:lnTo>
                  <a:cubicBezTo>
                    <a:pt x="14603" y="238964"/>
                    <a:pt x="0" y="224361"/>
                    <a:pt x="0" y="206347"/>
                  </a:cubicBezTo>
                  <a:lnTo>
                    <a:pt x="0" y="32618"/>
                  </a:lnTo>
                  <a:cubicBezTo>
                    <a:pt x="0" y="14603"/>
                    <a:pt x="14603" y="0"/>
                    <a:pt x="32618" y="0"/>
                  </a:cubicBezTo>
                  <a:close/>
                </a:path>
              </a:pathLst>
            </a:custGeom>
            <a:solidFill>
              <a:srgbClr val="343734"/>
            </a:solidFill>
          </p:spPr>
        </p:sp>
        <p:sp>
          <p:nvSpPr>
            <p:cNvPr name="TextBox 4" id="4"/>
            <p:cNvSpPr txBox="true"/>
            <p:nvPr/>
          </p:nvSpPr>
          <p:spPr>
            <a:xfrm>
              <a:off x="0" y="-38100"/>
              <a:ext cx="3188162" cy="2770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47021" y="6119396"/>
            <a:ext cx="12105053" cy="907317"/>
            <a:chOff x="0" y="0"/>
            <a:chExt cx="3188162" cy="238964"/>
          </a:xfrm>
        </p:grpSpPr>
        <p:sp>
          <p:nvSpPr>
            <p:cNvPr name="Freeform 6" id="6"/>
            <p:cNvSpPr/>
            <p:nvPr/>
          </p:nvSpPr>
          <p:spPr>
            <a:xfrm flipH="false" flipV="false" rot="0">
              <a:off x="0" y="0"/>
              <a:ext cx="3188162" cy="238964"/>
            </a:xfrm>
            <a:custGeom>
              <a:avLst/>
              <a:gdLst/>
              <a:ahLst/>
              <a:cxnLst/>
              <a:rect r="r" b="b" t="t" l="l"/>
              <a:pathLst>
                <a:path h="238964" w="3188162">
                  <a:moveTo>
                    <a:pt x="32618" y="0"/>
                  </a:moveTo>
                  <a:lnTo>
                    <a:pt x="3155545" y="0"/>
                  </a:lnTo>
                  <a:cubicBezTo>
                    <a:pt x="3173559" y="0"/>
                    <a:pt x="3188162" y="14603"/>
                    <a:pt x="3188162" y="32618"/>
                  </a:cubicBezTo>
                  <a:lnTo>
                    <a:pt x="3188162" y="206347"/>
                  </a:lnTo>
                  <a:cubicBezTo>
                    <a:pt x="3188162" y="224361"/>
                    <a:pt x="3173559" y="238964"/>
                    <a:pt x="3155545" y="238964"/>
                  </a:cubicBezTo>
                  <a:lnTo>
                    <a:pt x="32618" y="238964"/>
                  </a:lnTo>
                  <a:cubicBezTo>
                    <a:pt x="14603" y="238964"/>
                    <a:pt x="0" y="224361"/>
                    <a:pt x="0" y="206347"/>
                  </a:cubicBezTo>
                  <a:lnTo>
                    <a:pt x="0" y="32618"/>
                  </a:lnTo>
                  <a:cubicBezTo>
                    <a:pt x="0" y="14603"/>
                    <a:pt x="14603" y="0"/>
                    <a:pt x="32618" y="0"/>
                  </a:cubicBezTo>
                  <a:close/>
                </a:path>
              </a:pathLst>
            </a:custGeom>
            <a:solidFill>
              <a:srgbClr val="343734"/>
            </a:solidFill>
          </p:spPr>
        </p:sp>
        <p:sp>
          <p:nvSpPr>
            <p:cNvPr name="TextBox 7" id="7"/>
            <p:cNvSpPr txBox="true"/>
            <p:nvPr/>
          </p:nvSpPr>
          <p:spPr>
            <a:xfrm>
              <a:off x="0" y="-38100"/>
              <a:ext cx="3188162" cy="27706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47021" y="7464863"/>
            <a:ext cx="12105053" cy="907317"/>
            <a:chOff x="0" y="0"/>
            <a:chExt cx="3188162" cy="238964"/>
          </a:xfrm>
        </p:grpSpPr>
        <p:sp>
          <p:nvSpPr>
            <p:cNvPr name="Freeform 9" id="9"/>
            <p:cNvSpPr/>
            <p:nvPr/>
          </p:nvSpPr>
          <p:spPr>
            <a:xfrm flipH="false" flipV="false" rot="0">
              <a:off x="0" y="0"/>
              <a:ext cx="3188162" cy="238964"/>
            </a:xfrm>
            <a:custGeom>
              <a:avLst/>
              <a:gdLst/>
              <a:ahLst/>
              <a:cxnLst/>
              <a:rect r="r" b="b" t="t" l="l"/>
              <a:pathLst>
                <a:path h="238964" w="3188162">
                  <a:moveTo>
                    <a:pt x="32618" y="0"/>
                  </a:moveTo>
                  <a:lnTo>
                    <a:pt x="3155545" y="0"/>
                  </a:lnTo>
                  <a:cubicBezTo>
                    <a:pt x="3173559" y="0"/>
                    <a:pt x="3188162" y="14603"/>
                    <a:pt x="3188162" y="32618"/>
                  </a:cubicBezTo>
                  <a:lnTo>
                    <a:pt x="3188162" y="206347"/>
                  </a:lnTo>
                  <a:cubicBezTo>
                    <a:pt x="3188162" y="224361"/>
                    <a:pt x="3173559" y="238964"/>
                    <a:pt x="3155545" y="238964"/>
                  </a:cubicBezTo>
                  <a:lnTo>
                    <a:pt x="32618" y="238964"/>
                  </a:lnTo>
                  <a:cubicBezTo>
                    <a:pt x="14603" y="238964"/>
                    <a:pt x="0" y="224361"/>
                    <a:pt x="0" y="206347"/>
                  </a:cubicBezTo>
                  <a:lnTo>
                    <a:pt x="0" y="32618"/>
                  </a:lnTo>
                  <a:cubicBezTo>
                    <a:pt x="0" y="14603"/>
                    <a:pt x="14603" y="0"/>
                    <a:pt x="32618" y="0"/>
                  </a:cubicBezTo>
                  <a:close/>
                </a:path>
              </a:pathLst>
            </a:custGeom>
            <a:solidFill>
              <a:srgbClr val="343734"/>
            </a:solidFill>
          </p:spPr>
        </p:sp>
        <p:sp>
          <p:nvSpPr>
            <p:cNvPr name="TextBox 10" id="10"/>
            <p:cNvSpPr txBox="true"/>
            <p:nvPr/>
          </p:nvSpPr>
          <p:spPr>
            <a:xfrm>
              <a:off x="0" y="-38100"/>
              <a:ext cx="3188162" cy="277064"/>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5036845" y="-197439"/>
            <a:ext cx="3765505" cy="11168682"/>
            <a:chOff x="0" y="0"/>
            <a:chExt cx="991738" cy="2941546"/>
          </a:xfrm>
        </p:grpSpPr>
        <p:sp>
          <p:nvSpPr>
            <p:cNvPr name="Freeform 12" id="12"/>
            <p:cNvSpPr/>
            <p:nvPr/>
          </p:nvSpPr>
          <p:spPr>
            <a:xfrm flipH="false" flipV="false" rot="0">
              <a:off x="0" y="0"/>
              <a:ext cx="991738" cy="2941546"/>
            </a:xfrm>
            <a:custGeom>
              <a:avLst/>
              <a:gdLst/>
              <a:ahLst/>
              <a:cxnLst/>
              <a:rect r="r" b="b" t="t" l="l"/>
              <a:pathLst>
                <a:path h="2941546" w="991738">
                  <a:moveTo>
                    <a:pt x="0" y="0"/>
                  </a:moveTo>
                  <a:lnTo>
                    <a:pt x="991738" y="0"/>
                  </a:lnTo>
                  <a:lnTo>
                    <a:pt x="991738" y="2941546"/>
                  </a:lnTo>
                  <a:lnTo>
                    <a:pt x="0" y="2941546"/>
                  </a:lnTo>
                  <a:close/>
                </a:path>
              </a:pathLst>
            </a:custGeom>
            <a:solidFill>
              <a:srgbClr val="343734"/>
            </a:solidFill>
          </p:spPr>
        </p:sp>
        <p:sp>
          <p:nvSpPr>
            <p:cNvPr name="TextBox 13" id="13"/>
            <p:cNvSpPr txBox="true"/>
            <p:nvPr/>
          </p:nvSpPr>
          <p:spPr>
            <a:xfrm>
              <a:off x="0" y="-38100"/>
              <a:ext cx="991738" cy="2979646"/>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028700" y="1123950"/>
            <a:ext cx="13854017" cy="2473910"/>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From</a:t>
            </a:r>
            <a:r>
              <a:rPr lang="en-US" b="true" sz="8799">
                <a:solidFill>
                  <a:srgbClr val="343734"/>
                </a:solidFill>
                <a:latin typeface="Montserrat Bold"/>
                <a:ea typeface="Montserrat Bold"/>
                <a:cs typeface="Montserrat Bold"/>
                <a:sym typeface="Montserrat Bold"/>
              </a:rPr>
              <a:t> Data to Measurable Insights</a:t>
            </a:r>
          </a:p>
        </p:txBody>
      </p:sp>
      <p:sp>
        <p:nvSpPr>
          <p:cNvPr name="TextBox 15" id="15"/>
          <p:cNvSpPr txBox="true"/>
          <p:nvPr/>
        </p:nvSpPr>
        <p:spPr>
          <a:xfrm rot="0">
            <a:off x="1028700" y="3976954"/>
            <a:ext cx="13854017" cy="358825"/>
          </a:xfrm>
          <a:prstGeom prst="rect">
            <a:avLst/>
          </a:prstGeom>
        </p:spPr>
        <p:txBody>
          <a:bodyPr anchor="t" rtlCol="false" tIns="0" lIns="0" bIns="0" rIns="0">
            <a:spAutoFit/>
          </a:bodyPr>
          <a:lstStyle/>
          <a:p>
            <a:pPr algn="l">
              <a:lnSpc>
                <a:spcPts val="2799"/>
              </a:lnSpc>
              <a:spcBef>
                <a:spcPct val="0"/>
              </a:spcBef>
            </a:pPr>
            <a:r>
              <a:rPr lang="en-US" sz="1999" spc="465">
                <a:solidFill>
                  <a:srgbClr val="343734"/>
                </a:solidFill>
                <a:latin typeface="Poppins"/>
                <a:ea typeface="Poppins"/>
                <a:cs typeface="Poppins"/>
                <a:sym typeface="Poppins"/>
              </a:rPr>
              <a:t>Data becomes valuable when it produces measurable outcomes</a:t>
            </a:r>
          </a:p>
        </p:txBody>
      </p:sp>
      <p:sp>
        <p:nvSpPr>
          <p:cNvPr name="TextBox 16" id="16"/>
          <p:cNvSpPr txBox="true"/>
          <p:nvPr/>
        </p:nvSpPr>
        <p:spPr>
          <a:xfrm rot="0">
            <a:off x="1444240" y="4981855"/>
            <a:ext cx="11310614" cy="424791"/>
          </a:xfrm>
          <a:prstGeom prst="rect">
            <a:avLst/>
          </a:prstGeom>
        </p:spPr>
        <p:txBody>
          <a:bodyPr anchor="t" rtlCol="false" tIns="0" lIns="0" bIns="0" rIns="0">
            <a:spAutoFit/>
          </a:bodyPr>
          <a:lstStyle/>
          <a:p>
            <a:pPr algn="ctr">
              <a:lnSpc>
                <a:spcPts val="3359"/>
              </a:lnSpc>
              <a:spcBef>
                <a:spcPct val="0"/>
              </a:spcBef>
            </a:pPr>
            <a:r>
              <a:rPr lang="en-US" sz="2399">
                <a:solidFill>
                  <a:srgbClr val="EFF1E8"/>
                </a:solidFill>
                <a:latin typeface="Poppins"/>
                <a:ea typeface="Poppins"/>
                <a:cs typeface="Poppins"/>
                <a:sym typeface="Poppins"/>
              </a:rPr>
              <a:t>A 12% increase in customer retention after identifying churn patterns</a:t>
            </a:r>
          </a:p>
        </p:txBody>
      </p:sp>
      <p:sp>
        <p:nvSpPr>
          <p:cNvPr name="TextBox 17" id="17"/>
          <p:cNvSpPr txBox="true"/>
          <p:nvPr/>
        </p:nvSpPr>
        <p:spPr>
          <a:xfrm rot="0">
            <a:off x="1146664" y="6328946"/>
            <a:ext cx="11905766" cy="424791"/>
          </a:xfrm>
          <a:prstGeom prst="rect">
            <a:avLst/>
          </a:prstGeom>
        </p:spPr>
        <p:txBody>
          <a:bodyPr anchor="t" rtlCol="false" tIns="0" lIns="0" bIns="0" rIns="0">
            <a:spAutoFit/>
          </a:bodyPr>
          <a:lstStyle/>
          <a:p>
            <a:pPr algn="ctr">
              <a:lnSpc>
                <a:spcPts val="3359"/>
              </a:lnSpc>
              <a:spcBef>
                <a:spcPct val="0"/>
              </a:spcBef>
            </a:pPr>
            <a:r>
              <a:rPr lang="en-US" sz="2399">
                <a:solidFill>
                  <a:srgbClr val="EFF1E8"/>
                </a:solidFill>
                <a:latin typeface="Poppins"/>
                <a:ea typeface="Poppins"/>
                <a:cs typeface="Poppins"/>
                <a:sym typeface="Poppins"/>
              </a:rPr>
              <a:t>A 20% reduction in operational delays through performance monitoring</a:t>
            </a:r>
          </a:p>
        </p:txBody>
      </p:sp>
      <p:sp>
        <p:nvSpPr>
          <p:cNvPr name="TextBox 18" id="18"/>
          <p:cNvSpPr txBox="true"/>
          <p:nvPr/>
        </p:nvSpPr>
        <p:spPr>
          <a:xfrm rot="0">
            <a:off x="701994" y="7672789"/>
            <a:ext cx="12795106" cy="424791"/>
          </a:xfrm>
          <a:prstGeom prst="rect">
            <a:avLst/>
          </a:prstGeom>
        </p:spPr>
        <p:txBody>
          <a:bodyPr anchor="t" rtlCol="false" tIns="0" lIns="0" bIns="0" rIns="0">
            <a:spAutoFit/>
          </a:bodyPr>
          <a:lstStyle/>
          <a:p>
            <a:pPr algn="ctr">
              <a:lnSpc>
                <a:spcPts val="3359"/>
              </a:lnSpc>
              <a:spcBef>
                <a:spcPct val="0"/>
              </a:spcBef>
            </a:pPr>
            <a:r>
              <a:rPr lang="en-US" sz="2399">
                <a:solidFill>
                  <a:srgbClr val="EFF1E8"/>
                </a:solidFill>
                <a:latin typeface="Poppins"/>
                <a:ea typeface="Poppins"/>
                <a:cs typeface="Poppins"/>
                <a:sym typeface="Poppins"/>
              </a:rPr>
              <a:t>A 15% increase in campaign efficiency by analyzing customer segmentation</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1028700" y="4261238"/>
            <a:ext cx="4964225" cy="3919267"/>
            <a:chOff x="0" y="0"/>
            <a:chExt cx="1307450" cy="1032235"/>
          </a:xfrm>
        </p:grpSpPr>
        <p:sp>
          <p:nvSpPr>
            <p:cNvPr name="Freeform 3" id="3"/>
            <p:cNvSpPr/>
            <p:nvPr/>
          </p:nvSpPr>
          <p:spPr>
            <a:xfrm flipH="false" flipV="false" rot="0">
              <a:off x="0" y="0"/>
              <a:ext cx="1307450" cy="1032235"/>
            </a:xfrm>
            <a:custGeom>
              <a:avLst/>
              <a:gdLst/>
              <a:ahLst/>
              <a:cxnLst/>
              <a:rect r="r" b="b" t="t" l="l"/>
              <a:pathLst>
                <a:path h="1032235" w="1307450">
                  <a:moveTo>
                    <a:pt x="79537" y="0"/>
                  </a:moveTo>
                  <a:lnTo>
                    <a:pt x="1227914" y="0"/>
                  </a:lnTo>
                  <a:cubicBezTo>
                    <a:pt x="1249008" y="0"/>
                    <a:pt x="1269238" y="8380"/>
                    <a:pt x="1284154" y="23296"/>
                  </a:cubicBezTo>
                  <a:cubicBezTo>
                    <a:pt x="1299071" y="38212"/>
                    <a:pt x="1307450" y="58442"/>
                    <a:pt x="1307450" y="79537"/>
                  </a:cubicBezTo>
                  <a:lnTo>
                    <a:pt x="1307450" y="952698"/>
                  </a:lnTo>
                  <a:cubicBezTo>
                    <a:pt x="1307450" y="973793"/>
                    <a:pt x="1299071" y="994023"/>
                    <a:pt x="1284154" y="1008939"/>
                  </a:cubicBezTo>
                  <a:cubicBezTo>
                    <a:pt x="1269238" y="1023855"/>
                    <a:pt x="1249008" y="1032235"/>
                    <a:pt x="1227914" y="1032235"/>
                  </a:cubicBezTo>
                  <a:lnTo>
                    <a:pt x="79537" y="1032235"/>
                  </a:lnTo>
                  <a:cubicBezTo>
                    <a:pt x="58442" y="1032235"/>
                    <a:pt x="38212" y="1023855"/>
                    <a:pt x="23296" y="1008939"/>
                  </a:cubicBezTo>
                  <a:cubicBezTo>
                    <a:pt x="8380" y="994023"/>
                    <a:pt x="0" y="973793"/>
                    <a:pt x="0" y="952698"/>
                  </a:cubicBezTo>
                  <a:lnTo>
                    <a:pt x="0" y="79537"/>
                  </a:lnTo>
                  <a:cubicBezTo>
                    <a:pt x="0" y="58442"/>
                    <a:pt x="8380" y="38212"/>
                    <a:pt x="23296" y="23296"/>
                  </a:cubicBezTo>
                  <a:cubicBezTo>
                    <a:pt x="38212" y="8380"/>
                    <a:pt x="58442" y="0"/>
                    <a:pt x="79537" y="0"/>
                  </a:cubicBezTo>
                  <a:close/>
                </a:path>
              </a:pathLst>
            </a:custGeom>
            <a:solidFill>
              <a:srgbClr val="EFF1E8"/>
            </a:solidFill>
          </p:spPr>
        </p:sp>
        <p:sp>
          <p:nvSpPr>
            <p:cNvPr name="TextBox 4" id="4"/>
            <p:cNvSpPr txBox="true"/>
            <p:nvPr/>
          </p:nvSpPr>
          <p:spPr>
            <a:xfrm>
              <a:off x="0" y="-38100"/>
              <a:ext cx="1307450" cy="107033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6661887" y="4261238"/>
            <a:ext cx="4964225" cy="3919267"/>
            <a:chOff x="0" y="0"/>
            <a:chExt cx="1307450" cy="1032235"/>
          </a:xfrm>
        </p:grpSpPr>
        <p:sp>
          <p:nvSpPr>
            <p:cNvPr name="Freeform 6" id="6"/>
            <p:cNvSpPr/>
            <p:nvPr/>
          </p:nvSpPr>
          <p:spPr>
            <a:xfrm flipH="false" flipV="false" rot="0">
              <a:off x="0" y="0"/>
              <a:ext cx="1307450" cy="1032235"/>
            </a:xfrm>
            <a:custGeom>
              <a:avLst/>
              <a:gdLst/>
              <a:ahLst/>
              <a:cxnLst/>
              <a:rect r="r" b="b" t="t" l="l"/>
              <a:pathLst>
                <a:path h="1032235" w="1307450">
                  <a:moveTo>
                    <a:pt x="79537" y="0"/>
                  </a:moveTo>
                  <a:lnTo>
                    <a:pt x="1227914" y="0"/>
                  </a:lnTo>
                  <a:cubicBezTo>
                    <a:pt x="1249008" y="0"/>
                    <a:pt x="1269238" y="8380"/>
                    <a:pt x="1284154" y="23296"/>
                  </a:cubicBezTo>
                  <a:cubicBezTo>
                    <a:pt x="1299071" y="38212"/>
                    <a:pt x="1307450" y="58442"/>
                    <a:pt x="1307450" y="79537"/>
                  </a:cubicBezTo>
                  <a:lnTo>
                    <a:pt x="1307450" y="952698"/>
                  </a:lnTo>
                  <a:cubicBezTo>
                    <a:pt x="1307450" y="973793"/>
                    <a:pt x="1299071" y="994023"/>
                    <a:pt x="1284154" y="1008939"/>
                  </a:cubicBezTo>
                  <a:cubicBezTo>
                    <a:pt x="1269238" y="1023855"/>
                    <a:pt x="1249008" y="1032235"/>
                    <a:pt x="1227914" y="1032235"/>
                  </a:cubicBezTo>
                  <a:lnTo>
                    <a:pt x="79537" y="1032235"/>
                  </a:lnTo>
                  <a:cubicBezTo>
                    <a:pt x="58442" y="1032235"/>
                    <a:pt x="38212" y="1023855"/>
                    <a:pt x="23296" y="1008939"/>
                  </a:cubicBezTo>
                  <a:cubicBezTo>
                    <a:pt x="8380" y="994023"/>
                    <a:pt x="0" y="973793"/>
                    <a:pt x="0" y="952698"/>
                  </a:cubicBezTo>
                  <a:lnTo>
                    <a:pt x="0" y="79537"/>
                  </a:lnTo>
                  <a:cubicBezTo>
                    <a:pt x="0" y="58442"/>
                    <a:pt x="8380" y="38212"/>
                    <a:pt x="23296" y="23296"/>
                  </a:cubicBezTo>
                  <a:cubicBezTo>
                    <a:pt x="38212" y="8380"/>
                    <a:pt x="58442" y="0"/>
                    <a:pt x="79537" y="0"/>
                  </a:cubicBezTo>
                  <a:close/>
                </a:path>
              </a:pathLst>
            </a:custGeom>
            <a:solidFill>
              <a:srgbClr val="EFF1E8"/>
            </a:solidFill>
          </p:spPr>
        </p:sp>
        <p:sp>
          <p:nvSpPr>
            <p:cNvPr name="TextBox 7" id="7"/>
            <p:cNvSpPr txBox="true"/>
            <p:nvPr/>
          </p:nvSpPr>
          <p:spPr>
            <a:xfrm>
              <a:off x="0" y="-38100"/>
              <a:ext cx="1307450" cy="107033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295075" y="4261238"/>
            <a:ext cx="4964225" cy="3919267"/>
            <a:chOff x="0" y="0"/>
            <a:chExt cx="1307450" cy="1032235"/>
          </a:xfrm>
        </p:grpSpPr>
        <p:sp>
          <p:nvSpPr>
            <p:cNvPr name="Freeform 9" id="9"/>
            <p:cNvSpPr/>
            <p:nvPr/>
          </p:nvSpPr>
          <p:spPr>
            <a:xfrm flipH="false" flipV="false" rot="0">
              <a:off x="0" y="0"/>
              <a:ext cx="1307450" cy="1032235"/>
            </a:xfrm>
            <a:custGeom>
              <a:avLst/>
              <a:gdLst/>
              <a:ahLst/>
              <a:cxnLst/>
              <a:rect r="r" b="b" t="t" l="l"/>
              <a:pathLst>
                <a:path h="1032235" w="1307450">
                  <a:moveTo>
                    <a:pt x="79537" y="0"/>
                  </a:moveTo>
                  <a:lnTo>
                    <a:pt x="1227914" y="0"/>
                  </a:lnTo>
                  <a:cubicBezTo>
                    <a:pt x="1249008" y="0"/>
                    <a:pt x="1269238" y="8380"/>
                    <a:pt x="1284154" y="23296"/>
                  </a:cubicBezTo>
                  <a:cubicBezTo>
                    <a:pt x="1299071" y="38212"/>
                    <a:pt x="1307450" y="58442"/>
                    <a:pt x="1307450" y="79537"/>
                  </a:cubicBezTo>
                  <a:lnTo>
                    <a:pt x="1307450" y="952698"/>
                  </a:lnTo>
                  <a:cubicBezTo>
                    <a:pt x="1307450" y="973793"/>
                    <a:pt x="1299071" y="994023"/>
                    <a:pt x="1284154" y="1008939"/>
                  </a:cubicBezTo>
                  <a:cubicBezTo>
                    <a:pt x="1269238" y="1023855"/>
                    <a:pt x="1249008" y="1032235"/>
                    <a:pt x="1227914" y="1032235"/>
                  </a:cubicBezTo>
                  <a:lnTo>
                    <a:pt x="79537" y="1032235"/>
                  </a:lnTo>
                  <a:cubicBezTo>
                    <a:pt x="58442" y="1032235"/>
                    <a:pt x="38212" y="1023855"/>
                    <a:pt x="23296" y="1008939"/>
                  </a:cubicBezTo>
                  <a:cubicBezTo>
                    <a:pt x="8380" y="994023"/>
                    <a:pt x="0" y="973793"/>
                    <a:pt x="0" y="952698"/>
                  </a:cubicBezTo>
                  <a:lnTo>
                    <a:pt x="0" y="79537"/>
                  </a:lnTo>
                  <a:cubicBezTo>
                    <a:pt x="0" y="58442"/>
                    <a:pt x="8380" y="38212"/>
                    <a:pt x="23296" y="23296"/>
                  </a:cubicBezTo>
                  <a:cubicBezTo>
                    <a:pt x="38212" y="8380"/>
                    <a:pt x="58442" y="0"/>
                    <a:pt x="79537" y="0"/>
                  </a:cubicBezTo>
                  <a:close/>
                </a:path>
              </a:pathLst>
            </a:custGeom>
            <a:solidFill>
              <a:srgbClr val="EFF1E8"/>
            </a:solidFill>
          </p:spPr>
        </p:sp>
        <p:sp>
          <p:nvSpPr>
            <p:cNvPr name="TextBox 10" id="10"/>
            <p:cNvSpPr txBox="true"/>
            <p:nvPr/>
          </p:nvSpPr>
          <p:spPr>
            <a:xfrm>
              <a:off x="0" y="-38100"/>
              <a:ext cx="1307450" cy="107033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10215" y="8847255"/>
            <a:ext cx="20321213" cy="701393"/>
            <a:chOff x="0" y="0"/>
            <a:chExt cx="5352089" cy="184729"/>
          </a:xfrm>
        </p:grpSpPr>
        <p:sp>
          <p:nvSpPr>
            <p:cNvPr name="Freeform 12" id="12"/>
            <p:cNvSpPr/>
            <p:nvPr/>
          </p:nvSpPr>
          <p:spPr>
            <a:xfrm flipH="false" flipV="false" rot="0">
              <a:off x="0" y="0"/>
              <a:ext cx="5352089" cy="184729"/>
            </a:xfrm>
            <a:custGeom>
              <a:avLst/>
              <a:gdLst/>
              <a:ahLst/>
              <a:cxnLst/>
              <a:rect r="r" b="b" t="t" l="l"/>
              <a:pathLst>
                <a:path h="184729" w="5352089">
                  <a:moveTo>
                    <a:pt x="0" y="0"/>
                  </a:moveTo>
                  <a:lnTo>
                    <a:pt x="5352089" y="0"/>
                  </a:lnTo>
                  <a:lnTo>
                    <a:pt x="5352089" y="184729"/>
                  </a:lnTo>
                  <a:lnTo>
                    <a:pt x="0" y="184729"/>
                  </a:lnTo>
                  <a:close/>
                </a:path>
              </a:pathLst>
            </a:custGeom>
            <a:solidFill>
              <a:srgbClr val="EFF1E8"/>
            </a:solidFill>
          </p:spPr>
        </p:sp>
        <p:sp>
          <p:nvSpPr>
            <p:cNvPr name="TextBox 13" id="13"/>
            <p:cNvSpPr txBox="true"/>
            <p:nvPr/>
          </p:nvSpPr>
          <p:spPr>
            <a:xfrm>
              <a:off x="0" y="-57150"/>
              <a:ext cx="5352089" cy="241879"/>
            </a:xfrm>
            <a:prstGeom prst="rect">
              <a:avLst/>
            </a:prstGeom>
          </p:spPr>
          <p:txBody>
            <a:bodyPr anchor="ctr" rtlCol="false" tIns="50800" lIns="50800" bIns="50800" rIns="50800"/>
            <a:lstStyle/>
            <a:p>
              <a:pPr algn="ctr">
                <a:lnSpc>
                  <a:spcPts val="2799"/>
                </a:lnSpc>
              </a:pPr>
            </a:p>
          </p:txBody>
        </p:sp>
      </p:grpSp>
      <p:sp>
        <p:nvSpPr>
          <p:cNvPr name="TextBox 14" id="14"/>
          <p:cNvSpPr txBox="true"/>
          <p:nvPr/>
        </p:nvSpPr>
        <p:spPr>
          <a:xfrm rot="0">
            <a:off x="2000003" y="1123950"/>
            <a:ext cx="14287995" cy="2473910"/>
          </a:xfrm>
          <a:prstGeom prst="rect">
            <a:avLst/>
          </a:prstGeom>
        </p:spPr>
        <p:txBody>
          <a:bodyPr anchor="t" rtlCol="false" tIns="0" lIns="0" bIns="0" rIns="0">
            <a:spAutoFit/>
          </a:bodyPr>
          <a:lstStyle/>
          <a:p>
            <a:pPr algn="ctr">
              <a:lnSpc>
                <a:spcPts val="9679"/>
              </a:lnSpc>
            </a:pPr>
            <a:r>
              <a:rPr lang="en-US" b="true" sz="8799">
                <a:solidFill>
                  <a:srgbClr val="EFF1E8"/>
                </a:solidFill>
                <a:latin typeface="Montserrat Bold"/>
                <a:ea typeface="Montserrat Bold"/>
                <a:cs typeface="Montserrat Bold"/>
                <a:sym typeface="Montserrat Bold"/>
              </a:rPr>
              <a:t>Qu</a:t>
            </a:r>
            <a:r>
              <a:rPr lang="en-US" b="true" sz="8799">
                <a:solidFill>
                  <a:srgbClr val="EFF1E8"/>
                </a:solidFill>
                <a:latin typeface="Montserrat Bold"/>
                <a:ea typeface="Montserrat Bold"/>
                <a:cs typeface="Montserrat Bold"/>
                <a:sym typeface="Montserrat Bold"/>
              </a:rPr>
              <a:t>antifiable Business Impact</a:t>
            </a:r>
          </a:p>
        </p:txBody>
      </p:sp>
      <p:sp>
        <p:nvSpPr>
          <p:cNvPr name="TextBox 15" id="15"/>
          <p:cNvSpPr txBox="true"/>
          <p:nvPr/>
        </p:nvSpPr>
        <p:spPr>
          <a:xfrm rot="0">
            <a:off x="1235898" y="4312297"/>
            <a:ext cx="4549829" cy="1500481"/>
          </a:xfrm>
          <a:prstGeom prst="rect">
            <a:avLst/>
          </a:prstGeom>
        </p:spPr>
        <p:txBody>
          <a:bodyPr anchor="t" rtlCol="false" tIns="0" lIns="0" bIns="0" rIns="0">
            <a:spAutoFit/>
          </a:bodyPr>
          <a:lstStyle/>
          <a:p>
            <a:pPr algn="ctr">
              <a:lnSpc>
                <a:spcPts val="12319"/>
              </a:lnSpc>
              <a:spcBef>
                <a:spcPct val="0"/>
              </a:spcBef>
            </a:pPr>
            <a:r>
              <a:rPr lang="en-US" b="true" sz="8799">
                <a:solidFill>
                  <a:srgbClr val="70A1BD"/>
                </a:solidFill>
                <a:latin typeface="Montserrat Bold"/>
                <a:ea typeface="Montserrat Bold"/>
                <a:cs typeface="Montserrat Bold"/>
                <a:sym typeface="Montserrat Bold"/>
              </a:rPr>
              <a:t>8–20%</a:t>
            </a:r>
          </a:p>
        </p:txBody>
      </p:sp>
      <p:sp>
        <p:nvSpPr>
          <p:cNvPr name="TextBox 16" id="16"/>
          <p:cNvSpPr txBox="true"/>
          <p:nvPr/>
        </p:nvSpPr>
        <p:spPr>
          <a:xfrm rot="0">
            <a:off x="1140859" y="5880382"/>
            <a:ext cx="4739907" cy="1987014"/>
          </a:xfrm>
          <a:prstGeom prst="rect">
            <a:avLst/>
          </a:prstGeom>
        </p:spPr>
        <p:txBody>
          <a:bodyPr anchor="t" rtlCol="false" tIns="0" lIns="0" bIns="0" rIns="0">
            <a:spAutoFit/>
          </a:bodyPr>
          <a:lstStyle/>
          <a:p>
            <a:pPr algn="ctr">
              <a:lnSpc>
                <a:spcPts val="7680"/>
              </a:lnSpc>
            </a:pPr>
            <a:r>
              <a:rPr lang="en-US" sz="6000">
                <a:solidFill>
                  <a:srgbClr val="70A1BD"/>
                </a:solidFill>
                <a:latin typeface="Poppins"/>
                <a:ea typeface="Poppins"/>
                <a:cs typeface="Poppins"/>
                <a:sym typeface="Poppins"/>
              </a:rPr>
              <a:t>Revenue Growth</a:t>
            </a:r>
          </a:p>
        </p:txBody>
      </p:sp>
      <p:sp>
        <p:nvSpPr>
          <p:cNvPr name="TextBox 17" id="17"/>
          <p:cNvSpPr txBox="true"/>
          <p:nvPr/>
        </p:nvSpPr>
        <p:spPr>
          <a:xfrm rot="0">
            <a:off x="6869085" y="4312297"/>
            <a:ext cx="4549829" cy="1500481"/>
          </a:xfrm>
          <a:prstGeom prst="rect">
            <a:avLst/>
          </a:prstGeom>
        </p:spPr>
        <p:txBody>
          <a:bodyPr anchor="t" rtlCol="false" tIns="0" lIns="0" bIns="0" rIns="0">
            <a:spAutoFit/>
          </a:bodyPr>
          <a:lstStyle/>
          <a:p>
            <a:pPr algn="ctr">
              <a:lnSpc>
                <a:spcPts val="12319"/>
              </a:lnSpc>
              <a:spcBef>
                <a:spcPct val="0"/>
              </a:spcBef>
            </a:pPr>
            <a:r>
              <a:rPr lang="en-US" b="true" sz="8799">
                <a:solidFill>
                  <a:srgbClr val="70A1BD"/>
                </a:solidFill>
                <a:latin typeface="Montserrat Bold"/>
                <a:ea typeface="Montserrat Bold"/>
                <a:cs typeface="Montserrat Bold"/>
                <a:sym typeface="Montserrat Bold"/>
              </a:rPr>
              <a:t>10</a:t>
            </a:r>
            <a:r>
              <a:rPr lang="en-US" b="true" sz="8799">
                <a:solidFill>
                  <a:srgbClr val="70A1BD"/>
                </a:solidFill>
                <a:latin typeface="Montserrat Bold"/>
                <a:ea typeface="Montserrat Bold"/>
                <a:cs typeface="Montserrat Bold"/>
                <a:sym typeface="Montserrat Bold"/>
              </a:rPr>
              <a:t>–25%</a:t>
            </a:r>
          </a:p>
        </p:txBody>
      </p:sp>
      <p:sp>
        <p:nvSpPr>
          <p:cNvPr name="TextBox 18" id="18"/>
          <p:cNvSpPr txBox="true"/>
          <p:nvPr/>
        </p:nvSpPr>
        <p:spPr>
          <a:xfrm rot="0">
            <a:off x="6774046" y="5880382"/>
            <a:ext cx="4739907" cy="1987014"/>
          </a:xfrm>
          <a:prstGeom prst="rect">
            <a:avLst/>
          </a:prstGeom>
        </p:spPr>
        <p:txBody>
          <a:bodyPr anchor="t" rtlCol="false" tIns="0" lIns="0" bIns="0" rIns="0">
            <a:spAutoFit/>
          </a:bodyPr>
          <a:lstStyle/>
          <a:p>
            <a:pPr algn="ctr">
              <a:lnSpc>
                <a:spcPts val="7680"/>
              </a:lnSpc>
            </a:pPr>
            <a:r>
              <a:rPr lang="en-US" sz="6000">
                <a:solidFill>
                  <a:srgbClr val="70A1BD"/>
                </a:solidFill>
                <a:latin typeface="Poppins"/>
                <a:ea typeface="Poppins"/>
                <a:cs typeface="Poppins"/>
                <a:sym typeface="Poppins"/>
              </a:rPr>
              <a:t>Cost </a:t>
            </a:r>
            <a:r>
              <a:rPr lang="en-US" sz="6000">
                <a:solidFill>
                  <a:srgbClr val="70A1BD"/>
                </a:solidFill>
                <a:latin typeface="Poppins"/>
                <a:ea typeface="Poppins"/>
                <a:cs typeface="Poppins"/>
                <a:sym typeface="Poppins"/>
              </a:rPr>
              <a:t>Reduction</a:t>
            </a:r>
          </a:p>
        </p:txBody>
      </p:sp>
      <p:sp>
        <p:nvSpPr>
          <p:cNvPr name="TextBox 19" id="19"/>
          <p:cNvSpPr txBox="true"/>
          <p:nvPr/>
        </p:nvSpPr>
        <p:spPr>
          <a:xfrm rot="0">
            <a:off x="12502273" y="4312297"/>
            <a:ext cx="4549829" cy="1500481"/>
          </a:xfrm>
          <a:prstGeom prst="rect">
            <a:avLst/>
          </a:prstGeom>
        </p:spPr>
        <p:txBody>
          <a:bodyPr anchor="t" rtlCol="false" tIns="0" lIns="0" bIns="0" rIns="0">
            <a:spAutoFit/>
          </a:bodyPr>
          <a:lstStyle/>
          <a:p>
            <a:pPr algn="ctr">
              <a:lnSpc>
                <a:spcPts val="12319"/>
              </a:lnSpc>
              <a:spcBef>
                <a:spcPct val="0"/>
              </a:spcBef>
            </a:pPr>
            <a:r>
              <a:rPr lang="en-US" b="true" sz="8799">
                <a:solidFill>
                  <a:srgbClr val="70A1BD"/>
                </a:solidFill>
                <a:latin typeface="Montserrat Bold"/>
                <a:ea typeface="Montserrat Bold"/>
                <a:cs typeface="Montserrat Bold"/>
                <a:sym typeface="Montserrat Bold"/>
              </a:rPr>
              <a:t>+1</a:t>
            </a:r>
            <a:r>
              <a:rPr lang="en-US" b="true" sz="8799">
                <a:solidFill>
                  <a:srgbClr val="70A1BD"/>
                </a:solidFill>
                <a:latin typeface="Montserrat Bold"/>
                <a:ea typeface="Montserrat Bold"/>
                <a:cs typeface="Montserrat Bold"/>
                <a:sym typeface="Montserrat Bold"/>
              </a:rPr>
              <a:t>8%</a:t>
            </a:r>
          </a:p>
        </p:txBody>
      </p:sp>
      <p:sp>
        <p:nvSpPr>
          <p:cNvPr name="TextBox 20" id="20"/>
          <p:cNvSpPr txBox="true"/>
          <p:nvPr/>
        </p:nvSpPr>
        <p:spPr>
          <a:xfrm rot="0">
            <a:off x="12407234" y="5880382"/>
            <a:ext cx="4739907" cy="1987014"/>
          </a:xfrm>
          <a:prstGeom prst="rect">
            <a:avLst/>
          </a:prstGeom>
        </p:spPr>
        <p:txBody>
          <a:bodyPr anchor="t" rtlCol="false" tIns="0" lIns="0" bIns="0" rIns="0">
            <a:spAutoFit/>
          </a:bodyPr>
          <a:lstStyle/>
          <a:p>
            <a:pPr algn="ctr">
              <a:lnSpc>
                <a:spcPts val="7680"/>
              </a:lnSpc>
            </a:pPr>
            <a:r>
              <a:rPr lang="en-US" sz="6000">
                <a:solidFill>
                  <a:srgbClr val="70A1BD"/>
                </a:solidFill>
                <a:latin typeface="Poppins"/>
                <a:ea typeface="Poppins"/>
                <a:cs typeface="Poppins"/>
                <a:sym typeface="Poppins"/>
              </a:rPr>
              <a:t>C</a:t>
            </a:r>
            <a:r>
              <a:rPr lang="en-US" sz="6000">
                <a:solidFill>
                  <a:srgbClr val="70A1BD"/>
                </a:solidFill>
                <a:latin typeface="Poppins"/>
                <a:ea typeface="Poppins"/>
                <a:cs typeface="Poppins"/>
                <a:sym typeface="Poppins"/>
              </a:rPr>
              <a:t>ustomer Acquisition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089711"/>
            <a:ext cx="1347041" cy="1369450"/>
          </a:xfrm>
          <a:custGeom>
            <a:avLst/>
            <a:gdLst/>
            <a:ahLst/>
            <a:cxnLst/>
            <a:rect r="r" b="b" t="t" l="l"/>
            <a:pathLst>
              <a:path h="1369450" w="1347041">
                <a:moveTo>
                  <a:pt x="0" y="0"/>
                </a:moveTo>
                <a:lnTo>
                  <a:pt x="1347041" y="0"/>
                </a:lnTo>
                <a:lnTo>
                  <a:pt x="1347041" y="1369451"/>
                </a:lnTo>
                <a:lnTo>
                  <a:pt x="0" y="13694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5262280"/>
            <a:ext cx="1347041" cy="1290710"/>
          </a:xfrm>
          <a:custGeom>
            <a:avLst/>
            <a:gdLst/>
            <a:ahLst/>
            <a:cxnLst/>
            <a:rect r="r" b="b" t="t" l="l"/>
            <a:pathLst>
              <a:path h="1290710" w="1347041">
                <a:moveTo>
                  <a:pt x="0" y="0"/>
                </a:moveTo>
                <a:lnTo>
                  <a:pt x="1347041" y="0"/>
                </a:lnTo>
                <a:lnTo>
                  <a:pt x="1347041" y="1290711"/>
                </a:lnTo>
                <a:lnTo>
                  <a:pt x="0" y="12907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7353091"/>
            <a:ext cx="1192667" cy="1369450"/>
          </a:xfrm>
          <a:custGeom>
            <a:avLst/>
            <a:gdLst/>
            <a:ahLst/>
            <a:cxnLst/>
            <a:rect r="r" b="b" t="t" l="l"/>
            <a:pathLst>
              <a:path h="1369450" w="1192667">
                <a:moveTo>
                  <a:pt x="0" y="0"/>
                </a:moveTo>
                <a:lnTo>
                  <a:pt x="1192667" y="0"/>
                </a:lnTo>
                <a:lnTo>
                  <a:pt x="1192667" y="1369450"/>
                </a:lnTo>
                <a:lnTo>
                  <a:pt x="0" y="13694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7059384" y="-675769"/>
            <a:ext cx="1773784" cy="11876099"/>
            <a:chOff x="0" y="0"/>
            <a:chExt cx="467170" cy="3127862"/>
          </a:xfrm>
        </p:grpSpPr>
        <p:sp>
          <p:nvSpPr>
            <p:cNvPr name="Freeform 6" id="6"/>
            <p:cNvSpPr/>
            <p:nvPr/>
          </p:nvSpPr>
          <p:spPr>
            <a:xfrm flipH="false" flipV="false" rot="0">
              <a:off x="0" y="0"/>
              <a:ext cx="467170" cy="3127862"/>
            </a:xfrm>
            <a:custGeom>
              <a:avLst/>
              <a:gdLst/>
              <a:ahLst/>
              <a:cxnLst/>
              <a:rect r="r" b="b" t="t" l="l"/>
              <a:pathLst>
                <a:path h="3127862" w="467170">
                  <a:moveTo>
                    <a:pt x="0" y="0"/>
                  </a:moveTo>
                  <a:lnTo>
                    <a:pt x="467170" y="0"/>
                  </a:lnTo>
                  <a:lnTo>
                    <a:pt x="467170" y="3127862"/>
                  </a:lnTo>
                  <a:lnTo>
                    <a:pt x="0" y="3127862"/>
                  </a:lnTo>
                  <a:close/>
                </a:path>
              </a:pathLst>
            </a:custGeom>
            <a:solidFill>
              <a:srgbClr val="343734"/>
            </a:solidFill>
          </p:spPr>
        </p:sp>
        <p:sp>
          <p:nvSpPr>
            <p:cNvPr name="TextBox 7" id="7"/>
            <p:cNvSpPr txBox="true"/>
            <p:nvPr/>
          </p:nvSpPr>
          <p:spPr>
            <a:xfrm>
              <a:off x="0" y="-57150"/>
              <a:ext cx="467170" cy="3185012"/>
            </a:xfrm>
            <a:prstGeom prst="rect">
              <a:avLst/>
            </a:prstGeom>
          </p:spPr>
          <p:txBody>
            <a:bodyPr anchor="ctr" rtlCol="false" tIns="50800" lIns="50800" bIns="50800" rIns="50800"/>
            <a:lstStyle/>
            <a:p>
              <a:pPr algn="ctr">
                <a:lnSpc>
                  <a:spcPts val="2799"/>
                </a:lnSpc>
              </a:pPr>
            </a:p>
          </p:txBody>
        </p:sp>
      </p:grpSp>
      <p:sp>
        <p:nvSpPr>
          <p:cNvPr name="TextBox 8" id="8"/>
          <p:cNvSpPr txBox="true"/>
          <p:nvPr/>
        </p:nvSpPr>
        <p:spPr>
          <a:xfrm rot="0">
            <a:off x="1028700" y="1123950"/>
            <a:ext cx="13854017" cy="1245210"/>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R</a:t>
            </a:r>
            <a:r>
              <a:rPr lang="en-US" b="true" sz="8799">
                <a:solidFill>
                  <a:srgbClr val="343734"/>
                </a:solidFill>
                <a:latin typeface="Montserrat Bold"/>
                <a:ea typeface="Montserrat Bold"/>
                <a:cs typeface="Montserrat Bold"/>
                <a:sym typeface="Montserrat Bold"/>
              </a:rPr>
              <a:t>eal Business Case</a:t>
            </a:r>
          </a:p>
        </p:txBody>
      </p:sp>
      <p:sp>
        <p:nvSpPr>
          <p:cNvPr name="TextBox 9" id="9"/>
          <p:cNvSpPr txBox="true"/>
          <p:nvPr/>
        </p:nvSpPr>
        <p:spPr>
          <a:xfrm rot="0">
            <a:off x="2611627" y="3448376"/>
            <a:ext cx="8184679" cy="566395"/>
          </a:xfrm>
          <a:prstGeom prst="rect">
            <a:avLst/>
          </a:prstGeom>
        </p:spPr>
        <p:txBody>
          <a:bodyPr anchor="t" rtlCol="false" tIns="0" lIns="0" bIns="0" rIns="0">
            <a:spAutoFit/>
          </a:bodyPr>
          <a:lstStyle/>
          <a:p>
            <a:pPr algn="l">
              <a:lnSpc>
                <a:spcPts val="4480"/>
              </a:lnSpc>
              <a:spcBef>
                <a:spcPct val="0"/>
              </a:spcBef>
            </a:pPr>
            <a:r>
              <a:rPr lang="en-US" sz="3200">
                <a:solidFill>
                  <a:srgbClr val="343734"/>
                </a:solidFill>
                <a:latin typeface="Poppins"/>
                <a:ea typeface="Poppins"/>
                <a:cs typeface="Poppins"/>
                <a:sym typeface="Poppins"/>
              </a:rPr>
              <a:t>Supply chain costs increased by 14%</a:t>
            </a:r>
          </a:p>
        </p:txBody>
      </p:sp>
      <p:sp>
        <p:nvSpPr>
          <p:cNvPr name="TextBox 10" id="10"/>
          <p:cNvSpPr txBox="true"/>
          <p:nvPr/>
        </p:nvSpPr>
        <p:spPr>
          <a:xfrm rot="0">
            <a:off x="2611627" y="5502165"/>
            <a:ext cx="11153876" cy="566395"/>
          </a:xfrm>
          <a:prstGeom prst="rect">
            <a:avLst/>
          </a:prstGeom>
        </p:spPr>
        <p:txBody>
          <a:bodyPr anchor="t" rtlCol="false" tIns="0" lIns="0" bIns="0" rIns="0">
            <a:spAutoFit/>
          </a:bodyPr>
          <a:lstStyle/>
          <a:p>
            <a:pPr algn="l">
              <a:lnSpc>
                <a:spcPts val="4480"/>
              </a:lnSpc>
              <a:spcBef>
                <a:spcPct val="0"/>
              </a:spcBef>
            </a:pPr>
            <a:r>
              <a:rPr lang="en-US" sz="3200">
                <a:solidFill>
                  <a:srgbClr val="343734"/>
                </a:solidFill>
                <a:latin typeface="Poppins"/>
                <a:ea typeface="Poppins"/>
                <a:cs typeface="Poppins"/>
                <a:sym typeface="Poppins"/>
              </a:rPr>
              <a:t>Inventor</a:t>
            </a:r>
            <a:r>
              <a:rPr lang="en-US" sz="3200">
                <a:solidFill>
                  <a:srgbClr val="343734"/>
                </a:solidFill>
                <a:latin typeface="Poppins"/>
                <a:ea typeface="Poppins"/>
                <a:cs typeface="Poppins"/>
                <a:sym typeface="Poppins"/>
              </a:rPr>
              <a:t>y inefficiencies caused 9% stock wastage</a:t>
            </a:r>
          </a:p>
        </p:txBody>
      </p:sp>
      <p:sp>
        <p:nvSpPr>
          <p:cNvPr name="TextBox 11" id="11"/>
          <p:cNvSpPr txBox="true"/>
          <p:nvPr/>
        </p:nvSpPr>
        <p:spPr>
          <a:xfrm rot="0">
            <a:off x="2611627" y="7554460"/>
            <a:ext cx="11153876" cy="566395"/>
          </a:xfrm>
          <a:prstGeom prst="rect">
            <a:avLst/>
          </a:prstGeom>
        </p:spPr>
        <p:txBody>
          <a:bodyPr anchor="t" rtlCol="false" tIns="0" lIns="0" bIns="0" rIns="0">
            <a:spAutoFit/>
          </a:bodyPr>
          <a:lstStyle/>
          <a:p>
            <a:pPr algn="l">
              <a:lnSpc>
                <a:spcPts val="4480"/>
              </a:lnSpc>
              <a:spcBef>
                <a:spcPct val="0"/>
              </a:spcBef>
            </a:pPr>
            <a:r>
              <a:rPr lang="en-US" sz="3200">
                <a:solidFill>
                  <a:srgbClr val="343734"/>
                </a:solidFill>
                <a:latin typeface="Poppins"/>
                <a:ea typeface="Poppins"/>
                <a:cs typeface="Poppins"/>
                <a:sym typeface="Poppins"/>
              </a:rPr>
              <a:t>De</a:t>
            </a:r>
            <a:r>
              <a:rPr lang="en-US" sz="3200">
                <a:solidFill>
                  <a:srgbClr val="343734"/>
                </a:solidFill>
                <a:latin typeface="Poppins"/>
                <a:ea typeface="Poppins"/>
                <a:cs typeface="Poppins"/>
                <a:sym typeface="Poppins"/>
              </a:rPr>
              <a:t>livery delays reduced customer satisfaction by 11%</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873092"/>
            <a:ext cx="748345" cy="748345"/>
          </a:xfrm>
          <a:custGeom>
            <a:avLst/>
            <a:gdLst/>
            <a:ahLst/>
            <a:cxnLst/>
            <a:rect r="r" b="b" t="t" l="l"/>
            <a:pathLst>
              <a:path h="748345" w="748345">
                <a:moveTo>
                  <a:pt x="0" y="0"/>
                </a:moveTo>
                <a:lnTo>
                  <a:pt x="748345" y="0"/>
                </a:lnTo>
                <a:lnTo>
                  <a:pt x="748345" y="748345"/>
                </a:lnTo>
                <a:lnTo>
                  <a:pt x="0" y="748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6513591"/>
            <a:ext cx="744263" cy="748345"/>
          </a:xfrm>
          <a:custGeom>
            <a:avLst/>
            <a:gdLst/>
            <a:ahLst/>
            <a:cxnLst/>
            <a:rect r="r" b="b" t="t" l="l"/>
            <a:pathLst>
              <a:path h="748345" w="744263">
                <a:moveTo>
                  <a:pt x="0" y="0"/>
                </a:moveTo>
                <a:lnTo>
                  <a:pt x="744263" y="0"/>
                </a:lnTo>
                <a:lnTo>
                  <a:pt x="744263" y="748345"/>
                </a:lnTo>
                <a:lnTo>
                  <a:pt x="0" y="7483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70829" y="8229978"/>
            <a:ext cx="660005" cy="748345"/>
          </a:xfrm>
          <a:custGeom>
            <a:avLst/>
            <a:gdLst/>
            <a:ahLst/>
            <a:cxnLst/>
            <a:rect r="r" b="b" t="t" l="l"/>
            <a:pathLst>
              <a:path h="748345" w="660005">
                <a:moveTo>
                  <a:pt x="0" y="0"/>
                </a:moveTo>
                <a:lnTo>
                  <a:pt x="660005" y="0"/>
                </a:lnTo>
                <a:lnTo>
                  <a:pt x="660005" y="748345"/>
                </a:lnTo>
                <a:lnTo>
                  <a:pt x="0" y="7483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921327" y="4945734"/>
            <a:ext cx="834868" cy="748345"/>
          </a:xfrm>
          <a:custGeom>
            <a:avLst/>
            <a:gdLst/>
            <a:ahLst/>
            <a:cxnLst/>
            <a:rect r="r" b="b" t="t" l="l"/>
            <a:pathLst>
              <a:path h="748345" w="834868">
                <a:moveTo>
                  <a:pt x="0" y="0"/>
                </a:moveTo>
                <a:lnTo>
                  <a:pt x="834868" y="0"/>
                </a:lnTo>
                <a:lnTo>
                  <a:pt x="834868" y="748346"/>
                </a:lnTo>
                <a:lnTo>
                  <a:pt x="0" y="7483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8962536" y="6589479"/>
            <a:ext cx="752450" cy="748345"/>
          </a:xfrm>
          <a:custGeom>
            <a:avLst/>
            <a:gdLst/>
            <a:ahLst/>
            <a:cxnLst/>
            <a:rect r="r" b="b" t="t" l="l"/>
            <a:pathLst>
              <a:path h="748345" w="752450">
                <a:moveTo>
                  <a:pt x="0" y="0"/>
                </a:moveTo>
                <a:lnTo>
                  <a:pt x="752450" y="0"/>
                </a:lnTo>
                <a:lnTo>
                  <a:pt x="752450" y="748346"/>
                </a:lnTo>
                <a:lnTo>
                  <a:pt x="0" y="74834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6113698" y="1028700"/>
            <a:ext cx="1145602" cy="1145602"/>
          </a:xfrm>
          <a:custGeom>
            <a:avLst/>
            <a:gdLst/>
            <a:ahLst/>
            <a:cxnLst/>
            <a:rect r="r" b="b" t="t" l="l"/>
            <a:pathLst>
              <a:path h="1145602" w="1145602">
                <a:moveTo>
                  <a:pt x="1145602" y="1145602"/>
                </a:moveTo>
                <a:lnTo>
                  <a:pt x="0" y="1145602"/>
                </a:lnTo>
                <a:lnTo>
                  <a:pt x="0" y="0"/>
                </a:lnTo>
                <a:lnTo>
                  <a:pt x="1145602" y="0"/>
                </a:lnTo>
                <a:lnTo>
                  <a:pt x="1145602" y="1145602"/>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1028700" y="1123950"/>
            <a:ext cx="14608693" cy="2473910"/>
          </a:xfrm>
          <a:prstGeom prst="rect">
            <a:avLst/>
          </a:prstGeom>
        </p:spPr>
        <p:txBody>
          <a:bodyPr anchor="t" rtlCol="false" tIns="0" lIns="0" bIns="0" rIns="0">
            <a:spAutoFit/>
          </a:bodyPr>
          <a:lstStyle/>
          <a:p>
            <a:pPr algn="l">
              <a:lnSpc>
                <a:spcPts val="9679"/>
              </a:lnSpc>
            </a:pPr>
            <a:r>
              <a:rPr lang="en-US" sz="8799" b="true">
                <a:solidFill>
                  <a:srgbClr val="EFF1E8"/>
                </a:solidFill>
                <a:latin typeface="Montserrat Bold"/>
                <a:ea typeface="Montserrat Bold"/>
                <a:cs typeface="Montserrat Bold"/>
                <a:sym typeface="Montserrat Bold"/>
              </a:rPr>
              <a:t>Cor</a:t>
            </a:r>
            <a:r>
              <a:rPr lang="en-US" b="true" sz="8799">
                <a:solidFill>
                  <a:srgbClr val="EFF1E8"/>
                </a:solidFill>
                <a:latin typeface="Montserrat Bold"/>
                <a:ea typeface="Montserrat Bold"/>
                <a:cs typeface="Montserrat Bold"/>
                <a:sym typeface="Montserrat Bold"/>
              </a:rPr>
              <a:t>e</a:t>
            </a:r>
            <a:r>
              <a:rPr lang="en-US" b="true" sz="8799">
                <a:solidFill>
                  <a:srgbClr val="EFF1E8"/>
                </a:solidFill>
                <a:latin typeface="Montserrat Bold"/>
                <a:ea typeface="Montserrat Bold"/>
                <a:cs typeface="Montserrat Bold"/>
                <a:sym typeface="Montserrat Bold"/>
              </a:rPr>
              <a:t> Professional Competencies</a:t>
            </a:r>
          </a:p>
        </p:txBody>
      </p:sp>
      <p:sp>
        <p:nvSpPr>
          <p:cNvPr name="TextBox 9" id="9"/>
          <p:cNvSpPr txBox="true"/>
          <p:nvPr/>
        </p:nvSpPr>
        <p:spPr>
          <a:xfrm rot="0">
            <a:off x="1028700" y="3983189"/>
            <a:ext cx="12372743" cy="358825"/>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A retail company experienced stagnant profit margins despite steady sales volume</a:t>
            </a:r>
          </a:p>
        </p:txBody>
      </p:sp>
      <p:sp>
        <p:nvSpPr>
          <p:cNvPr name="TextBox 10" id="10"/>
          <p:cNvSpPr txBox="true"/>
          <p:nvPr/>
        </p:nvSpPr>
        <p:spPr>
          <a:xfrm rot="0">
            <a:off x="2025596" y="4815942"/>
            <a:ext cx="2989961" cy="358825"/>
          </a:xfrm>
          <a:prstGeom prst="rect">
            <a:avLst/>
          </a:prstGeom>
        </p:spPr>
        <p:txBody>
          <a:bodyPr anchor="t" rtlCol="false" tIns="0" lIns="0" bIns="0" rIns="0">
            <a:spAutoFit/>
          </a:bodyPr>
          <a:lstStyle/>
          <a:p>
            <a:pPr algn="l">
              <a:lnSpc>
                <a:spcPts val="2799"/>
              </a:lnSpc>
              <a:spcBef>
                <a:spcPct val="0"/>
              </a:spcBef>
            </a:pPr>
            <a:r>
              <a:rPr lang="en-US" b="true" sz="1999">
                <a:solidFill>
                  <a:srgbClr val="EFF1E8"/>
                </a:solidFill>
                <a:latin typeface="Poppins Bold"/>
                <a:ea typeface="Poppins Bold"/>
                <a:cs typeface="Poppins Bold"/>
                <a:sym typeface="Poppins Bold"/>
              </a:rPr>
              <a:t>Analytical Thinking</a:t>
            </a:r>
          </a:p>
        </p:txBody>
      </p:sp>
      <p:sp>
        <p:nvSpPr>
          <p:cNvPr name="TextBox 11" id="11"/>
          <p:cNvSpPr txBox="true"/>
          <p:nvPr/>
        </p:nvSpPr>
        <p:spPr>
          <a:xfrm rot="0">
            <a:off x="2025596" y="5262612"/>
            <a:ext cx="5189476" cy="711299"/>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Ability to interpret large datasets accurately</a:t>
            </a:r>
          </a:p>
        </p:txBody>
      </p:sp>
      <p:sp>
        <p:nvSpPr>
          <p:cNvPr name="TextBox 12" id="12"/>
          <p:cNvSpPr txBox="true"/>
          <p:nvPr/>
        </p:nvSpPr>
        <p:spPr>
          <a:xfrm rot="0">
            <a:off x="2020613" y="6456585"/>
            <a:ext cx="2989961" cy="358825"/>
          </a:xfrm>
          <a:prstGeom prst="rect">
            <a:avLst/>
          </a:prstGeom>
        </p:spPr>
        <p:txBody>
          <a:bodyPr anchor="t" rtlCol="false" tIns="0" lIns="0" bIns="0" rIns="0">
            <a:spAutoFit/>
          </a:bodyPr>
          <a:lstStyle/>
          <a:p>
            <a:pPr algn="l">
              <a:lnSpc>
                <a:spcPts val="2799"/>
              </a:lnSpc>
              <a:spcBef>
                <a:spcPct val="0"/>
              </a:spcBef>
            </a:pPr>
            <a:r>
              <a:rPr lang="en-US" b="true" sz="1999">
                <a:solidFill>
                  <a:srgbClr val="EFF1E8"/>
                </a:solidFill>
                <a:latin typeface="Poppins Bold"/>
                <a:ea typeface="Poppins Bold"/>
                <a:cs typeface="Poppins Bold"/>
                <a:sym typeface="Poppins Bold"/>
              </a:rPr>
              <a:t>St</a:t>
            </a:r>
            <a:r>
              <a:rPr lang="en-US" b="true" sz="1999">
                <a:solidFill>
                  <a:srgbClr val="EFF1E8"/>
                </a:solidFill>
                <a:latin typeface="Poppins Bold"/>
                <a:ea typeface="Poppins Bold"/>
                <a:cs typeface="Poppins Bold"/>
                <a:sym typeface="Poppins Bold"/>
              </a:rPr>
              <a:t>atistical Reasoning</a:t>
            </a:r>
          </a:p>
        </p:txBody>
      </p:sp>
      <p:sp>
        <p:nvSpPr>
          <p:cNvPr name="TextBox 13" id="13"/>
          <p:cNvSpPr txBox="true"/>
          <p:nvPr/>
        </p:nvSpPr>
        <p:spPr>
          <a:xfrm rot="0">
            <a:off x="2020613" y="6903256"/>
            <a:ext cx="6946016" cy="711299"/>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Understanding proba</a:t>
            </a:r>
            <a:r>
              <a:rPr lang="en-US" sz="1999">
                <a:solidFill>
                  <a:srgbClr val="EFF1E8"/>
                </a:solidFill>
                <a:latin typeface="Poppins"/>
                <a:ea typeface="Poppins"/>
                <a:cs typeface="Poppins"/>
                <a:sym typeface="Poppins"/>
              </a:rPr>
              <a:t>bility, variance, and trend modeling</a:t>
            </a:r>
          </a:p>
        </p:txBody>
      </p:sp>
      <p:sp>
        <p:nvSpPr>
          <p:cNvPr name="TextBox 14" id="14"/>
          <p:cNvSpPr txBox="true"/>
          <p:nvPr/>
        </p:nvSpPr>
        <p:spPr>
          <a:xfrm rot="0">
            <a:off x="2020613" y="8100330"/>
            <a:ext cx="2989961" cy="358825"/>
          </a:xfrm>
          <a:prstGeom prst="rect">
            <a:avLst/>
          </a:prstGeom>
        </p:spPr>
        <p:txBody>
          <a:bodyPr anchor="t" rtlCol="false" tIns="0" lIns="0" bIns="0" rIns="0">
            <a:spAutoFit/>
          </a:bodyPr>
          <a:lstStyle/>
          <a:p>
            <a:pPr algn="l">
              <a:lnSpc>
                <a:spcPts val="2799"/>
              </a:lnSpc>
              <a:spcBef>
                <a:spcPct val="0"/>
              </a:spcBef>
            </a:pPr>
            <a:r>
              <a:rPr lang="en-US" b="true" sz="1999">
                <a:solidFill>
                  <a:srgbClr val="EFF1E8"/>
                </a:solidFill>
                <a:latin typeface="Poppins Bold"/>
                <a:ea typeface="Poppins Bold"/>
                <a:cs typeface="Poppins Bold"/>
                <a:sym typeface="Poppins Bold"/>
              </a:rPr>
              <a:t>Bus</a:t>
            </a:r>
            <a:r>
              <a:rPr lang="en-US" b="true" sz="1999">
                <a:solidFill>
                  <a:srgbClr val="EFF1E8"/>
                </a:solidFill>
                <a:latin typeface="Poppins Bold"/>
                <a:ea typeface="Poppins Bold"/>
                <a:cs typeface="Poppins Bold"/>
                <a:sym typeface="Poppins Bold"/>
              </a:rPr>
              <a:t>iness Awareness</a:t>
            </a:r>
          </a:p>
        </p:txBody>
      </p:sp>
      <p:sp>
        <p:nvSpPr>
          <p:cNvPr name="TextBox 15" id="15"/>
          <p:cNvSpPr txBox="true"/>
          <p:nvPr/>
        </p:nvSpPr>
        <p:spPr>
          <a:xfrm rot="0">
            <a:off x="2020613" y="8547001"/>
            <a:ext cx="6946016" cy="711299"/>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Connecting </a:t>
            </a:r>
            <a:r>
              <a:rPr lang="en-US" sz="1999">
                <a:solidFill>
                  <a:srgbClr val="EFF1E8"/>
                </a:solidFill>
                <a:latin typeface="Poppins"/>
                <a:ea typeface="Poppins"/>
                <a:cs typeface="Poppins"/>
                <a:sym typeface="Poppins"/>
              </a:rPr>
              <a:t>insights to financial and operational impact</a:t>
            </a:r>
          </a:p>
        </p:txBody>
      </p:sp>
      <p:sp>
        <p:nvSpPr>
          <p:cNvPr name="TextBox 16" id="16"/>
          <p:cNvSpPr txBox="true"/>
          <p:nvPr/>
        </p:nvSpPr>
        <p:spPr>
          <a:xfrm rot="0">
            <a:off x="9958543" y="4816087"/>
            <a:ext cx="3473008" cy="358825"/>
          </a:xfrm>
          <a:prstGeom prst="rect">
            <a:avLst/>
          </a:prstGeom>
        </p:spPr>
        <p:txBody>
          <a:bodyPr anchor="t" rtlCol="false" tIns="0" lIns="0" bIns="0" rIns="0">
            <a:spAutoFit/>
          </a:bodyPr>
          <a:lstStyle/>
          <a:p>
            <a:pPr algn="l">
              <a:lnSpc>
                <a:spcPts val="2799"/>
              </a:lnSpc>
              <a:spcBef>
                <a:spcPct val="0"/>
              </a:spcBef>
            </a:pPr>
            <a:r>
              <a:rPr lang="en-US" b="true" sz="1999">
                <a:solidFill>
                  <a:srgbClr val="EFF1E8"/>
                </a:solidFill>
                <a:latin typeface="Poppins Bold"/>
                <a:ea typeface="Poppins Bold"/>
                <a:cs typeface="Poppins Bold"/>
                <a:sym typeface="Poppins Bold"/>
              </a:rPr>
              <a:t>Commun</a:t>
            </a:r>
            <a:r>
              <a:rPr lang="en-US" b="true" sz="1999">
                <a:solidFill>
                  <a:srgbClr val="EFF1E8"/>
                </a:solidFill>
                <a:latin typeface="Poppins Bold"/>
                <a:ea typeface="Poppins Bold"/>
                <a:cs typeface="Poppins Bold"/>
                <a:sym typeface="Poppins Bold"/>
              </a:rPr>
              <a:t>ication Clarity</a:t>
            </a:r>
          </a:p>
        </p:txBody>
      </p:sp>
      <p:sp>
        <p:nvSpPr>
          <p:cNvPr name="TextBox 17" id="17"/>
          <p:cNvSpPr txBox="true"/>
          <p:nvPr/>
        </p:nvSpPr>
        <p:spPr>
          <a:xfrm rot="0">
            <a:off x="9958543" y="5262757"/>
            <a:ext cx="6946016" cy="711299"/>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Presenting findings conc</a:t>
            </a:r>
            <a:r>
              <a:rPr lang="en-US" sz="1999">
                <a:solidFill>
                  <a:srgbClr val="EFF1E8"/>
                </a:solidFill>
                <a:latin typeface="Poppins"/>
                <a:ea typeface="Poppins"/>
                <a:cs typeface="Poppins"/>
                <a:sym typeface="Poppins"/>
              </a:rPr>
              <a:t>isely to executive stakeholders</a:t>
            </a:r>
          </a:p>
        </p:txBody>
      </p:sp>
      <p:sp>
        <p:nvSpPr>
          <p:cNvPr name="TextBox 18" id="18"/>
          <p:cNvSpPr txBox="true"/>
          <p:nvPr/>
        </p:nvSpPr>
        <p:spPr>
          <a:xfrm rot="0">
            <a:off x="9958543" y="6459831"/>
            <a:ext cx="2989961" cy="358825"/>
          </a:xfrm>
          <a:prstGeom prst="rect">
            <a:avLst/>
          </a:prstGeom>
        </p:spPr>
        <p:txBody>
          <a:bodyPr anchor="t" rtlCol="false" tIns="0" lIns="0" bIns="0" rIns="0">
            <a:spAutoFit/>
          </a:bodyPr>
          <a:lstStyle/>
          <a:p>
            <a:pPr algn="l">
              <a:lnSpc>
                <a:spcPts val="2799"/>
              </a:lnSpc>
              <a:spcBef>
                <a:spcPct val="0"/>
              </a:spcBef>
            </a:pPr>
            <a:r>
              <a:rPr lang="en-US" b="true" sz="1999">
                <a:solidFill>
                  <a:srgbClr val="EFF1E8"/>
                </a:solidFill>
                <a:latin typeface="Poppins Bold"/>
                <a:ea typeface="Poppins Bold"/>
                <a:cs typeface="Poppins Bold"/>
                <a:sym typeface="Poppins Bold"/>
              </a:rPr>
              <a:t>Bus</a:t>
            </a:r>
            <a:r>
              <a:rPr lang="en-US" b="true" sz="1999">
                <a:solidFill>
                  <a:srgbClr val="EFF1E8"/>
                </a:solidFill>
                <a:latin typeface="Poppins Bold"/>
                <a:ea typeface="Poppins Bold"/>
                <a:cs typeface="Poppins Bold"/>
                <a:sym typeface="Poppins Bold"/>
              </a:rPr>
              <a:t>iness Awareness</a:t>
            </a:r>
          </a:p>
        </p:txBody>
      </p:sp>
      <p:sp>
        <p:nvSpPr>
          <p:cNvPr name="TextBox 19" id="19"/>
          <p:cNvSpPr txBox="true"/>
          <p:nvPr/>
        </p:nvSpPr>
        <p:spPr>
          <a:xfrm rot="0">
            <a:off x="9958543" y="6906502"/>
            <a:ext cx="6946016" cy="711299"/>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Understanding proba</a:t>
            </a:r>
            <a:r>
              <a:rPr lang="en-US" sz="1999">
                <a:solidFill>
                  <a:srgbClr val="EFF1E8"/>
                </a:solidFill>
                <a:latin typeface="Poppins"/>
                <a:ea typeface="Poppins"/>
                <a:cs typeface="Poppins"/>
                <a:sym typeface="Poppins"/>
              </a:rPr>
              <a:t>bility, variance, and trend modeling</a:t>
            </a:r>
          </a:p>
        </p:txBody>
      </p:sp>
      <p:sp>
        <p:nvSpPr>
          <p:cNvPr name="Freeform 20" id="20"/>
          <p:cNvSpPr/>
          <p:nvPr/>
        </p:nvSpPr>
        <p:spPr>
          <a:xfrm flipH="true" flipV="false" rot="0">
            <a:off x="16113698" y="8112698"/>
            <a:ext cx="1145602" cy="1145602"/>
          </a:xfrm>
          <a:custGeom>
            <a:avLst/>
            <a:gdLst/>
            <a:ahLst/>
            <a:cxnLst/>
            <a:rect r="r" b="b" t="t" l="l"/>
            <a:pathLst>
              <a:path h="1145602" w="1145602">
                <a:moveTo>
                  <a:pt x="1145602" y="0"/>
                </a:moveTo>
                <a:lnTo>
                  <a:pt x="0" y="0"/>
                </a:lnTo>
                <a:lnTo>
                  <a:pt x="0" y="1145602"/>
                </a:lnTo>
                <a:lnTo>
                  <a:pt x="1145602" y="1145602"/>
                </a:lnTo>
                <a:lnTo>
                  <a:pt x="1145602"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1028700" y="4272414"/>
            <a:ext cx="3703964" cy="4433883"/>
            <a:chOff x="0" y="0"/>
            <a:chExt cx="812800" cy="972974"/>
          </a:xfrm>
        </p:grpSpPr>
        <p:sp>
          <p:nvSpPr>
            <p:cNvPr name="Freeform 3" id="3"/>
            <p:cNvSpPr/>
            <p:nvPr/>
          </p:nvSpPr>
          <p:spPr>
            <a:xfrm flipH="false" flipV="false" rot="0">
              <a:off x="0" y="0"/>
              <a:ext cx="812800" cy="972974"/>
            </a:xfrm>
            <a:custGeom>
              <a:avLst/>
              <a:gdLst/>
              <a:ahLst/>
              <a:cxnLst/>
              <a:rect r="r" b="b" t="t" l="l"/>
              <a:pathLst>
                <a:path h="972974" w="812800">
                  <a:moveTo>
                    <a:pt x="106599" y="0"/>
                  </a:moveTo>
                  <a:lnTo>
                    <a:pt x="706201" y="0"/>
                  </a:lnTo>
                  <a:cubicBezTo>
                    <a:pt x="765074" y="0"/>
                    <a:pt x="812800" y="47726"/>
                    <a:pt x="812800" y="106599"/>
                  </a:cubicBezTo>
                  <a:lnTo>
                    <a:pt x="812800" y="866375"/>
                  </a:lnTo>
                  <a:cubicBezTo>
                    <a:pt x="812800" y="925248"/>
                    <a:pt x="765074" y="972974"/>
                    <a:pt x="706201" y="972974"/>
                  </a:cubicBezTo>
                  <a:lnTo>
                    <a:pt x="106599" y="972974"/>
                  </a:lnTo>
                  <a:cubicBezTo>
                    <a:pt x="78327" y="972974"/>
                    <a:pt x="51213" y="961743"/>
                    <a:pt x="31222" y="941752"/>
                  </a:cubicBezTo>
                  <a:cubicBezTo>
                    <a:pt x="11231" y="921761"/>
                    <a:pt x="0" y="894647"/>
                    <a:pt x="0" y="866375"/>
                  </a:cubicBezTo>
                  <a:lnTo>
                    <a:pt x="0" y="106599"/>
                  </a:lnTo>
                  <a:cubicBezTo>
                    <a:pt x="0" y="47726"/>
                    <a:pt x="47726" y="0"/>
                    <a:pt x="106599" y="0"/>
                  </a:cubicBezTo>
                  <a:close/>
                </a:path>
              </a:pathLst>
            </a:custGeom>
            <a:ln w="38100" cap="rnd">
              <a:solidFill>
                <a:srgbClr val="343734"/>
              </a:solidFill>
              <a:prstDash val="solid"/>
              <a:round/>
            </a:ln>
          </p:spPr>
        </p:sp>
        <p:sp>
          <p:nvSpPr>
            <p:cNvPr name="TextBox 4" id="4"/>
            <p:cNvSpPr txBox="true"/>
            <p:nvPr/>
          </p:nvSpPr>
          <p:spPr>
            <a:xfrm>
              <a:off x="0" y="-57150"/>
              <a:ext cx="812800" cy="1030124"/>
            </a:xfrm>
            <a:prstGeom prst="rect">
              <a:avLst/>
            </a:prstGeom>
          </p:spPr>
          <p:txBody>
            <a:bodyPr anchor="ctr" rtlCol="false" tIns="50800" lIns="50800" bIns="50800" rIns="50800"/>
            <a:lstStyle/>
            <a:p>
              <a:pPr algn="ctr">
                <a:lnSpc>
                  <a:spcPts val="2799"/>
                </a:lnSpc>
              </a:pPr>
            </a:p>
          </p:txBody>
        </p:sp>
      </p:grpSp>
      <p:sp>
        <p:nvSpPr>
          <p:cNvPr name="Freeform 5" id="5"/>
          <p:cNvSpPr/>
          <p:nvPr/>
        </p:nvSpPr>
        <p:spPr>
          <a:xfrm flipH="false" flipV="false" rot="0">
            <a:off x="1951121" y="4396573"/>
            <a:ext cx="1768166" cy="1086618"/>
          </a:xfrm>
          <a:custGeom>
            <a:avLst/>
            <a:gdLst/>
            <a:ahLst/>
            <a:cxnLst/>
            <a:rect r="r" b="b" t="t" l="l"/>
            <a:pathLst>
              <a:path h="1086618" w="1768166">
                <a:moveTo>
                  <a:pt x="0" y="0"/>
                </a:moveTo>
                <a:lnTo>
                  <a:pt x="1768166" y="0"/>
                </a:lnTo>
                <a:lnTo>
                  <a:pt x="1768166" y="1086618"/>
                </a:lnTo>
                <a:lnTo>
                  <a:pt x="0" y="10866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5204245" y="4272414"/>
            <a:ext cx="3703964" cy="4433883"/>
            <a:chOff x="0" y="0"/>
            <a:chExt cx="812800" cy="972974"/>
          </a:xfrm>
        </p:grpSpPr>
        <p:sp>
          <p:nvSpPr>
            <p:cNvPr name="Freeform 7" id="7"/>
            <p:cNvSpPr/>
            <p:nvPr/>
          </p:nvSpPr>
          <p:spPr>
            <a:xfrm flipH="false" flipV="false" rot="0">
              <a:off x="0" y="0"/>
              <a:ext cx="812800" cy="972974"/>
            </a:xfrm>
            <a:custGeom>
              <a:avLst/>
              <a:gdLst/>
              <a:ahLst/>
              <a:cxnLst/>
              <a:rect r="r" b="b" t="t" l="l"/>
              <a:pathLst>
                <a:path h="972974" w="812800">
                  <a:moveTo>
                    <a:pt x="106599" y="0"/>
                  </a:moveTo>
                  <a:lnTo>
                    <a:pt x="706201" y="0"/>
                  </a:lnTo>
                  <a:cubicBezTo>
                    <a:pt x="765074" y="0"/>
                    <a:pt x="812800" y="47726"/>
                    <a:pt x="812800" y="106599"/>
                  </a:cubicBezTo>
                  <a:lnTo>
                    <a:pt x="812800" y="866375"/>
                  </a:lnTo>
                  <a:cubicBezTo>
                    <a:pt x="812800" y="925248"/>
                    <a:pt x="765074" y="972974"/>
                    <a:pt x="706201" y="972974"/>
                  </a:cubicBezTo>
                  <a:lnTo>
                    <a:pt x="106599" y="972974"/>
                  </a:lnTo>
                  <a:cubicBezTo>
                    <a:pt x="78327" y="972974"/>
                    <a:pt x="51213" y="961743"/>
                    <a:pt x="31222" y="941752"/>
                  </a:cubicBezTo>
                  <a:cubicBezTo>
                    <a:pt x="11231" y="921761"/>
                    <a:pt x="0" y="894647"/>
                    <a:pt x="0" y="866375"/>
                  </a:cubicBezTo>
                  <a:lnTo>
                    <a:pt x="0" y="106599"/>
                  </a:lnTo>
                  <a:cubicBezTo>
                    <a:pt x="0" y="47726"/>
                    <a:pt x="47726" y="0"/>
                    <a:pt x="106599" y="0"/>
                  </a:cubicBezTo>
                  <a:close/>
                </a:path>
              </a:pathLst>
            </a:custGeom>
            <a:ln w="38100" cap="rnd">
              <a:solidFill>
                <a:srgbClr val="343734"/>
              </a:solidFill>
              <a:prstDash val="solid"/>
              <a:round/>
            </a:ln>
          </p:spPr>
        </p:sp>
        <p:sp>
          <p:nvSpPr>
            <p:cNvPr name="TextBox 8" id="8"/>
            <p:cNvSpPr txBox="true"/>
            <p:nvPr/>
          </p:nvSpPr>
          <p:spPr>
            <a:xfrm>
              <a:off x="0" y="-57150"/>
              <a:ext cx="812800" cy="1030124"/>
            </a:xfrm>
            <a:prstGeom prst="rect">
              <a:avLst/>
            </a:prstGeom>
          </p:spPr>
          <p:txBody>
            <a:bodyPr anchor="ctr" rtlCol="false" tIns="50800" lIns="50800" bIns="50800" rIns="50800"/>
            <a:lstStyle/>
            <a:p>
              <a:pPr algn="ctr">
                <a:lnSpc>
                  <a:spcPts val="2799"/>
                </a:lnSpc>
              </a:pPr>
            </a:p>
          </p:txBody>
        </p:sp>
      </p:grpSp>
      <p:grpSp>
        <p:nvGrpSpPr>
          <p:cNvPr name="Group 9" id="9"/>
          <p:cNvGrpSpPr/>
          <p:nvPr/>
        </p:nvGrpSpPr>
        <p:grpSpPr>
          <a:xfrm rot="0">
            <a:off x="9379791" y="4272414"/>
            <a:ext cx="3703964" cy="4433883"/>
            <a:chOff x="0" y="0"/>
            <a:chExt cx="812800" cy="972974"/>
          </a:xfrm>
        </p:grpSpPr>
        <p:sp>
          <p:nvSpPr>
            <p:cNvPr name="Freeform 10" id="10"/>
            <p:cNvSpPr/>
            <p:nvPr/>
          </p:nvSpPr>
          <p:spPr>
            <a:xfrm flipH="false" flipV="false" rot="0">
              <a:off x="0" y="0"/>
              <a:ext cx="812800" cy="972974"/>
            </a:xfrm>
            <a:custGeom>
              <a:avLst/>
              <a:gdLst/>
              <a:ahLst/>
              <a:cxnLst/>
              <a:rect r="r" b="b" t="t" l="l"/>
              <a:pathLst>
                <a:path h="972974" w="812800">
                  <a:moveTo>
                    <a:pt x="106599" y="0"/>
                  </a:moveTo>
                  <a:lnTo>
                    <a:pt x="706201" y="0"/>
                  </a:lnTo>
                  <a:cubicBezTo>
                    <a:pt x="765074" y="0"/>
                    <a:pt x="812800" y="47726"/>
                    <a:pt x="812800" y="106599"/>
                  </a:cubicBezTo>
                  <a:lnTo>
                    <a:pt x="812800" y="866375"/>
                  </a:lnTo>
                  <a:cubicBezTo>
                    <a:pt x="812800" y="925248"/>
                    <a:pt x="765074" y="972974"/>
                    <a:pt x="706201" y="972974"/>
                  </a:cubicBezTo>
                  <a:lnTo>
                    <a:pt x="106599" y="972974"/>
                  </a:lnTo>
                  <a:cubicBezTo>
                    <a:pt x="78327" y="972974"/>
                    <a:pt x="51213" y="961743"/>
                    <a:pt x="31222" y="941752"/>
                  </a:cubicBezTo>
                  <a:cubicBezTo>
                    <a:pt x="11231" y="921761"/>
                    <a:pt x="0" y="894647"/>
                    <a:pt x="0" y="866375"/>
                  </a:cubicBezTo>
                  <a:lnTo>
                    <a:pt x="0" y="106599"/>
                  </a:lnTo>
                  <a:cubicBezTo>
                    <a:pt x="0" y="47726"/>
                    <a:pt x="47726" y="0"/>
                    <a:pt x="106599" y="0"/>
                  </a:cubicBezTo>
                  <a:close/>
                </a:path>
              </a:pathLst>
            </a:custGeom>
            <a:ln w="38100" cap="rnd">
              <a:solidFill>
                <a:srgbClr val="343734"/>
              </a:solidFill>
              <a:prstDash val="solid"/>
              <a:round/>
            </a:ln>
          </p:spPr>
        </p:sp>
        <p:sp>
          <p:nvSpPr>
            <p:cNvPr name="TextBox 11" id="11"/>
            <p:cNvSpPr txBox="true"/>
            <p:nvPr/>
          </p:nvSpPr>
          <p:spPr>
            <a:xfrm>
              <a:off x="0" y="-57150"/>
              <a:ext cx="812800" cy="1030124"/>
            </a:xfrm>
            <a:prstGeom prst="rect">
              <a:avLst/>
            </a:prstGeom>
          </p:spPr>
          <p:txBody>
            <a:bodyPr anchor="ctr" rtlCol="false" tIns="50800" lIns="50800" bIns="50800" rIns="50800"/>
            <a:lstStyle/>
            <a:p>
              <a:pPr algn="ctr">
                <a:lnSpc>
                  <a:spcPts val="2799"/>
                </a:lnSpc>
              </a:pPr>
            </a:p>
          </p:txBody>
        </p:sp>
      </p:grpSp>
      <p:grpSp>
        <p:nvGrpSpPr>
          <p:cNvPr name="Group 12" id="12"/>
          <p:cNvGrpSpPr/>
          <p:nvPr/>
        </p:nvGrpSpPr>
        <p:grpSpPr>
          <a:xfrm rot="0">
            <a:off x="13555336" y="4272414"/>
            <a:ext cx="3703964" cy="4433883"/>
            <a:chOff x="0" y="0"/>
            <a:chExt cx="812800" cy="972974"/>
          </a:xfrm>
        </p:grpSpPr>
        <p:sp>
          <p:nvSpPr>
            <p:cNvPr name="Freeform 13" id="13"/>
            <p:cNvSpPr/>
            <p:nvPr/>
          </p:nvSpPr>
          <p:spPr>
            <a:xfrm flipH="false" flipV="false" rot="0">
              <a:off x="0" y="0"/>
              <a:ext cx="812800" cy="972974"/>
            </a:xfrm>
            <a:custGeom>
              <a:avLst/>
              <a:gdLst/>
              <a:ahLst/>
              <a:cxnLst/>
              <a:rect r="r" b="b" t="t" l="l"/>
              <a:pathLst>
                <a:path h="972974" w="812800">
                  <a:moveTo>
                    <a:pt x="106599" y="0"/>
                  </a:moveTo>
                  <a:lnTo>
                    <a:pt x="706201" y="0"/>
                  </a:lnTo>
                  <a:cubicBezTo>
                    <a:pt x="765074" y="0"/>
                    <a:pt x="812800" y="47726"/>
                    <a:pt x="812800" y="106599"/>
                  </a:cubicBezTo>
                  <a:lnTo>
                    <a:pt x="812800" y="866375"/>
                  </a:lnTo>
                  <a:cubicBezTo>
                    <a:pt x="812800" y="925248"/>
                    <a:pt x="765074" y="972974"/>
                    <a:pt x="706201" y="972974"/>
                  </a:cubicBezTo>
                  <a:lnTo>
                    <a:pt x="106599" y="972974"/>
                  </a:lnTo>
                  <a:cubicBezTo>
                    <a:pt x="78327" y="972974"/>
                    <a:pt x="51213" y="961743"/>
                    <a:pt x="31222" y="941752"/>
                  </a:cubicBezTo>
                  <a:cubicBezTo>
                    <a:pt x="11231" y="921761"/>
                    <a:pt x="0" y="894647"/>
                    <a:pt x="0" y="866375"/>
                  </a:cubicBezTo>
                  <a:lnTo>
                    <a:pt x="0" y="106599"/>
                  </a:lnTo>
                  <a:cubicBezTo>
                    <a:pt x="0" y="47726"/>
                    <a:pt x="47726" y="0"/>
                    <a:pt x="106599" y="0"/>
                  </a:cubicBezTo>
                  <a:close/>
                </a:path>
              </a:pathLst>
            </a:custGeom>
            <a:ln w="38100" cap="rnd">
              <a:solidFill>
                <a:srgbClr val="343734"/>
              </a:solidFill>
              <a:prstDash val="solid"/>
              <a:round/>
            </a:ln>
          </p:spPr>
        </p:sp>
        <p:sp>
          <p:nvSpPr>
            <p:cNvPr name="TextBox 14" id="14"/>
            <p:cNvSpPr txBox="true"/>
            <p:nvPr/>
          </p:nvSpPr>
          <p:spPr>
            <a:xfrm>
              <a:off x="0" y="-57150"/>
              <a:ext cx="812800" cy="1030124"/>
            </a:xfrm>
            <a:prstGeom prst="rect">
              <a:avLst/>
            </a:prstGeom>
          </p:spPr>
          <p:txBody>
            <a:bodyPr anchor="ctr" rtlCol="false" tIns="50800" lIns="50800" bIns="50800" rIns="50800"/>
            <a:lstStyle/>
            <a:p>
              <a:pPr algn="ctr">
                <a:lnSpc>
                  <a:spcPts val="2799"/>
                </a:lnSpc>
              </a:pPr>
            </a:p>
          </p:txBody>
        </p:sp>
      </p:grpSp>
      <p:sp>
        <p:nvSpPr>
          <p:cNvPr name="Freeform 15" id="15"/>
          <p:cNvSpPr/>
          <p:nvPr/>
        </p:nvSpPr>
        <p:spPr>
          <a:xfrm flipH="false" flipV="false" rot="0">
            <a:off x="6467440" y="4396573"/>
            <a:ext cx="1086618" cy="1086618"/>
          </a:xfrm>
          <a:custGeom>
            <a:avLst/>
            <a:gdLst/>
            <a:ahLst/>
            <a:cxnLst/>
            <a:rect r="r" b="b" t="t" l="l"/>
            <a:pathLst>
              <a:path h="1086618" w="1086618">
                <a:moveTo>
                  <a:pt x="0" y="0"/>
                </a:moveTo>
                <a:lnTo>
                  <a:pt x="1086618" y="0"/>
                </a:lnTo>
                <a:lnTo>
                  <a:pt x="1086618" y="1086618"/>
                </a:lnTo>
                <a:lnTo>
                  <a:pt x="0" y="10866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0645539" y="4396573"/>
            <a:ext cx="1081511" cy="1086618"/>
          </a:xfrm>
          <a:custGeom>
            <a:avLst/>
            <a:gdLst/>
            <a:ahLst/>
            <a:cxnLst/>
            <a:rect r="r" b="b" t="t" l="l"/>
            <a:pathLst>
              <a:path h="1086618" w="1081511">
                <a:moveTo>
                  <a:pt x="0" y="0"/>
                </a:moveTo>
                <a:lnTo>
                  <a:pt x="1081511" y="0"/>
                </a:lnTo>
                <a:lnTo>
                  <a:pt x="1081511" y="1086618"/>
                </a:lnTo>
                <a:lnTo>
                  <a:pt x="0" y="10866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4838137" y="4396573"/>
            <a:ext cx="1138362" cy="1086618"/>
          </a:xfrm>
          <a:custGeom>
            <a:avLst/>
            <a:gdLst/>
            <a:ahLst/>
            <a:cxnLst/>
            <a:rect r="r" b="b" t="t" l="l"/>
            <a:pathLst>
              <a:path h="1086618" w="1138362">
                <a:moveTo>
                  <a:pt x="0" y="0"/>
                </a:moveTo>
                <a:lnTo>
                  <a:pt x="1138362" y="0"/>
                </a:lnTo>
                <a:lnTo>
                  <a:pt x="1138362" y="1086618"/>
                </a:lnTo>
                <a:lnTo>
                  <a:pt x="0" y="10866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1028700" y="1123950"/>
            <a:ext cx="13854017" cy="2473910"/>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Cross-D</a:t>
            </a:r>
            <a:r>
              <a:rPr lang="en-US" b="true" sz="8799">
                <a:solidFill>
                  <a:srgbClr val="343734"/>
                </a:solidFill>
                <a:latin typeface="Montserrat Bold"/>
                <a:ea typeface="Montserrat Bold"/>
                <a:cs typeface="Montserrat Bold"/>
                <a:sym typeface="Montserrat Bold"/>
              </a:rPr>
              <a:t>epartment Impact</a:t>
            </a:r>
          </a:p>
        </p:txBody>
      </p:sp>
      <p:sp>
        <p:nvSpPr>
          <p:cNvPr name="TextBox 19" id="19"/>
          <p:cNvSpPr txBox="true"/>
          <p:nvPr/>
        </p:nvSpPr>
        <p:spPr>
          <a:xfrm rot="0">
            <a:off x="1503987" y="5776939"/>
            <a:ext cx="2753390" cy="428748"/>
          </a:xfrm>
          <a:prstGeom prst="rect">
            <a:avLst/>
          </a:prstGeom>
        </p:spPr>
        <p:txBody>
          <a:bodyPr anchor="t" rtlCol="false" tIns="0" lIns="0" bIns="0" rIns="0">
            <a:spAutoFit/>
          </a:bodyPr>
          <a:lstStyle/>
          <a:p>
            <a:pPr algn="ctr">
              <a:lnSpc>
                <a:spcPts val="3360"/>
              </a:lnSpc>
              <a:spcBef>
                <a:spcPct val="0"/>
              </a:spcBef>
            </a:pPr>
            <a:r>
              <a:rPr lang="en-US" b="true" sz="2400">
                <a:solidFill>
                  <a:srgbClr val="343734"/>
                </a:solidFill>
                <a:latin typeface="Poppins Bold"/>
                <a:ea typeface="Poppins Bold"/>
                <a:cs typeface="Poppins Bold"/>
                <a:sym typeface="Poppins Bold"/>
              </a:rPr>
              <a:t>F</a:t>
            </a:r>
            <a:r>
              <a:rPr lang="en-US" b="true" sz="2400">
                <a:solidFill>
                  <a:srgbClr val="343734"/>
                </a:solidFill>
                <a:latin typeface="Poppins Bold"/>
                <a:ea typeface="Poppins Bold"/>
                <a:cs typeface="Poppins Bold"/>
                <a:sym typeface="Poppins Bold"/>
              </a:rPr>
              <a:t>inance</a:t>
            </a:r>
          </a:p>
        </p:txBody>
      </p:sp>
      <p:sp>
        <p:nvSpPr>
          <p:cNvPr name="TextBox 20" id="20"/>
          <p:cNvSpPr txBox="true"/>
          <p:nvPr/>
        </p:nvSpPr>
        <p:spPr>
          <a:xfrm rot="0">
            <a:off x="1503987" y="6375055"/>
            <a:ext cx="2662434" cy="770556"/>
          </a:xfrm>
          <a:prstGeom prst="rect">
            <a:avLst/>
          </a:prstGeom>
        </p:spPr>
        <p:txBody>
          <a:bodyPr anchor="t" rtlCol="false" tIns="0" lIns="0" bIns="0" rIns="0">
            <a:spAutoFit/>
          </a:bodyPr>
          <a:lstStyle/>
          <a:p>
            <a:pPr algn="ctr">
              <a:lnSpc>
                <a:spcPts val="6049"/>
              </a:lnSpc>
              <a:spcBef>
                <a:spcPct val="0"/>
              </a:spcBef>
            </a:pPr>
            <a:r>
              <a:rPr lang="en-US" b="true" sz="4320">
                <a:solidFill>
                  <a:srgbClr val="343734"/>
                </a:solidFill>
                <a:latin typeface="Poppins Bold"/>
                <a:ea typeface="Poppins Bold"/>
                <a:cs typeface="Poppins Bold"/>
                <a:sym typeface="Poppins Bold"/>
              </a:rPr>
              <a:t>+18%</a:t>
            </a:r>
          </a:p>
        </p:txBody>
      </p:sp>
      <p:sp>
        <p:nvSpPr>
          <p:cNvPr name="TextBox 21" id="21"/>
          <p:cNvSpPr txBox="true"/>
          <p:nvPr/>
        </p:nvSpPr>
        <p:spPr>
          <a:xfrm rot="0">
            <a:off x="1193598" y="7364735"/>
            <a:ext cx="3374168" cy="851791"/>
          </a:xfrm>
          <a:prstGeom prst="rect">
            <a:avLst/>
          </a:prstGeom>
        </p:spPr>
        <p:txBody>
          <a:bodyPr anchor="t" rtlCol="false" tIns="0" lIns="0" bIns="0" rIns="0">
            <a:spAutoFit/>
          </a:bodyPr>
          <a:lstStyle/>
          <a:p>
            <a:pPr algn="ctr">
              <a:lnSpc>
                <a:spcPts val="3360"/>
              </a:lnSpc>
              <a:spcBef>
                <a:spcPct val="0"/>
              </a:spcBef>
            </a:pPr>
            <a:r>
              <a:rPr lang="en-US" sz="2400">
                <a:solidFill>
                  <a:srgbClr val="343734"/>
                </a:solidFill>
                <a:latin typeface="Poppins"/>
                <a:ea typeface="Poppins"/>
                <a:cs typeface="Poppins"/>
                <a:sym typeface="Poppins"/>
              </a:rPr>
              <a:t>Improve budget allocation accuracy</a:t>
            </a:r>
          </a:p>
        </p:txBody>
      </p:sp>
      <p:sp>
        <p:nvSpPr>
          <p:cNvPr name="TextBox 22" id="22"/>
          <p:cNvSpPr txBox="true"/>
          <p:nvPr/>
        </p:nvSpPr>
        <p:spPr>
          <a:xfrm rot="0">
            <a:off x="5679532" y="5776939"/>
            <a:ext cx="2753390" cy="428748"/>
          </a:xfrm>
          <a:prstGeom prst="rect">
            <a:avLst/>
          </a:prstGeom>
        </p:spPr>
        <p:txBody>
          <a:bodyPr anchor="t" rtlCol="false" tIns="0" lIns="0" bIns="0" rIns="0">
            <a:spAutoFit/>
          </a:bodyPr>
          <a:lstStyle/>
          <a:p>
            <a:pPr algn="ctr">
              <a:lnSpc>
                <a:spcPts val="3360"/>
              </a:lnSpc>
              <a:spcBef>
                <a:spcPct val="0"/>
              </a:spcBef>
            </a:pPr>
            <a:r>
              <a:rPr lang="en-US" b="true" sz="2400">
                <a:solidFill>
                  <a:srgbClr val="343734"/>
                </a:solidFill>
                <a:latin typeface="Poppins Bold"/>
                <a:ea typeface="Poppins Bold"/>
                <a:cs typeface="Poppins Bold"/>
                <a:sym typeface="Poppins Bold"/>
              </a:rPr>
              <a:t>Operat</a:t>
            </a:r>
            <a:r>
              <a:rPr lang="en-US" b="true" sz="2400">
                <a:solidFill>
                  <a:srgbClr val="343734"/>
                </a:solidFill>
                <a:latin typeface="Poppins Bold"/>
                <a:ea typeface="Poppins Bold"/>
                <a:cs typeface="Poppins Bold"/>
                <a:sym typeface="Poppins Bold"/>
              </a:rPr>
              <a:t>ions</a:t>
            </a:r>
          </a:p>
        </p:txBody>
      </p:sp>
      <p:sp>
        <p:nvSpPr>
          <p:cNvPr name="TextBox 23" id="23"/>
          <p:cNvSpPr txBox="true"/>
          <p:nvPr/>
        </p:nvSpPr>
        <p:spPr>
          <a:xfrm rot="0">
            <a:off x="5679532" y="6375055"/>
            <a:ext cx="2662434" cy="770556"/>
          </a:xfrm>
          <a:prstGeom prst="rect">
            <a:avLst/>
          </a:prstGeom>
        </p:spPr>
        <p:txBody>
          <a:bodyPr anchor="t" rtlCol="false" tIns="0" lIns="0" bIns="0" rIns="0">
            <a:spAutoFit/>
          </a:bodyPr>
          <a:lstStyle/>
          <a:p>
            <a:pPr algn="ctr">
              <a:lnSpc>
                <a:spcPts val="6049"/>
              </a:lnSpc>
              <a:spcBef>
                <a:spcPct val="0"/>
              </a:spcBef>
            </a:pPr>
            <a:r>
              <a:rPr lang="en-US" b="true" sz="4320">
                <a:solidFill>
                  <a:srgbClr val="343734"/>
                </a:solidFill>
                <a:latin typeface="Poppins Bold"/>
                <a:ea typeface="Poppins Bold"/>
                <a:cs typeface="Poppins Bold"/>
                <a:sym typeface="Poppins Bold"/>
              </a:rPr>
              <a:t>12–20%</a:t>
            </a:r>
          </a:p>
        </p:txBody>
      </p:sp>
      <p:sp>
        <p:nvSpPr>
          <p:cNvPr name="TextBox 24" id="24"/>
          <p:cNvSpPr txBox="true"/>
          <p:nvPr/>
        </p:nvSpPr>
        <p:spPr>
          <a:xfrm rot="0">
            <a:off x="5369143" y="7364735"/>
            <a:ext cx="3374168" cy="851791"/>
          </a:xfrm>
          <a:prstGeom prst="rect">
            <a:avLst/>
          </a:prstGeom>
        </p:spPr>
        <p:txBody>
          <a:bodyPr anchor="t" rtlCol="false" tIns="0" lIns="0" bIns="0" rIns="0">
            <a:spAutoFit/>
          </a:bodyPr>
          <a:lstStyle/>
          <a:p>
            <a:pPr algn="ctr">
              <a:lnSpc>
                <a:spcPts val="3360"/>
              </a:lnSpc>
              <a:spcBef>
                <a:spcPct val="0"/>
              </a:spcBef>
            </a:pPr>
            <a:r>
              <a:rPr lang="en-US" sz="2400">
                <a:solidFill>
                  <a:srgbClr val="343734"/>
                </a:solidFill>
                <a:latin typeface="Poppins"/>
                <a:ea typeface="Poppins"/>
                <a:cs typeface="Poppins"/>
                <a:sym typeface="Poppins"/>
              </a:rPr>
              <a:t>Reduce </a:t>
            </a:r>
            <a:r>
              <a:rPr lang="en-US" sz="2400">
                <a:solidFill>
                  <a:srgbClr val="343734"/>
                </a:solidFill>
                <a:latin typeface="Poppins"/>
                <a:ea typeface="Poppins"/>
                <a:cs typeface="Poppins"/>
                <a:sym typeface="Poppins"/>
              </a:rPr>
              <a:t>process delays</a:t>
            </a:r>
          </a:p>
        </p:txBody>
      </p:sp>
      <p:sp>
        <p:nvSpPr>
          <p:cNvPr name="TextBox 25" id="25"/>
          <p:cNvSpPr txBox="true"/>
          <p:nvPr/>
        </p:nvSpPr>
        <p:spPr>
          <a:xfrm rot="0">
            <a:off x="9855078" y="5776939"/>
            <a:ext cx="2753390" cy="428748"/>
          </a:xfrm>
          <a:prstGeom prst="rect">
            <a:avLst/>
          </a:prstGeom>
        </p:spPr>
        <p:txBody>
          <a:bodyPr anchor="t" rtlCol="false" tIns="0" lIns="0" bIns="0" rIns="0">
            <a:spAutoFit/>
          </a:bodyPr>
          <a:lstStyle/>
          <a:p>
            <a:pPr algn="ctr">
              <a:lnSpc>
                <a:spcPts val="3360"/>
              </a:lnSpc>
              <a:spcBef>
                <a:spcPct val="0"/>
              </a:spcBef>
            </a:pPr>
            <a:r>
              <a:rPr lang="en-US" b="true" sz="2400">
                <a:solidFill>
                  <a:srgbClr val="343734"/>
                </a:solidFill>
                <a:latin typeface="Poppins Bold"/>
                <a:ea typeface="Poppins Bold"/>
                <a:cs typeface="Poppins Bold"/>
                <a:sym typeface="Poppins Bold"/>
              </a:rPr>
              <a:t>M</a:t>
            </a:r>
            <a:r>
              <a:rPr lang="en-US" b="true" sz="2400">
                <a:solidFill>
                  <a:srgbClr val="343734"/>
                </a:solidFill>
                <a:latin typeface="Poppins Bold"/>
                <a:ea typeface="Poppins Bold"/>
                <a:cs typeface="Poppins Bold"/>
                <a:sym typeface="Poppins Bold"/>
              </a:rPr>
              <a:t>arketing</a:t>
            </a:r>
          </a:p>
        </p:txBody>
      </p:sp>
      <p:sp>
        <p:nvSpPr>
          <p:cNvPr name="TextBox 26" id="26"/>
          <p:cNvSpPr txBox="true"/>
          <p:nvPr/>
        </p:nvSpPr>
        <p:spPr>
          <a:xfrm rot="0">
            <a:off x="9855078" y="6375055"/>
            <a:ext cx="2662434" cy="770556"/>
          </a:xfrm>
          <a:prstGeom prst="rect">
            <a:avLst/>
          </a:prstGeom>
        </p:spPr>
        <p:txBody>
          <a:bodyPr anchor="t" rtlCol="false" tIns="0" lIns="0" bIns="0" rIns="0">
            <a:spAutoFit/>
          </a:bodyPr>
          <a:lstStyle/>
          <a:p>
            <a:pPr algn="ctr">
              <a:lnSpc>
                <a:spcPts val="6049"/>
              </a:lnSpc>
              <a:spcBef>
                <a:spcPct val="0"/>
              </a:spcBef>
            </a:pPr>
            <a:r>
              <a:rPr lang="en-US" b="true" sz="4320">
                <a:solidFill>
                  <a:srgbClr val="343734"/>
                </a:solidFill>
                <a:latin typeface="Poppins Bold"/>
                <a:ea typeface="Poppins Bold"/>
                <a:cs typeface="Poppins Bold"/>
                <a:sym typeface="Poppins Bold"/>
              </a:rPr>
              <a:t>10–25%</a:t>
            </a:r>
          </a:p>
        </p:txBody>
      </p:sp>
      <p:sp>
        <p:nvSpPr>
          <p:cNvPr name="TextBox 27" id="27"/>
          <p:cNvSpPr txBox="true"/>
          <p:nvPr/>
        </p:nvSpPr>
        <p:spPr>
          <a:xfrm rot="0">
            <a:off x="9544689" y="7364735"/>
            <a:ext cx="3374168" cy="851791"/>
          </a:xfrm>
          <a:prstGeom prst="rect">
            <a:avLst/>
          </a:prstGeom>
        </p:spPr>
        <p:txBody>
          <a:bodyPr anchor="t" rtlCol="false" tIns="0" lIns="0" bIns="0" rIns="0">
            <a:spAutoFit/>
          </a:bodyPr>
          <a:lstStyle/>
          <a:p>
            <a:pPr algn="ctr">
              <a:lnSpc>
                <a:spcPts val="3360"/>
              </a:lnSpc>
              <a:spcBef>
                <a:spcPct val="0"/>
              </a:spcBef>
            </a:pPr>
            <a:r>
              <a:rPr lang="en-US" sz="2400">
                <a:solidFill>
                  <a:srgbClr val="343734"/>
                </a:solidFill>
                <a:latin typeface="Poppins"/>
                <a:ea typeface="Poppins"/>
                <a:cs typeface="Poppins"/>
                <a:sym typeface="Poppins"/>
              </a:rPr>
              <a:t>Improve campaign ROI</a:t>
            </a:r>
          </a:p>
        </p:txBody>
      </p:sp>
      <p:sp>
        <p:nvSpPr>
          <p:cNvPr name="TextBox 28" id="28"/>
          <p:cNvSpPr txBox="true"/>
          <p:nvPr/>
        </p:nvSpPr>
        <p:spPr>
          <a:xfrm rot="0">
            <a:off x="14030623" y="5776939"/>
            <a:ext cx="2753390" cy="428748"/>
          </a:xfrm>
          <a:prstGeom prst="rect">
            <a:avLst/>
          </a:prstGeom>
        </p:spPr>
        <p:txBody>
          <a:bodyPr anchor="t" rtlCol="false" tIns="0" lIns="0" bIns="0" rIns="0">
            <a:spAutoFit/>
          </a:bodyPr>
          <a:lstStyle/>
          <a:p>
            <a:pPr algn="ctr">
              <a:lnSpc>
                <a:spcPts val="3360"/>
              </a:lnSpc>
              <a:spcBef>
                <a:spcPct val="0"/>
              </a:spcBef>
            </a:pPr>
            <a:r>
              <a:rPr lang="en-US" b="true" sz="2400">
                <a:solidFill>
                  <a:srgbClr val="343734"/>
                </a:solidFill>
                <a:latin typeface="Poppins Bold"/>
                <a:ea typeface="Poppins Bold"/>
                <a:cs typeface="Poppins Bold"/>
                <a:sym typeface="Poppins Bold"/>
              </a:rPr>
              <a:t>Le</a:t>
            </a:r>
            <a:r>
              <a:rPr lang="en-US" b="true" sz="2400">
                <a:solidFill>
                  <a:srgbClr val="343734"/>
                </a:solidFill>
                <a:latin typeface="Poppins Bold"/>
                <a:ea typeface="Poppins Bold"/>
                <a:cs typeface="Poppins Bold"/>
                <a:sym typeface="Poppins Bold"/>
              </a:rPr>
              <a:t>adership</a:t>
            </a:r>
          </a:p>
        </p:txBody>
      </p:sp>
      <p:sp>
        <p:nvSpPr>
          <p:cNvPr name="TextBox 29" id="29"/>
          <p:cNvSpPr txBox="true"/>
          <p:nvPr/>
        </p:nvSpPr>
        <p:spPr>
          <a:xfrm rot="0">
            <a:off x="13472691" y="6590559"/>
            <a:ext cx="3786609" cy="436930"/>
          </a:xfrm>
          <a:prstGeom prst="rect">
            <a:avLst/>
          </a:prstGeom>
        </p:spPr>
        <p:txBody>
          <a:bodyPr anchor="t" rtlCol="false" tIns="0" lIns="0" bIns="0" rIns="0">
            <a:spAutoFit/>
          </a:bodyPr>
          <a:lstStyle/>
          <a:p>
            <a:pPr algn="ctr">
              <a:lnSpc>
                <a:spcPts val="3219"/>
              </a:lnSpc>
            </a:pPr>
            <a:r>
              <a:rPr lang="en-US" b="true" sz="2799">
                <a:solidFill>
                  <a:srgbClr val="343734"/>
                </a:solidFill>
                <a:latin typeface="Poppins Bold"/>
                <a:ea typeface="Poppins Bold"/>
                <a:cs typeface="Poppins Bold"/>
                <a:sym typeface="Poppins Bold"/>
              </a:rPr>
              <a:t>Strategic Support</a:t>
            </a:r>
          </a:p>
        </p:txBody>
      </p:sp>
      <p:sp>
        <p:nvSpPr>
          <p:cNvPr name="TextBox 30" id="30"/>
          <p:cNvSpPr txBox="true"/>
          <p:nvPr/>
        </p:nvSpPr>
        <p:spPr>
          <a:xfrm rot="0">
            <a:off x="13720234" y="7364735"/>
            <a:ext cx="3374168" cy="851791"/>
          </a:xfrm>
          <a:prstGeom prst="rect">
            <a:avLst/>
          </a:prstGeom>
        </p:spPr>
        <p:txBody>
          <a:bodyPr anchor="t" rtlCol="false" tIns="0" lIns="0" bIns="0" rIns="0">
            <a:spAutoFit/>
          </a:bodyPr>
          <a:lstStyle/>
          <a:p>
            <a:pPr algn="ctr">
              <a:lnSpc>
                <a:spcPts val="3360"/>
              </a:lnSpc>
              <a:spcBef>
                <a:spcPct val="0"/>
              </a:spcBef>
            </a:pPr>
            <a:r>
              <a:rPr lang="en-US" sz="2400">
                <a:solidFill>
                  <a:srgbClr val="343734"/>
                </a:solidFill>
                <a:latin typeface="Poppins"/>
                <a:ea typeface="Poppins"/>
                <a:cs typeface="Poppins"/>
                <a:sym typeface="Poppins"/>
              </a:rPr>
              <a:t>F</a:t>
            </a:r>
            <a:r>
              <a:rPr lang="en-US" sz="2400">
                <a:solidFill>
                  <a:srgbClr val="343734"/>
                </a:solidFill>
                <a:latin typeface="Poppins"/>
                <a:ea typeface="Poppins"/>
                <a:cs typeface="Poppins"/>
                <a:sym typeface="Poppins"/>
              </a:rPr>
              <a:t>orecasting &amp; risk assessment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1765738" y="4273633"/>
            <a:ext cx="6969847" cy="3682183"/>
            <a:chOff x="0" y="0"/>
            <a:chExt cx="1835680" cy="969793"/>
          </a:xfrm>
        </p:grpSpPr>
        <p:sp>
          <p:nvSpPr>
            <p:cNvPr name="Freeform 3" id="3"/>
            <p:cNvSpPr/>
            <p:nvPr/>
          </p:nvSpPr>
          <p:spPr>
            <a:xfrm flipH="false" flipV="false" rot="0">
              <a:off x="0" y="0"/>
              <a:ext cx="1835680" cy="969793"/>
            </a:xfrm>
            <a:custGeom>
              <a:avLst/>
              <a:gdLst/>
              <a:ahLst/>
              <a:cxnLst/>
              <a:rect r="r" b="b" t="t" l="l"/>
              <a:pathLst>
                <a:path h="969793" w="1835680">
                  <a:moveTo>
                    <a:pt x="56649" y="0"/>
                  </a:moveTo>
                  <a:lnTo>
                    <a:pt x="1779031" y="0"/>
                  </a:lnTo>
                  <a:cubicBezTo>
                    <a:pt x="1794055" y="0"/>
                    <a:pt x="1808464" y="5968"/>
                    <a:pt x="1819088" y="16592"/>
                  </a:cubicBezTo>
                  <a:cubicBezTo>
                    <a:pt x="1829712" y="27216"/>
                    <a:pt x="1835680" y="41625"/>
                    <a:pt x="1835680" y="56649"/>
                  </a:cubicBezTo>
                  <a:lnTo>
                    <a:pt x="1835680" y="913143"/>
                  </a:lnTo>
                  <a:cubicBezTo>
                    <a:pt x="1835680" y="944430"/>
                    <a:pt x="1810317" y="969793"/>
                    <a:pt x="1779031" y="969793"/>
                  </a:cubicBezTo>
                  <a:lnTo>
                    <a:pt x="56649" y="969793"/>
                  </a:lnTo>
                  <a:cubicBezTo>
                    <a:pt x="41625" y="969793"/>
                    <a:pt x="27216" y="963825"/>
                    <a:pt x="16592" y="953201"/>
                  </a:cubicBezTo>
                  <a:cubicBezTo>
                    <a:pt x="5968" y="942577"/>
                    <a:pt x="0" y="928168"/>
                    <a:pt x="0" y="913143"/>
                  </a:cubicBezTo>
                  <a:lnTo>
                    <a:pt x="0" y="56649"/>
                  </a:lnTo>
                  <a:cubicBezTo>
                    <a:pt x="0" y="41625"/>
                    <a:pt x="5968" y="27216"/>
                    <a:pt x="16592" y="16592"/>
                  </a:cubicBezTo>
                  <a:cubicBezTo>
                    <a:pt x="27216" y="5968"/>
                    <a:pt x="41625" y="0"/>
                    <a:pt x="56649" y="0"/>
                  </a:cubicBezTo>
                  <a:close/>
                </a:path>
              </a:pathLst>
            </a:custGeom>
            <a:ln w="38100" cap="rnd">
              <a:solidFill>
                <a:srgbClr val="EFF1E8"/>
              </a:solidFill>
              <a:prstDash val="solid"/>
              <a:round/>
            </a:ln>
          </p:spPr>
        </p:sp>
        <p:sp>
          <p:nvSpPr>
            <p:cNvPr name="TextBox 4" id="4"/>
            <p:cNvSpPr txBox="true"/>
            <p:nvPr/>
          </p:nvSpPr>
          <p:spPr>
            <a:xfrm>
              <a:off x="0" y="-57150"/>
              <a:ext cx="1835680" cy="1026943"/>
            </a:xfrm>
            <a:prstGeom prst="rect">
              <a:avLst/>
            </a:prstGeom>
          </p:spPr>
          <p:txBody>
            <a:bodyPr anchor="ctr" rtlCol="false" tIns="50800" lIns="50800" bIns="50800" rIns="50800"/>
            <a:lstStyle/>
            <a:p>
              <a:pPr algn="ctr">
                <a:lnSpc>
                  <a:spcPts val="2799"/>
                </a:lnSpc>
              </a:pPr>
            </a:p>
          </p:txBody>
        </p:sp>
      </p:grpSp>
      <p:sp>
        <p:nvSpPr>
          <p:cNvPr name="AutoShape 5" id="5"/>
          <p:cNvSpPr/>
          <p:nvPr/>
        </p:nvSpPr>
        <p:spPr>
          <a:xfrm>
            <a:off x="1765738" y="6101563"/>
            <a:ext cx="6969847" cy="0"/>
          </a:xfrm>
          <a:prstGeom prst="line">
            <a:avLst/>
          </a:prstGeom>
          <a:ln cap="flat" w="38100">
            <a:solidFill>
              <a:srgbClr val="EFF1E8"/>
            </a:solidFill>
            <a:prstDash val="solid"/>
            <a:headEnd type="none" len="sm" w="sm"/>
            <a:tailEnd type="none" len="sm" w="sm"/>
          </a:ln>
        </p:spPr>
      </p:sp>
      <p:sp>
        <p:nvSpPr>
          <p:cNvPr name="AutoShape 6" id="6"/>
          <p:cNvSpPr/>
          <p:nvPr/>
        </p:nvSpPr>
        <p:spPr>
          <a:xfrm>
            <a:off x="1765738" y="7028689"/>
            <a:ext cx="6969847" cy="0"/>
          </a:xfrm>
          <a:prstGeom prst="line">
            <a:avLst/>
          </a:prstGeom>
          <a:ln cap="flat" w="38100">
            <a:solidFill>
              <a:srgbClr val="EFF1E8"/>
            </a:solidFill>
            <a:prstDash val="solid"/>
            <a:headEnd type="none" len="sm" w="sm"/>
            <a:tailEnd type="none" len="sm" w="sm"/>
          </a:ln>
        </p:spPr>
      </p:sp>
      <p:sp>
        <p:nvSpPr>
          <p:cNvPr name="AutoShape 7" id="7"/>
          <p:cNvSpPr/>
          <p:nvPr/>
        </p:nvSpPr>
        <p:spPr>
          <a:xfrm>
            <a:off x="1765738" y="5326837"/>
            <a:ext cx="6969847" cy="0"/>
          </a:xfrm>
          <a:prstGeom prst="line">
            <a:avLst/>
          </a:prstGeom>
          <a:ln cap="flat" w="38100">
            <a:solidFill>
              <a:srgbClr val="EFF1E8"/>
            </a:solidFill>
            <a:prstDash val="solid"/>
            <a:headEnd type="none" len="sm" w="sm"/>
            <a:tailEnd type="none" len="sm" w="sm"/>
          </a:ln>
        </p:spPr>
      </p:sp>
      <p:grpSp>
        <p:nvGrpSpPr>
          <p:cNvPr name="Group 8" id="8"/>
          <p:cNvGrpSpPr/>
          <p:nvPr/>
        </p:nvGrpSpPr>
        <p:grpSpPr>
          <a:xfrm rot="0">
            <a:off x="9478499" y="4260472"/>
            <a:ext cx="6969847" cy="3682183"/>
            <a:chOff x="0" y="0"/>
            <a:chExt cx="1835680" cy="969793"/>
          </a:xfrm>
        </p:grpSpPr>
        <p:sp>
          <p:nvSpPr>
            <p:cNvPr name="Freeform 9" id="9"/>
            <p:cNvSpPr/>
            <p:nvPr/>
          </p:nvSpPr>
          <p:spPr>
            <a:xfrm flipH="false" flipV="false" rot="0">
              <a:off x="0" y="0"/>
              <a:ext cx="1835680" cy="969793"/>
            </a:xfrm>
            <a:custGeom>
              <a:avLst/>
              <a:gdLst/>
              <a:ahLst/>
              <a:cxnLst/>
              <a:rect r="r" b="b" t="t" l="l"/>
              <a:pathLst>
                <a:path h="969793" w="1835680">
                  <a:moveTo>
                    <a:pt x="56649" y="0"/>
                  </a:moveTo>
                  <a:lnTo>
                    <a:pt x="1779031" y="0"/>
                  </a:lnTo>
                  <a:cubicBezTo>
                    <a:pt x="1794055" y="0"/>
                    <a:pt x="1808464" y="5968"/>
                    <a:pt x="1819088" y="16592"/>
                  </a:cubicBezTo>
                  <a:cubicBezTo>
                    <a:pt x="1829712" y="27216"/>
                    <a:pt x="1835680" y="41625"/>
                    <a:pt x="1835680" y="56649"/>
                  </a:cubicBezTo>
                  <a:lnTo>
                    <a:pt x="1835680" y="913143"/>
                  </a:lnTo>
                  <a:cubicBezTo>
                    <a:pt x="1835680" y="944430"/>
                    <a:pt x="1810317" y="969793"/>
                    <a:pt x="1779031" y="969793"/>
                  </a:cubicBezTo>
                  <a:lnTo>
                    <a:pt x="56649" y="969793"/>
                  </a:lnTo>
                  <a:cubicBezTo>
                    <a:pt x="41625" y="969793"/>
                    <a:pt x="27216" y="963825"/>
                    <a:pt x="16592" y="953201"/>
                  </a:cubicBezTo>
                  <a:cubicBezTo>
                    <a:pt x="5968" y="942577"/>
                    <a:pt x="0" y="928168"/>
                    <a:pt x="0" y="913143"/>
                  </a:cubicBezTo>
                  <a:lnTo>
                    <a:pt x="0" y="56649"/>
                  </a:lnTo>
                  <a:cubicBezTo>
                    <a:pt x="0" y="41625"/>
                    <a:pt x="5968" y="27216"/>
                    <a:pt x="16592" y="16592"/>
                  </a:cubicBezTo>
                  <a:cubicBezTo>
                    <a:pt x="27216" y="5968"/>
                    <a:pt x="41625" y="0"/>
                    <a:pt x="56649" y="0"/>
                  </a:cubicBezTo>
                  <a:close/>
                </a:path>
              </a:pathLst>
            </a:custGeom>
            <a:ln w="38100" cap="rnd">
              <a:solidFill>
                <a:srgbClr val="EFF1E8"/>
              </a:solidFill>
              <a:prstDash val="solid"/>
              <a:round/>
            </a:ln>
          </p:spPr>
        </p:sp>
        <p:sp>
          <p:nvSpPr>
            <p:cNvPr name="TextBox 10" id="10"/>
            <p:cNvSpPr txBox="true"/>
            <p:nvPr/>
          </p:nvSpPr>
          <p:spPr>
            <a:xfrm>
              <a:off x="0" y="-57150"/>
              <a:ext cx="1835680" cy="1026943"/>
            </a:xfrm>
            <a:prstGeom prst="rect">
              <a:avLst/>
            </a:prstGeom>
          </p:spPr>
          <p:txBody>
            <a:bodyPr anchor="ctr" rtlCol="false" tIns="50800" lIns="50800" bIns="50800" rIns="50800"/>
            <a:lstStyle/>
            <a:p>
              <a:pPr algn="ctr">
                <a:lnSpc>
                  <a:spcPts val="2799"/>
                </a:lnSpc>
              </a:pPr>
            </a:p>
          </p:txBody>
        </p:sp>
      </p:grpSp>
      <p:sp>
        <p:nvSpPr>
          <p:cNvPr name="AutoShape 11" id="11"/>
          <p:cNvSpPr/>
          <p:nvPr/>
        </p:nvSpPr>
        <p:spPr>
          <a:xfrm>
            <a:off x="9478499" y="6088402"/>
            <a:ext cx="6969847" cy="0"/>
          </a:xfrm>
          <a:prstGeom prst="line">
            <a:avLst/>
          </a:prstGeom>
          <a:ln cap="flat" w="38100">
            <a:solidFill>
              <a:srgbClr val="EFF1E8"/>
            </a:solidFill>
            <a:prstDash val="solid"/>
            <a:headEnd type="none" len="sm" w="sm"/>
            <a:tailEnd type="none" len="sm" w="sm"/>
          </a:ln>
        </p:spPr>
      </p:sp>
      <p:sp>
        <p:nvSpPr>
          <p:cNvPr name="AutoShape 12" id="12"/>
          <p:cNvSpPr/>
          <p:nvPr/>
        </p:nvSpPr>
        <p:spPr>
          <a:xfrm>
            <a:off x="9478499" y="7015529"/>
            <a:ext cx="6969847" cy="0"/>
          </a:xfrm>
          <a:prstGeom prst="line">
            <a:avLst/>
          </a:prstGeom>
          <a:ln cap="flat" w="38100">
            <a:solidFill>
              <a:srgbClr val="EFF1E8"/>
            </a:solidFill>
            <a:prstDash val="solid"/>
            <a:headEnd type="none" len="sm" w="sm"/>
            <a:tailEnd type="none" len="sm" w="sm"/>
          </a:ln>
        </p:spPr>
      </p:sp>
      <p:sp>
        <p:nvSpPr>
          <p:cNvPr name="AutoShape 13" id="13"/>
          <p:cNvSpPr/>
          <p:nvPr/>
        </p:nvSpPr>
        <p:spPr>
          <a:xfrm>
            <a:off x="9478499" y="5313676"/>
            <a:ext cx="6969847" cy="0"/>
          </a:xfrm>
          <a:prstGeom prst="line">
            <a:avLst/>
          </a:prstGeom>
          <a:ln cap="flat" w="38100">
            <a:solidFill>
              <a:srgbClr val="EFF1E8"/>
            </a:solidFill>
            <a:prstDash val="solid"/>
            <a:headEnd type="none" len="sm" w="sm"/>
            <a:tailEnd type="none" len="sm" w="sm"/>
          </a:ln>
        </p:spPr>
      </p:sp>
      <p:sp>
        <p:nvSpPr>
          <p:cNvPr name="Freeform 14" id="14"/>
          <p:cNvSpPr/>
          <p:nvPr/>
        </p:nvSpPr>
        <p:spPr>
          <a:xfrm flipH="false" flipV="true" rot="0">
            <a:off x="1028700" y="1028700"/>
            <a:ext cx="1015236" cy="1015236"/>
          </a:xfrm>
          <a:custGeom>
            <a:avLst/>
            <a:gdLst/>
            <a:ahLst/>
            <a:cxnLst/>
            <a:rect r="r" b="b" t="t" l="l"/>
            <a:pathLst>
              <a:path h="1015236" w="1015236">
                <a:moveTo>
                  <a:pt x="0" y="1015236"/>
                </a:moveTo>
                <a:lnTo>
                  <a:pt x="1015236" y="1015236"/>
                </a:lnTo>
                <a:lnTo>
                  <a:pt x="1015236" y="0"/>
                </a:lnTo>
                <a:lnTo>
                  <a:pt x="0" y="0"/>
                </a:lnTo>
                <a:lnTo>
                  <a:pt x="0" y="101523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1839653" y="1123950"/>
            <a:ext cx="14608693" cy="2473910"/>
          </a:xfrm>
          <a:prstGeom prst="rect">
            <a:avLst/>
          </a:prstGeom>
        </p:spPr>
        <p:txBody>
          <a:bodyPr anchor="t" rtlCol="false" tIns="0" lIns="0" bIns="0" rIns="0">
            <a:spAutoFit/>
          </a:bodyPr>
          <a:lstStyle/>
          <a:p>
            <a:pPr algn="ctr">
              <a:lnSpc>
                <a:spcPts val="9679"/>
              </a:lnSpc>
            </a:pPr>
            <a:r>
              <a:rPr lang="en-US" b="true" sz="8799">
                <a:solidFill>
                  <a:srgbClr val="EFF1E8"/>
                </a:solidFill>
                <a:latin typeface="Montserrat Bold"/>
                <a:ea typeface="Montserrat Bold"/>
                <a:cs typeface="Montserrat Bold"/>
                <a:sym typeface="Montserrat Bold"/>
              </a:rPr>
              <a:t>Ri</a:t>
            </a:r>
            <a:r>
              <a:rPr lang="en-US" b="true" sz="8799">
                <a:solidFill>
                  <a:srgbClr val="EFF1E8"/>
                </a:solidFill>
                <a:latin typeface="Montserrat Bold"/>
                <a:ea typeface="Montserrat Bold"/>
                <a:cs typeface="Montserrat Bold"/>
                <a:sym typeface="Montserrat Bold"/>
              </a:rPr>
              <a:t>sk &amp; Opportunity Detection</a:t>
            </a:r>
          </a:p>
        </p:txBody>
      </p:sp>
      <p:sp>
        <p:nvSpPr>
          <p:cNvPr name="TextBox 16" id="16"/>
          <p:cNvSpPr txBox="true"/>
          <p:nvPr/>
        </p:nvSpPr>
        <p:spPr>
          <a:xfrm rot="0">
            <a:off x="1765738" y="4444763"/>
            <a:ext cx="6969847" cy="750520"/>
          </a:xfrm>
          <a:prstGeom prst="rect">
            <a:avLst/>
          </a:prstGeom>
        </p:spPr>
        <p:txBody>
          <a:bodyPr anchor="t" rtlCol="false" tIns="0" lIns="0" bIns="0" rIns="0">
            <a:spAutoFit/>
          </a:bodyPr>
          <a:lstStyle/>
          <a:p>
            <a:pPr algn="ctr">
              <a:lnSpc>
                <a:spcPts val="5880"/>
              </a:lnSpc>
              <a:spcBef>
                <a:spcPct val="0"/>
              </a:spcBef>
            </a:pPr>
            <a:r>
              <a:rPr lang="en-US" b="true" sz="4200">
                <a:solidFill>
                  <a:srgbClr val="EFF1E8"/>
                </a:solidFill>
                <a:latin typeface="Poppins Bold"/>
                <a:ea typeface="Poppins Bold"/>
                <a:cs typeface="Poppins Bold"/>
                <a:sym typeface="Poppins Bold"/>
              </a:rPr>
              <a:t>Risk Monitoring</a:t>
            </a:r>
          </a:p>
        </p:txBody>
      </p:sp>
      <p:sp>
        <p:nvSpPr>
          <p:cNvPr name="TextBox 17" id="17"/>
          <p:cNvSpPr txBox="true"/>
          <p:nvPr/>
        </p:nvSpPr>
        <p:spPr>
          <a:xfrm rot="0">
            <a:off x="2580713" y="5469712"/>
            <a:ext cx="5339897" cy="424790"/>
          </a:xfrm>
          <a:prstGeom prst="rect">
            <a:avLst/>
          </a:prstGeom>
        </p:spPr>
        <p:txBody>
          <a:bodyPr anchor="t" rtlCol="false" tIns="0" lIns="0" bIns="0" rIns="0">
            <a:spAutoFit/>
          </a:bodyPr>
          <a:lstStyle/>
          <a:p>
            <a:pPr algn="ctr">
              <a:lnSpc>
                <a:spcPts val="3359"/>
              </a:lnSpc>
              <a:spcBef>
                <a:spcPct val="0"/>
              </a:spcBef>
            </a:pPr>
            <a:r>
              <a:rPr lang="en-US" sz="2400">
                <a:solidFill>
                  <a:srgbClr val="EFF1E8"/>
                </a:solidFill>
                <a:latin typeface="Poppins"/>
                <a:ea typeface="Poppins"/>
                <a:cs typeface="Poppins"/>
                <a:sym typeface="Poppins"/>
              </a:rPr>
              <a:t>Early warning sales decline</a:t>
            </a:r>
          </a:p>
        </p:txBody>
      </p:sp>
      <p:sp>
        <p:nvSpPr>
          <p:cNvPr name="TextBox 18" id="18"/>
          <p:cNvSpPr txBox="true"/>
          <p:nvPr/>
        </p:nvSpPr>
        <p:spPr>
          <a:xfrm rot="0">
            <a:off x="2580713" y="6396838"/>
            <a:ext cx="5339897" cy="424790"/>
          </a:xfrm>
          <a:prstGeom prst="rect">
            <a:avLst/>
          </a:prstGeom>
        </p:spPr>
        <p:txBody>
          <a:bodyPr anchor="t" rtlCol="false" tIns="0" lIns="0" bIns="0" rIns="0">
            <a:spAutoFit/>
          </a:bodyPr>
          <a:lstStyle/>
          <a:p>
            <a:pPr algn="ctr">
              <a:lnSpc>
                <a:spcPts val="3359"/>
              </a:lnSpc>
              <a:spcBef>
                <a:spcPct val="0"/>
              </a:spcBef>
            </a:pPr>
            <a:r>
              <a:rPr lang="en-US" sz="2400">
                <a:solidFill>
                  <a:srgbClr val="EFF1E8"/>
                </a:solidFill>
                <a:latin typeface="Poppins"/>
                <a:ea typeface="Poppins"/>
                <a:cs typeface="Poppins"/>
                <a:sym typeface="Poppins"/>
              </a:rPr>
              <a:t>Underpe</a:t>
            </a:r>
            <a:r>
              <a:rPr lang="en-US" sz="2400">
                <a:solidFill>
                  <a:srgbClr val="EFF1E8"/>
                </a:solidFill>
                <a:latin typeface="Poppins"/>
                <a:ea typeface="Poppins"/>
                <a:cs typeface="Poppins"/>
                <a:sym typeface="Poppins"/>
              </a:rPr>
              <a:t>rforming categories</a:t>
            </a:r>
          </a:p>
        </p:txBody>
      </p:sp>
      <p:sp>
        <p:nvSpPr>
          <p:cNvPr name="TextBox 19" id="19"/>
          <p:cNvSpPr txBox="true"/>
          <p:nvPr/>
        </p:nvSpPr>
        <p:spPr>
          <a:xfrm rot="0">
            <a:off x="2580713" y="7171564"/>
            <a:ext cx="5339897" cy="424790"/>
          </a:xfrm>
          <a:prstGeom prst="rect">
            <a:avLst/>
          </a:prstGeom>
        </p:spPr>
        <p:txBody>
          <a:bodyPr anchor="t" rtlCol="false" tIns="0" lIns="0" bIns="0" rIns="0">
            <a:spAutoFit/>
          </a:bodyPr>
          <a:lstStyle/>
          <a:p>
            <a:pPr algn="ctr">
              <a:lnSpc>
                <a:spcPts val="3359"/>
              </a:lnSpc>
              <a:spcBef>
                <a:spcPct val="0"/>
              </a:spcBef>
            </a:pPr>
            <a:r>
              <a:rPr lang="en-US" sz="2400">
                <a:solidFill>
                  <a:srgbClr val="EFF1E8"/>
                </a:solidFill>
                <a:latin typeface="Poppins"/>
                <a:ea typeface="Poppins"/>
                <a:cs typeface="Poppins"/>
                <a:sym typeface="Poppins"/>
              </a:rPr>
              <a:t>Fin</a:t>
            </a:r>
            <a:r>
              <a:rPr lang="en-US" sz="2400">
                <a:solidFill>
                  <a:srgbClr val="EFF1E8"/>
                </a:solidFill>
                <a:latin typeface="Poppins"/>
                <a:ea typeface="Poppins"/>
                <a:cs typeface="Poppins"/>
                <a:sym typeface="Poppins"/>
              </a:rPr>
              <a:t>ancial risk exposure ↓ 15%</a:t>
            </a:r>
          </a:p>
        </p:txBody>
      </p:sp>
      <p:sp>
        <p:nvSpPr>
          <p:cNvPr name="TextBox 20" id="20"/>
          <p:cNvSpPr txBox="true"/>
          <p:nvPr/>
        </p:nvSpPr>
        <p:spPr>
          <a:xfrm rot="0">
            <a:off x="9478499" y="4431602"/>
            <a:ext cx="6969847" cy="750520"/>
          </a:xfrm>
          <a:prstGeom prst="rect">
            <a:avLst/>
          </a:prstGeom>
        </p:spPr>
        <p:txBody>
          <a:bodyPr anchor="t" rtlCol="false" tIns="0" lIns="0" bIns="0" rIns="0">
            <a:spAutoFit/>
          </a:bodyPr>
          <a:lstStyle/>
          <a:p>
            <a:pPr algn="ctr">
              <a:lnSpc>
                <a:spcPts val="5880"/>
              </a:lnSpc>
              <a:spcBef>
                <a:spcPct val="0"/>
              </a:spcBef>
            </a:pPr>
            <a:r>
              <a:rPr lang="en-US" b="true" sz="4200">
                <a:solidFill>
                  <a:srgbClr val="EFF1E8"/>
                </a:solidFill>
                <a:latin typeface="Poppins Bold"/>
                <a:ea typeface="Poppins Bold"/>
                <a:cs typeface="Poppins Bold"/>
                <a:sym typeface="Poppins Bold"/>
              </a:rPr>
              <a:t>Opp</a:t>
            </a:r>
            <a:r>
              <a:rPr lang="en-US" b="true" sz="4200">
                <a:solidFill>
                  <a:srgbClr val="EFF1E8"/>
                </a:solidFill>
                <a:latin typeface="Poppins Bold"/>
                <a:ea typeface="Poppins Bold"/>
                <a:cs typeface="Poppins Bold"/>
                <a:sym typeface="Poppins Bold"/>
              </a:rPr>
              <a:t>ortunity Discovery</a:t>
            </a:r>
          </a:p>
        </p:txBody>
      </p:sp>
      <p:sp>
        <p:nvSpPr>
          <p:cNvPr name="TextBox 21" id="21"/>
          <p:cNvSpPr txBox="true"/>
          <p:nvPr/>
        </p:nvSpPr>
        <p:spPr>
          <a:xfrm rot="0">
            <a:off x="10293474" y="5456551"/>
            <a:ext cx="5339897" cy="424790"/>
          </a:xfrm>
          <a:prstGeom prst="rect">
            <a:avLst/>
          </a:prstGeom>
        </p:spPr>
        <p:txBody>
          <a:bodyPr anchor="t" rtlCol="false" tIns="0" lIns="0" bIns="0" rIns="0">
            <a:spAutoFit/>
          </a:bodyPr>
          <a:lstStyle/>
          <a:p>
            <a:pPr algn="ctr">
              <a:lnSpc>
                <a:spcPts val="3359"/>
              </a:lnSpc>
              <a:spcBef>
                <a:spcPct val="0"/>
              </a:spcBef>
            </a:pPr>
            <a:r>
              <a:rPr lang="en-US" sz="2400">
                <a:solidFill>
                  <a:srgbClr val="EFF1E8"/>
                </a:solidFill>
                <a:latin typeface="Poppins"/>
                <a:ea typeface="Poppins"/>
                <a:cs typeface="Poppins"/>
                <a:sym typeface="Poppins"/>
              </a:rPr>
              <a:t>Emerging customer segments</a:t>
            </a:r>
          </a:p>
        </p:txBody>
      </p:sp>
      <p:sp>
        <p:nvSpPr>
          <p:cNvPr name="TextBox 22" id="22"/>
          <p:cNvSpPr txBox="true"/>
          <p:nvPr/>
        </p:nvSpPr>
        <p:spPr>
          <a:xfrm rot="0">
            <a:off x="10293474" y="6383677"/>
            <a:ext cx="5339897" cy="424790"/>
          </a:xfrm>
          <a:prstGeom prst="rect">
            <a:avLst/>
          </a:prstGeom>
        </p:spPr>
        <p:txBody>
          <a:bodyPr anchor="t" rtlCol="false" tIns="0" lIns="0" bIns="0" rIns="0">
            <a:spAutoFit/>
          </a:bodyPr>
          <a:lstStyle/>
          <a:p>
            <a:pPr algn="ctr">
              <a:lnSpc>
                <a:spcPts val="3359"/>
              </a:lnSpc>
              <a:spcBef>
                <a:spcPct val="0"/>
              </a:spcBef>
            </a:pPr>
            <a:r>
              <a:rPr lang="en-US" sz="2400">
                <a:solidFill>
                  <a:srgbClr val="EFF1E8"/>
                </a:solidFill>
                <a:latin typeface="Poppins"/>
                <a:ea typeface="Poppins"/>
                <a:cs typeface="Poppins"/>
                <a:sym typeface="Poppins"/>
              </a:rPr>
              <a:t>New gr</a:t>
            </a:r>
            <a:r>
              <a:rPr lang="en-US" sz="2400">
                <a:solidFill>
                  <a:srgbClr val="EFF1E8"/>
                </a:solidFill>
                <a:latin typeface="Poppins"/>
                <a:ea typeface="Poppins"/>
                <a:cs typeface="Poppins"/>
                <a:sym typeface="Poppins"/>
              </a:rPr>
              <a:t>owth channels</a:t>
            </a:r>
          </a:p>
        </p:txBody>
      </p:sp>
      <p:sp>
        <p:nvSpPr>
          <p:cNvPr name="TextBox 23" id="23"/>
          <p:cNvSpPr txBox="true"/>
          <p:nvPr/>
        </p:nvSpPr>
        <p:spPr>
          <a:xfrm rot="0">
            <a:off x="10293474" y="7158404"/>
            <a:ext cx="5339897" cy="424790"/>
          </a:xfrm>
          <a:prstGeom prst="rect">
            <a:avLst/>
          </a:prstGeom>
        </p:spPr>
        <p:txBody>
          <a:bodyPr anchor="t" rtlCol="false" tIns="0" lIns="0" bIns="0" rIns="0">
            <a:spAutoFit/>
          </a:bodyPr>
          <a:lstStyle/>
          <a:p>
            <a:pPr algn="ctr">
              <a:lnSpc>
                <a:spcPts val="3359"/>
              </a:lnSpc>
              <a:spcBef>
                <a:spcPct val="0"/>
              </a:spcBef>
            </a:pPr>
            <a:r>
              <a:rPr lang="en-US" sz="2400">
                <a:solidFill>
                  <a:srgbClr val="EFF1E8"/>
                </a:solidFill>
                <a:latin typeface="Poppins"/>
                <a:ea typeface="Poppins"/>
                <a:cs typeface="Poppins"/>
                <a:sym typeface="Poppins"/>
              </a:rPr>
              <a:t>M</a:t>
            </a:r>
            <a:r>
              <a:rPr lang="en-US" sz="2400">
                <a:solidFill>
                  <a:srgbClr val="EFF1E8"/>
                </a:solidFill>
                <a:latin typeface="Poppins"/>
                <a:ea typeface="Poppins"/>
                <a:cs typeface="Poppins"/>
                <a:sym typeface="Poppins"/>
              </a:rPr>
              <a:t>arket expansion insights</a:t>
            </a:r>
          </a:p>
        </p:txBody>
      </p:sp>
      <p:sp>
        <p:nvSpPr>
          <p:cNvPr name="TextBox 24" id="24"/>
          <p:cNvSpPr txBox="true"/>
          <p:nvPr/>
        </p:nvSpPr>
        <p:spPr>
          <a:xfrm rot="0">
            <a:off x="5735620" y="8298715"/>
            <a:ext cx="6816759" cy="358825"/>
          </a:xfrm>
          <a:prstGeom prst="rect">
            <a:avLst/>
          </a:prstGeom>
        </p:spPr>
        <p:txBody>
          <a:bodyPr anchor="t" rtlCol="false" tIns="0" lIns="0" bIns="0" rIns="0">
            <a:spAutoFit/>
          </a:bodyPr>
          <a:lstStyle/>
          <a:p>
            <a:pPr algn="ctr">
              <a:lnSpc>
                <a:spcPts val="2799"/>
              </a:lnSpc>
              <a:spcBef>
                <a:spcPct val="0"/>
              </a:spcBef>
            </a:pPr>
            <a:r>
              <a:rPr lang="en-US" sz="1999">
                <a:solidFill>
                  <a:srgbClr val="EFF1E8"/>
                </a:solidFill>
                <a:latin typeface="Poppins"/>
                <a:ea typeface="Poppins"/>
                <a:cs typeface="Poppins"/>
                <a:sym typeface="Poppins"/>
              </a:rPr>
              <a:t>Balancing Protection and Growth Through Data</a:t>
            </a:r>
          </a:p>
        </p:txBody>
      </p:sp>
      <p:sp>
        <p:nvSpPr>
          <p:cNvPr name="Freeform 25" id="25"/>
          <p:cNvSpPr/>
          <p:nvPr/>
        </p:nvSpPr>
        <p:spPr>
          <a:xfrm flipH="true" flipV="true" rot="0">
            <a:off x="16244064" y="1028700"/>
            <a:ext cx="1015236" cy="1015236"/>
          </a:xfrm>
          <a:custGeom>
            <a:avLst/>
            <a:gdLst/>
            <a:ahLst/>
            <a:cxnLst/>
            <a:rect r="r" b="b" t="t" l="l"/>
            <a:pathLst>
              <a:path h="1015236" w="1015236">
                <a:moveTo>
                  <a:pt x="1015236" y="1015236"/>
                </a:moveTo>
                <a:lnTo>
                  <a:pt x="0" y="1015236"/>
                </a:lnTo>
                <a:lnTo>
                  <a:pt x="0" y="0"/>
                </a:lnTo>
                <a:lnTo>
                  <a:pt x="1015236" y="0"/>
                </a:lnTo>
                <a:lnTo>
                  <a:pt x="1015236" y="1015236"/>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FF1E8"/>
        </a:solidFill>
      </p:bgPr>
    </p:bg>
    <p:spTree>
      <p:nvGrpSpPr>
        <p:cNvPr id="1" name=""/>
        <p:cNvGrpSpPr/>
        <p:nvPr/>
      </p:nvGrpSpPr>
      <p:grpSpPr>
        <a:xfrm>
          <a:off x="0" y="0"/>
          <a:ext cx="0" cy="0"/>
          <a:chOff x="0" y="0"/>
          <a:chExt cx="0" cy="0"/>
        </a:xfrm>
      </p:grpSpPr>
      <p:grpSp>
        <p:nvGrpSpPr>
          <p:cNvPr name="Group 2" id="2"/>
          <p:cNvGrpSpPr/>
          <p:nvPr/>
        </p:nvGrpSpPr>
        <p:grpSpPr>
          <a:xfrm rot="0">
            <a:off x="9809532" y="-175720"/>
            <a:ext cx="7449768" cy="10725410"/>
            <a:chOff x="0" y="0"/>
            <a:chExt cx="1154164" cy="1661647"/>
          </a:xfrm>
        </p:grpSpPr>
        <p:sp>
          <p:nvSpPr>
            <p:cNvPr name="Freeform 3" id="3"/>
            <p:cNvSpPr/>
            <p:nvPr/>
          </p:nvSpPr>
          <p:spPr>
            <a:xfrm flipH="false" flipV="false" rot="0">
              <a:off x="0" y="0"/>
              <a:ext cx="1154164" cy="1661647"/>
            </a:xfrm>
            <a:custGeom>
              <a:avLst/>
              <a:gdLst/>
              <a:ahLst/>
              <a:cxnLst/>
              <a:rect r="r" b="b" t="t" l="l"/>
              <a:pathLst>
                <a:path h="1661647" w="1154164">
                  <a:moveTo>
                    <a:pt x="0" y="0"/>
                  </a:moveTo>
                  <a:lnTo>
                    <a:pt x="1154164" y="0"/>
                  </a:lnTo>
                  <a:lnTo>
                    <a:pt x="1154164" y="1661647"/>
                  </a:lnTo>
                  <a:lnTo>
                    <a:pt x="0" y="1661647"/>
                  </a:lnTo>
                  <a:close/>
                </a:path>
              </a:pathLst>
            </a:custGeom>
            <a:blipFill>
              <a:blip r:embed="rId2"/>
              <a:stretch>
                <a:fillRect l="-57879" t="0" r="-57879" b="0"/>
              </a:stretch>
            </a:blipFill>
          </p:spPr>
        </p:sp>
      </p:grpSp>
      <p:sp>
        <p:nvSpPr>
          <p:cNvPr name="Freeform 4" id="4"/>
          <p:cNvSpPr/>
          <p:nvPr/>
        </p:nvSpPr>
        <p:spPr>
          <a:xfrm flipH="false" flipV="false" rot="0">
            <a:off x="-877592" y="849228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028700" y="1123950"/>
            <a:ext cx="7795185" cy="2473910"/>
          </a:xfrm>
          <a:prstGeom prst="rect">
            <a:avLst/>
          </a:prstGeom>
        </p:spPr>
        <p:txBody>
          <a:bodyPr anchor="t" rtlCol="false" tIns="0" lIns="0" bIns="0" rIns="0">
            <a:spAutoFit/>
          </a:bodyPr>
          <a:lstStyle/>
          <a:p>
            <a:pPr algn="l">
              <a:lnSpc>
                <a:spcPts val="9679"/>
              </a:lnSpc>
            </a:pPr>
            <a:r>
              <a:rPr lang="en-US" sz="8799" b="true">
                <a:solidFill>
                  <a:srgbClr val="343734"/>
                </a:solidFill>
                <a:latin typeface="Montserrat Bold"/>
                <a:ea typeface="Montserrat Bold"/>
                <a:cs typeface="Montserrat Bold"/>
                <a:sym typeface="Montserrat Bold"/>
              </a:rPr>
              <a:t>F</a:t>
            </a:r>
            <a:r>
              <a:rPr lang="en-US" b="true" sz="8799">
                <a:solidFill>
                  <a:srgbClr val="343734"/>
                </a:solidFill>
                <a:latin typeface="Montserrat Bold"/>
                <a:ea typeface="Montserrat Bold"/>
                <a:cs typeface="Montserrat Bold"/>
                <a:sym typeface="Montserrat Bold"/>
              </a:rPr>
              <a:t>inal Conclusion</a:t>
            </a:r>
          </a:p>
        </p:txBody>
      </p:sp>
      <p:sp>
        <p:nvSpPr>
          <p:cNvPr name="TextBox 6" id="6"/>
          <p:cNvSpPr txBox="true"/>
          <p:nvPr/>
        </p:nvSpPr>
        <p:spPr>
          <a:xfrm rot="0">
            <a:off x="1028700" y="4039294"/>
            <a:ext cx="7140660" cy="3540621"/>
          </a:xfrm>
          <a:prstGeom prst="rect">
            <a:avLst/>
          </a:prstGeom>
        </p:spPr>
        <p:txBody>
          <a:bodyPr anchor="t" rtlCol="false" tIns="0" lIns="0" bIns="0" rIns="0">
            <a:spAutoFit/>
          </a:bodyPr>
          <a:lstStyle/>
          <a:p>
            <a:pPr algn="just">
              <a:lnSpc>
                <a:spcPts val="2800"/>
              </a:lnSpc>
              <a:spcBef>
                <a:spcPct val="0"/>
              </a:spcBef>
            </a:pPr>
            <a:r>
              <a:rPr lang="en-US" sz="2000">
                <a:solidFill>
                  <a:srgbClr val="343734"/>
                </a:solidFill>
                <a:latin typeface="Poppins"/>
                <a:ea typeface="Poppins"/>
                <a:cs typeface="Poppins"/>
                <a:sym typeface="Poppins"/>
              </a:rPr>
              <a:t>Lorem Ipsum tempor ad aliquip eiusmod occaecat adipisicing ipsum et officia excepteur officia enim in fugiat Lorem proident esse duis ad magna dolore ad ut cupidatat eu aliqua laboris enim commodo ut cupidatat duis cupidatat do laboris labore ad dolor Lorem Ipsum tempor ad aliquip eiusmod occaecat adipisicing ipsum et officia excepteur officia enim in fugiat Lorem proident esse duis ad magna dolore ad ut cupidatat eu aliqua laboris enim commodo ut cupidatat duis cupidatat do laboris labore ad dolor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70A1BD"/>
        </a:solidFill>
      </p:bgPr>
    </p:bg>
    <p:spTree>
      <p:nvGrpSpPr>
        <p:cNvPr id="1" name=""/>
        <p:cNvGrpSpPr/>
        <p:nvPr/>
      </p:nvGrpSpPr>
      <p:grpSpPr>
        <a:xfrm>
          <a:off x="0" y="0"/>
          <a:ext cx="0" cy="0"/>
          <a:chOff x="0" y="0"/>
          <a:chExt cx="0" cy="0"/>
        </a:xfrm>
      </p:grpSpPr>
      <p:grpSp>
        <p:nvGrpSpPr>
          <p:cNvPr name="Group 2" id="2"/>
          <p:cNvGrpSpPr/>
          <p:nvPr/>
        </p:nvGrpSpPr>
        <p:grpSpPr>
          <a:xfrm rot="0">
            <a:off x="13059161" y="-353316"/>
            <a:ext cx="5954157" cy="11239916"/>
            <a:chOff x="0" y="0"/>
            <a:chExt cx="1568173" cy="2960307"/>
          </a:xfrm>
        </p:grpSpPr>
        <p:sp>
          <p:nvSpPr>
            <p:cNvPr name="Freeform 3" id="3"/>
            <p:cNvSpPr/>
            <p:nvPr/>
          </p:nvSpPr>
          <p:spPr>
            <a:xfrm flipH="false" flipV="false" rot="0">
              <a:off x="0" y="0"/>
              <a:ext cx="1568173" cy="2960307"/>
            </a:xfrm>
            <a:custGeom>
              <a:avLst/>
              <a:gdLst/>
              <a:ahLst/>
              <a:cxnLst/>
              <a:rect r="r" b="b" t="t" l="l"/>
              <a:pathLst>
                <a:path h="2960307" w="1568173">
                  <a:moveTo>
                    <a:pt x="0" y="0"/>
                  </a:moveTo>
                  <a:lnTo>
                    <a:pt x="1568173" y="0"/>
                  </a:lnTo>
                  <a:lnTo>
                    <a:pt x="1568173" y="2960307"/>
                  </a:lnTo>
                  <a:lnTo>
                    <a:pt x="0" y="2960307"/>
                  </a:lnTo>
                  <a:close/>
                </a:path>
              </a:pathLst>
            </a:custGeom>
            <a:solidFill>
              <a:srgbClr val="EFF1E8"/>
            </a:solidFill>
          </p:spPr>
        </p:sp>
        <p:sp>
          <p:nvSpPr>
            <p:cNvPr name="TextBox 4" id="4"/>
            <p:cNvSpPr txBox="true"/>
            <p:nvPr/>
          </p:nvSpPr>
          <p:spPr>
            <a:xfrm>
              <a:off x="0" y="-57150"/>
              <a:ext cx="1568173" cy="3017457"/>
            </a:xfrm>
            <a:prstGeom prst="rect">
              <a:avLst/>
            </a:prstGeom>
          </p:spPr>
          <p:txBody>
            <a:bodyPr anchor="ctr" rtlCol="false" tIns="50800" lIns="50800" bIns="50800" rIns="50800"/>
            <a:lstStyle/>
            <a:p>
              <a:pPr algn="ctr">
                <a:lnSpc>
                  <a:spcPts val="2799"/>
                </a:lnSpc>
              </a:pPr>
            </a:p>
          </p:txBody>
        </p:sp>
      </p:grpSp>
      <p:grpSp>
        <p:nvGrpSpPr>
          <p:cNvPr name="Group 5" id="5"/>
          <p:cNvGrpSpPr/>
          <p:nvPr/>
        </p:nvGrpSpPr>
        <p:grpSpPr>
          <a:xfrm rot="0">
            <a:off x="1028700" y="6519658"/>
            <a:ext cx="7613364" cy="576205"/>
            <a:chOff x="0" y="0"/>
            <a:chExt cx="2005166" cy="151758"/>
          </a:xfrm>
        </p:grpSpPr>
        <p:sp>
          <p:nvSpPr>
            <p:cNvPr name="Freeform 6" id="6"/>
            <p:cNvSpPr/>
            <p:nvPr/>
          </p:nvSpPr>
          <p:spPr>
            <a:xfrm flipH="false" flipV="false" rot="0">
              <a:off x="0" y="0"/>
              <a:ext cx="2005166" cy="151758"/>
            </a:xfrm>
            <a:custGeom>
              <a:avLst/>
              <a:gdLst/>
              <a:ahLst/>
              <a:cxnLst/>
              <a:rect r="r" b="b" t="t" l="l"/>
              <a:pathLst>
                <a:path h="151758" w="2005166">
                  <a:moveTo>
                    <a:pt x="0" y="0"/>
                  </a:moveTo>
                  <a:lnTo>
                    <a:pt x="2005166" y="0"/>
                  </a:lnTo>
                  <a:lnTo>
                    <a:pt x="2005166" y="151758"/>
                  </a:lnTo>
                  <a:lnTo>
                    <a:pt x="0" y="151758"/>
                  </a:lnTo>
                  <a:close/>
                </a:path>
              </a:pathLst>
            </a:custGeom>
            <a:ln w="38100" cap="sq">
              <a:solidFill>
                <a:srgbClr val="EFF1E8"/>
              </a:solidFill>
              <a:prstDash val="solid"/>
              <a:miter/>
            </a:ln>
          </p:spPr>
        </p:sp>
        <p:sp>
          <p:nvSpPr>
            <p:cNvPr name="TextBox 7" id="7"/>
            <p:cNvSpPr txBox="true"/>
            <p:nvPr/>
          </p:nvSpPr>
          <p:spPr>
            <a:xfrm>
              <a:off x="0" y="-57150"/>
              <a:ext cx="2005166" cy="208908"/>
            </a:xfrm>
            <a:prstGeom prst="rect">
              <a:avLst/>
            </a:prstGeom>
          </p:spPr>
          <p:txBody>
            <a:bodyPr anchor="ctr" rtlCol="false" tIns="50800" lIns="50800" bIns="50800" rIns="50800"/>
            <a:lstStyle/>
            <a:p>
              <a:pPr algn="ctr">
                <a:lnSpc>
                  <a:spcPts val="2799"/>
                </a:lnSpc>
              </a:pPr>
            </a:p>
          </p:txBody>
        </p:sp>
      </p:grpSp>
      <p:sp>
        <p:nvSpPr>
          <p:cNvPr name="Freeform 8" id="8"/>
          <p:cNvSpPr/>
          <p:nvPr/>
        </p:nvSpPr>
        <p:spPr>
          <a:xfrm flipH="false" flipV="false" rot="0">
            <a:off x="9637891" y="2754659"/>
            <a:ext cx="7621409" cy="4901354"/>
          </a:xfrm>
          <a:custGeom>
            <a:avLst/>
            <a:gdLst/>
            <a:ahLst/>
            <a:cxnLst/>
            <a:rect r="r" b="b" t="t" l="l"/>
            <a:pathLst>
              <a:path h="4901354" w="7621409">
                <a:moveTo>
                  <a:pt x="0" y="0"/>
                </a:moveTo>
                <a:lnTo>
                  <a:pt x="7621409" y="0"/>
                </a:lnTo>
                <a:lnTo>
                  <a:pt x="7621409" y="4901354"/>
                </a:lnTo>
                <a:lnTo>
                  <a:pt x="0" y="49013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721876"/>
            <a:ext cx="10020426" cy="5388469"/>
          </a:xfrm>
          <a:prstGeom prst="rect">
            <a:avLst/>
          </a:prstGeom>
        </p:spPr>
        <p:txBody>
          <a:bodyPr anchor="t" rtlCol="false" tIns="0" lIns="0" bIns="0" rIns="0">
            <a:spAutoFit/>
          </a:bodyPr>
          <a:lstStyle/>
          <a:p>
            <a:pPr algn="l">
              <a:lnSpc>
                <a:spcPts val="20857"/>
              </a:lnSpc>
            </a:pPr>
            <a:r>
              <a:rPr lang="en-US" sz="19864" b="true">
                <a:solidFill>
                  <a:srgbClr val="EFF1E8"/>
                </a:solidFill>
                <a:latin typeface="Montserrat Bold"/>
                <a:ea typeface="Montserrat Bold"/>
                <a:cs typeface="Montserrat Bold"/>
                <a:sym typeface="Montserrat Bold"/>
              </a:rPr>
              <a:t>Th</a:t>
            </a:r>
            <a:r>
              <a:rPr lang="en-US" b="true" sz="19864">
                <a:solidFill>
                  <a:srgbClr val="EFF1E8"/>
                </a:solidFill>
                <a:latin typeface="Montserrat Bold"/>
                <a:ea typeface="Montserrat Bold"/>
                <a:cs typeface="Montserrat Bold"/>
                <a:sym typeface="Montserrat Bold"/>
              </a:rPr>
              <a:t>ank You</a:t>
            </a:r>
          </a:p>
        </p:txBody>
      </p:sp>
      <p:sp>
        <p:nvSpPr>
          <p:cNvPr name="Freeform 10" id="10"/>
          <p:cNvSpPr/>
          <p:nvPr/>
        </p:nvSpPr>
        <p:spPr>
          <a:xfrm flipH="false" flipV="false" rot="0">
            <a:off x="1028700" y="8622875"/>
            <a:ext cx="635425" cy="635425"/>
          </a:xfrm>
          <a:custGeom>
            <a:avLst/>
            <a:gdLst/>
            <a:ahLst/>
            <a:cxnLst/>
            <a:rect r="r" b="b" t="t" l="l"/>
            <a:pathLst>
              <a:path h="635425" w="635425">
                <a:moveTo>
                  <a:pt x="0" y="0"/>
                </a:moveTo>
                <a:lnTo>
                  <a:pt x="635425" y="0"/>
                </a:lnTo>
                <a:lnTo>
                  <a:pt x="635425" y="635425"/>
                </a:lnTo>
                <a:lnTo>
                  <a:pt x="0" y="6354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028700" y="5902358"/>
            <a:ext cx="6595674" cy="358825"/>
          </a:xfrm>
          <a:prstGeom prst="rect">
            <a:avLst/>
          </a:prstGeom>
        </p:spPr>
        <p:txBody>
          <a:bodyPr anchor="t" rtlCol="false" tIns="0" lIns="0" bIns="0" rIns="0">
            <a:spAutoFit/>
          </a:bodyPr>
          <a:lstStyle/>
          <a:p>
            <a:pPr algn="l">
              <a:lnSpc>
                <a:spcPts val="2799"/>
              </a:lnSpc>
              <a:spcBef>
                <a:spcPct val="0"/>
              </a:spcBef>
            </a:pPr>
            <a:r>
              <a:rPr lang="en-US" sz="1999" spc="345">
                <a:solidFill>
                  <a:srgbClr val="EFF1E8"/>
                </a:solidFill>
                <a:latin typeface="Poppins"/>
                <a:ea typeface="Poppins"/>
                <a:cs typeface="Poppins"/>
                <a:sym typeface="Poppins"/>
              </a:rPr>
              <a:t>Thank you for your attention</a:t>
            </a:r>
          </a:p>
        </p:txBody>
      </p:sp>
      <p:sp>
        <p:nvSpPr>
          <p:cNvPr name="TextBox 12" id="12"/>
          <p:cNvSpPr txBox="true"/>
          <p:nvPr/>
        </p:nvSpPr>
        <p:spPr>
          <a:xfrm rot="0">
            <a:off x="571812" y="6562028"/>
            <a:ext cx="8227076" cy="424790"/>
          </a:xfrm>
          <a:prstGeom prst="rect">
            <a:avLst/>
          </a:prstGeom>
        </p:spPr>
        <p:txBody>
          <a:bodyPr anchor="t" rtlCol="false" tIns="0" lIns="0" bIns="0" rIns="0">
            <a:spAutoFit/>
          </a:bodyPr>
          <a:lstStyle/>
          <a:p>
            <a:pPr algn="ctr">
              <a:lnSpc>
                <a:spcPts val="3359"/>
              </a:lnSpc>
              <a:spcBef>
                <a:spcPct val="0"/>
              </a:spcBef>
            </a:pPr>
            <a:r>
              <a:rPr lang="en-US" sz="2400" spc="297">
                <a:solidFill>
                  <a:srgbClr val="EFF1E8"/>
                </a:solidFill>
                <a:latin typeface="Poppins"/>
                <a:ea typeface="Poppins"/>
                <a:cs typeface="Poppins"/>
                <a:sym typeface="Poppins"/>
              </a:rPr>
              <a:t>Let’s build smarter decisions together</a:t>
            </a:r>
          </a:p>
        </p:txBody>
      </p:sp>
      <p:sp>
        <p:nvSpPr>
          <p:cNvPr name="TextBox 13" id="13"/>
          <p:cNvSpPr txBox="true"/>
          <p:nvPr/>
        </p:nvSpPr>
        <p:spPr>
          <a:xfrm rot="0">
            <a:off x="1028700" y="7448026"/>
            <a:ext cx="5282524" cy="358825"/>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Contact: hello@reallygreatsite.com</a:t>
            </a:r>
          </a:p>
        </p:txBody>
      </p:sp>
      <p:sp>
        <p:nvSpPr>
          <p:cNvPr name="TextBox 14" id="14"/>
          <p:cNvSpPr txBox="true"/>
          <p:nvPr/>
        </p:nvSpPr>
        <p:spPr>
          <a:xfrm rot="0">
            <a:off x="1028700" y="8006875"/>
            <a:ext cx="5282524" cy="358825"/>
          </a:xfrm>
          <a:prstGeom prst="rect">
            <a:avLst/>
          </a:prstGeom>
        </p:spPr>
        <p:txBody>
          <a:bodyPr anchor="t" rtlCol="false" tIns="0" lIns="0" bIns="0" rIns="0">
            <a:spAutoFit/>
          </a:bodyPr>
          <a:lstStyle/>
          <a:p>
            <a:pPr algn="l">
              <a:lnSpc>
                <a:spcPts val="2799"/>
              </a:lnSpc>
              <a:spcBef>
                <a:spcPct val="0"/>
              </a:spcBef>
            </a:pPr>
            <a:r>
              <a:rPr lang="en-US" sz="1999">
                <a:solidFill>
                  <a:srgbClr val="EFF1E8"/>
                </a:solidFill>
                <a:latin typeface="Poppins"/>
                <a:ea typeface="Poppins"/>
                <a:cs typeface="Poppins"/>
                <a:sym typeface="Poppins"/>
              </a:rPr>
              <a:t>+123-456-7890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DAHH7gxH31w</dc:identifier>
  <dcterms:modified xsi:type="dcterms:W3CDTF">2011-08-01T06:04:30Z</dcterms:modified>
  <cp:revision>1</cp:revision>
</cp:coreProperties>
</file>