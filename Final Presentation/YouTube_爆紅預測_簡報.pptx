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8"/>
  </p:notesMasterIdLst>
  <p:sldIdLst>
    <p:sldId id="302" r:id="rId2"/>
    <p:sldId id="303" r:id="rId3"/>
    <p:sldId id="367" r:id="rId4"/>
    <p:sldId id="368" r:id="rId5"/>
    <p:sldId id="306" r:id="rId6"/>
    <p:sldId id="307" r:id="rId7"/>
    <p:sldId id="349" r:id="rId8"/>
    <p:sldId id="309" r:id="rId9"/>
    <p:sldId id="369" r:id="rId10"/>
    <p:sldId id="370" r:id="rId11"/>
    <p:sldId id="312" r:id="rId12"/>
    <p:sldId id="371" r:id="rId13"/>
    <p:sldId id="314" r:id="rId14"/>
    <p:sldId id="315" r:id="rId15"/>
    <p:sldId id="353" r:id="rId16"/>
    <p:sldId id="372" r:id="rId17"/>
    <p:sldId id="318" r:id="rId18"/>
    <p:sldId id="373" r:id="rId19"/>
    <p:sldId id="356" r:id="rId20"/>
    <p:sldId id="321" r:id="rId21"/>
    <p:sldId id="357" r:id="rId22"/>
    <p:sldId id="323" r:id="rId23"/>
    <p:sldId id="324" r:id="rId24"/>
    <p:sldId id="358" r:id="rId25"/>
    <p:sldId id="326" r:id="rId26"/>
    <p:sldId id="359" r:id="rId27"/>
    <p:sldId id="328" r:id="rId28"/>
    <p:sldId id="329" r:id="rId29"/>
    <p:sldId id="330" r:id="rId30"/>
    <p:sldId id="374" r:id="rId31"/>
    <p:sldId id="332" r:id="rId32"/>
    <p:sldId id="333" r:id="rId33"/>
    <p:sldId id="361" r:id="rId34"/>
    <p:sldId id="375" r:id="rId35"/>
    <p:sldId id="336" r:id="rId36"/>
    <p:sldId id="376" r:id="rId37"/>
    <p:sldId id="338" r:id="rId38"/>
    <p:sldId id="377" r:id="rId39"/>
    <p:sldId id="340" r:id="rId40"/>
    <p:sldId id="341" r:id="rId41"/>
    <p:sldId id="378" r:id="rId42"/>
    <p:sldId id="343" r:id="rId43"/>
    <p:sldId id="379" r:id="rId44"/>
    <p:sldId id="345" r:id="rId45"/>
    <p:sldId id="300" r:id="rId46"/>
    <p:sldId id="346" r:id="rId4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8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1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0C-4246-9BAC-168E7622A064}"/>
              </c:ext>
            </c:extLst>
          </c:dPt>
          <c:dPt>
            <c:idx val="1"/>
            <c:bubble3D val="0"/>
            <c:spPr>
              <a:solidFill>
                <a:srgbClr val="4E51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0C-4246-9BAC-168E7622A064}"/>
              </c:ext>
            </c:extLst>
          </c:dPt>
          <c:cat>
            <c:strRef>
              <c:f>Sheet1!$A$2:$A$3</c:f>
              <c:strCache>
                <c:ptCount val="2"/>
                <c:pt idx="0">
                  <c:v>有留言情緒</c:v>
                </c:pt>
                <c:pt idx="1">
                  <c:v>其餘填 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0C-4246-9BAC-168E7622A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EFF1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20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讓封面停留 5 秒不開口。聽眾讀完標題後說：「我們想回答一個問題——」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「你剛上傳了一支影片，三小時過去了。左邊這支有 184 個觀看，右邊這支有 1,312 個。」
「48 小時後，右邊達到爆紅門檻，左邊沒有。這 7 倍的差距——在第 3 小時就已經出現了。」
「我們想問的是：這個差距能被預測嗎？」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「第一個任務是分類——用前 3 小時預測 48 小時爆紅。」
「資料只有 12.6% 是爆紅，這是個嚴重的類別不平衡問題。」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「第二個任務是迴歸——用前 48 小時預測接下來 24 小時的新增觀看。」
「目標值取 log 壓縮長尾分布。」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（不說話，讓聽眾看章節切換）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「我們建了一套爬蟲，蒐集三層資料。」
「第一層是靜態資訊，發布時爬一次就夠。第二層是時序快照，追蹤五個時間點。第三層是留言，只取 0–3 小時以內的留言，確保不洩漏未來資訊。」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「最終蒐集到的資料規模：1,916 支分類樣本、2,394 支迴歸樣本，時序觀測共 33,895 筆，其中 642 支影片有完整的留言情緒資料。」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「判斷一支影片是不是 Shorts，我們用 HTTP redirect 行為：對 /shorts/{id} 發請求，回 200 是 Shorts，回 303 redirect 是一般影片。」
「這個欄位同時也是模型特徵和切分依據。」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「建爬蟲遇到最大的問題不是技術，是策略。」
「我們最初用 Explore 和 Channel 來發現影片，結果爬了超過一萬支，卻只有 202 支有完整的 0–3 小時資料——1.97%。」
「問題在於：影片被發現的時候，平均已經過了 30 分鐘，早就錯過時間窗口了。」
「解法是改成 fresh_search，再加上本地過濾，只追蹤 5 分鐘以內剛上傳的影片。」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「這是資料集的影片類別分布。Entertainment 最多，但我們的資料涵蓋 Gaming、Music、People &amp; Blogs 等多種類型，不是單一領域。」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「這張圖是 viral 和 non-viral 影片的成長曲線。」
「注意看：在 3 小時這條線左邊，兩條曲線就已經開始分歧了——這就是為什麼 3 小時的資料有預測力。」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「觀看數的分布非常右偏，x 軸要用 log 尺度才看得清楚。」
「更重要的是：Shorts 和長影片的曲線形狀差很多——這就是為什麼我們的資料切分必須分開處理。」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「前處理分成六個步驟，接下來我們一步一步看。」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「爆紅的定義，我們刻意設計成相對性的。」
「門檻 = 訂閱數的兩倍，但設有最低值。Shorts 至少要 10,000，長影片至少 2,000。」
「這樣對小頻道和大頻道都是公平的標準。」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「套用這個定義後，整體病毒率是 12.6%。Shorts 是 13.8%，長影片是 11.9%，兩者相近——說明我們的定義對兩種影片都有意義。」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「我們設計了五個特徵群組，每個都是前一個的超集。」
「這讓我們可以做 Ablation Study——測出加入每類資訊後，模型到底進步多少。」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「Group C1 用 HuggingFace 的中文情緒模型對每則留言評分，再彙整到影片層級。」
「只有 34% 的影片有留言資料，沒有的填 0。」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「Group C2 是 Valence-Arousal 的代理指標。Valence 直接用 C1 的情緒分數，Arousal 用驚嘆號、emoji、強烈詞彙的密度來估計。」
「這個做法不需要額外推論，但等一下我們會看到它的效果意外地好。」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「如果直接對所有影片做時序切分，會有一個嚴重的偏差。」
「Shorts 是我們後期才大量補爬的，在時序上集中在近期，所以 test set 裡幾乎全是 Shorts。等於模型在長影片上學習，卻在 Shorts 上被評估——這樣的結果沒有意義。」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「解法是分組切分：Shorts 和長影片各自排序、各自切 70/15/15，再合併。」
「每個 split 的 Shorts 比例都維持在 34% 左右，評估才公平。」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「我們比較四種模型。Logistic 是基準線，LightGBM 是主力，LSTM 純粹吃時序序列，Stacking 把前兩者融合。」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「LightGBM 用 5-Fold OOF，同時服務兩件事：一是 Ablation Study，二是給 Stacking 提供 OOF 機率作為輸入。」
「OOF 的關鍵是：每筆預測都是在模型沒見過這筆資料時做出的，不會洩漏。」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「LSTM 讀取 0–3 小時的時序序列。每個時間步有觀看、按讚、留言三個維度，共約 18 到 36 步。」
「LSTM 沒有訂閱數等靜態特徵，純粹靠行為序列預測。」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「Stacking 把 LightGBM 和 LSTM 的 OOF 機率拼在一起，用 Logistic Regression 當 meta-learner。」
「關鍵是防洩漏：meta 只在 OOF 預測上訓練，test set 從頭到尾只在最終評估時出現一次。」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「這是所有特徵群組的 Ablation 結果。先讓大家看完整圖，然後我們聚焦在最關鍵的地方。」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「Group A 到 Group B，F1 從 0.327 跳到 0.731，提升了 124%。」
「這告訴我們：訂閱數、影片長度這些靜態特徵不足以預測爆紅，關鍵是影片在前 3 小時的早期反應速度。」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「為什麼早期流量有預測力？這張圖給了答案。Viral 影片在 3 小時的觀看數中位數是 1,312，Non-viral 只有 184——7 倍差距，在第 3 小時就已經出現了。」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「我們用 SHAP 分析 LightGBM 的特徵重要性。先看圖，注意第一名和第二名之間的距離——」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「訂閱數的 SHAP 值是 2.109，第二名 views_3h 是 0.770，差了 2.7 倍。」
「直覺上合理：大頻道天生有受眾。但第二、第三名都是早期流量指標，說明光有受眾不夠——影片本身也必須快速引起反應。」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「加入留言情緒後，C2 的 Precision 從 73% 提升到 82%，提升了 12%。」
「有趣的是：C2 不需要模型——只用 regex 計算驚嘆號和 emoji 密度，效果卻比 RoBERTa 的 C1 更好。」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「這張散布圖是留言的 Valence 和 Arousal 分布。右上角——高 Valence 加高 Arousal——viral 影片的比例明顯高。」
「觀眾越興奮、情緒越強烈，影片越可能爆紅。」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「完整成績表。LightGBM C2 的 F1 最高 0.763，C1 的 AUC 最高 0.943。」
「LSTM 的 F1 只有 0.257——序列模型沒有訂閱數這個最強特徵，上限很有限。」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「ROC 曲線也印證了這個結論。LightGBM 緊貼左上角，LSTM 接近隨機——在這個任務上，靜態特徵比時序序列更重要。」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「PR 曲線在不平衡資料下比 ROC 更嚴格。病毒率 12.6%，隨機猜測的 PR-AUC 只有 0.126。」
「LightGBM 的 PR-AUC 是 0.832，是隨機的 6.6 倍。」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「混淆矩陣告訴我們模型在哪裡犯錯。最值得注意的是 False Negative——實際爆紅但模型沒抓到。」
「在只有 12.6% 爆紅率的情況下，漏判就是錯過真正有價值的影片。」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「迴歸的最佳結果是 LightGBM C1，R²=0.853，MAE=0.835。」
「MAE 是 log 尺度的誤差，換算回實際觀看數，大約是 2.3 倍的誤差範圍。」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「這張散點圖是 LightGBM C1 在 test set 上的預測 vs 實際值。大部分點都緊貼對角線，Shorts 和長影片都預測得不錯。」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「殘差大部分集中在 0 附近，但有一條長尾。」
「長尾對應的是那些突然在社群瘋傳的影片——這種社群擴散效應帶有隨機性，僅靠前 48 小時的資料很難完全預測。」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「迴歸的 Ablation 結果：LightGBM 和 LSTM 差距很大，早期流量仍是主要信號。」
「加入留言情緒只有小幅提升，說明對迴歸來說情緒是錦上添花，不是核心。」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（不說話）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「讓我做個總結。」
「第一，3 小時資料就足夠，AUC=0.943。第二，訂閱數是最強特徵，差距 2.7 倍。第三，早期觀看速度是核心即時信號。第四，留言喚醒度用 regex 就有效，Precision 提升 12%。第五，分組時序切分是讓評估有意義的關鍵設計。」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（念出這句話，停頓 3 秒，說謝謝大家。）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0" y="777240"/>
            <a:ext cx="1828800" cy="1280160"/>
          </a:xfrm>
          <a:prstGeom prst="roundRect">
            <a:avLst>
              <a:gd name="adj" fmla="val 20000"/>
            </a:avLst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rot="5400000">
            <a:off x="16184880" y="1170432"/>
            <a:ext cx="566928" cy="50292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601200" y="9052560"/>
            <a:ext cx="155448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1155680" y="8595360"/>
            <a:ext cx="146304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2618720" y="8138160"/>
            <a:ext cx="128016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898880" y="7315200"/>
            <a:ext cx="118872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5943600"/>
            <a:ext cx="109728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6184880" y="4206240"/>
            <a:ext cx="91440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6916400" y="2194560"/>
            <a:ext cx="365760" cy="365760"/>
          </a:xfrm>
          <a:prstGeom prst="ellipse">
            <a:avLst/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1371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r>
              <a:rPr lang="en-US" sz="6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影片早期成長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371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與爆紅預測</a:t>
            </a:r>
            <a:endParaRPr lang="en-US" sz="6600" dirty="0"/>
          </a:p>
        </p:txBody>
      </p:sp>
      <p:sp>
        <p:nvSpPr>
          <p:cNvPr id="13" name="Shape 11"/>
          <p:cNvSpPr/>
          <p:nvPr/>
        </p:nvSpPr>
        <p:spPr>
          <a:xfrm>
            <a:off x="914400" y="5806440"/>
            <a:ext cx="146304" cy="868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234440" y="5760720"/>
            <a:ext cx="1371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小時資料能預測 48 小時爆紅嗎？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7955280"/>
            <a:ext cx="1371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資料探勘導論　·　2026 期末專題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0554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664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同樣在 3 小時前發布——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2103120"/>
            <a:ext cx="6949440" cy="5486400"/>
          </a:xfrm>
          <a:prstGeom prst="roundRect">
            <a:avLst>
              <a:gd name="adj" fmla="val 200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875520" y="2103120"/>
            <a:ext cx="6949440" cy="5486400"/>
          </a:xfrm>
          <a:prstGeom prst="roundRect">
            <a:avLst>
              <a:gd name="adj" fmla="val 200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875520" y="2103120"/>
            <a:ext cx="6949440" cy="164592"/>
          </a:xfrm>
          <a:prstGeom prst="rect">
            <a:avLst/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463040" y="2468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Non-viral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310896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EFF1E8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184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1463040" y="6400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小時觀看數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0" y="2468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Viral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75520" y="310896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1,312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9875520" y="6400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小時觀看數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4114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463040" y="7955280"/>
            <a:ext cx="1536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倍</a:t>
            </a:r>
            <a:r>
              <a:rPr lang="en-US" sz="2800" i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的差距，在第 3 小時就已經出現——能被預測嗎？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244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任務一：3 小時預測 48 小時爆紅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發布後極早期的訊號，能否預判爆紅？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058400" cy="576072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分類（二元）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9326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　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影片發布後 </a:t>
            </a:r>
            <a:r>
              <a:rPr lang="en-US" sz="2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0–3 小時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的資料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　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 小時內是否達到</a:t>
            </a:r>
            <a:r>
              <a:rPr lang="en-US" sz="2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爆紅門檻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6126480"/>
            <a:ext cx="9326880" cy="0"/>
          </a:xfrm>
          <a:prstGeom prst="line">
            <a:avLst/>
          </a:prstGeom>
          <a:noFill/>
          <a:ln w="19050">
            <a:solidFill>
              <a:srgbClr val="D5D8C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188720" y="62636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病毒率　</a:t>
            </a:r>
            <a:r>
              <a:rPr lang="en-US" sz="3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12.6%</a:t>
            </a: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（1,916 支中 241 支爆紅）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247120" y="2011680"/>
            <a:ext cx="6217920" cy="5760720"/>
          </a:xfrm>
          <a:prstGeom prst="roundRect">
            <a:avLst>
              <a:gd name="adj" fmla="val 1587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161288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795760" y="4846320"/>
            <a:ext cx="5120640" cy="0"/>
          </a:xfrm>
          <a:prstGeom prst="line">
            <a:avLst/>
          </a:prstGeom>
          <a:noFill/>
          <a:ln w="254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1795760" y="4846320"/>
            <a:ext cx="2304288" cy="0"/>
          </a:xfrm>
          <a:prstGeom prst="line">
            <a:avLst/>
          </a:prstGeom>
          <a:noFill/>
          <a:ln w="1270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4100048" y="4846320"/>
            <a:ext cx="2816352" cy="0"/>
          </a:xfrm>
          <a:prstGeom prst="line">
            <a:avLst/>
          </a:prstGeom>
          <a:noFill/>
          <a:ln w="25400">
            <a:solidFill>
              <a:srgbClr val="CBD0C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1686032" y="4736592"/>
            <a:ext cx="219456" cy="2194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078992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3990320" y="4736592"/>
            <a:ext cx="219456" cy="2194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3094208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806672" y="4736592"/>
            <a:ext cx="219456" cy="219456"/>
          </a:xfrm>
          <a:prstGeom prst="ellipse">
            <a:avLst/>
          </a:prstGeom>
          <a:solidFill>
            <a:srgbClr val="EFF1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591056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48h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95760" y="4160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輸入範圍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144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任務二：48 小時預測未來 24 小時成長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已知前兩天的軌跡，能否預估後續動能？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058400" cy="576072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2176272" cy="45720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迴歸（連續值）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9326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　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影片發布後 </a:t>
            </a:r>
            <a:r>
              <a:rPr lang="en-US" sz="2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0–48 小時</a:t>
            </a:r>
            <a:r>
              <a:rPr lang="en-US" sz="24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的資料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　</a:t>
            </a:r>
            <a:r>
              <a:rPr lang="en-US" sz="2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log（第 48–72 小時新增觀看數）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6126480"/>
            <a:ext cx="9326880" cy="0"/>
          </a:xfrm>
          <a:prstGeom prst="line">
            <a:avLst/>
          </a:prstGeom>
          <a:noFill/>
          <a:ln w="19050">
            <a:solidFill>
              <a:srgbClr val="D5D8C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188720" y="62636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樣本數　</a:t>
            </a:r>
            <a:r>
              <a:rPr lang="en-US" sz="34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2,394 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247120" y="2011680"/>
            <a:ext cx="6217920" cy="5760720"/>
          </a:xfrm>
          <a:prstGeom prst="roundRect">
            <a:avLst>
              <a:gd name="adj" fmla="val 1587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161288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795760" y="4846320"/>
            <a:ext cx="5120640" cy="0"/>
          </a:xfrm>
          <a:prstGeom prst="line">
            <a:avLst/>
          </a:prstGeom>
          <a:noFill/>
          <a:ln w="254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1795760" y="4846320"/>
            <a:ext cx="3415467" cy="0"/>
          </a:xfrm>
          <a:prstGeom prst="line">
            <a:avLst/>
          </a:prstGeom>
          <a:noFill/>
          <a:ln w="127000">
            <a:solidFill>
              <a:srgbClr val="70A1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11227" y="4846320"/>
            <a:ext cx="1705173" cy="0"/>
          </a:xfrm>
          <a:prstGeom prst="line">
            <a:avLst/>
          </a:prstGeom>
          <a:noFill/>
          <a:ln w="25400">
            <a:solidFill>
              <a:srgbClr val="CBD0C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1686032" y="4736592"/>
            <a:ext cx="219456" cy="2194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078992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5101499" y="4736592"/>
            <a:ext cx="219456" cy="2194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4205387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806672" y="4736592"/>
            <a:ext cx="219456" cy="219456"/>
          </a:xfrm>
          <a:prstGeom prst="ellipse">
            <a:avLst/>
          </a:prstGeom>
          <a:solidFill>
            <a:srgbClr val="EFF1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591056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72h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95760" y="4160520"/>
            <a:ext cx="3415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輸入範圍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328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資料蒐集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爬蟲架構　·　蒐集規模　·　Shorts 偵測　·　資料樣貌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21743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爬蟲蒐集了什麼：三層資料結構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靜態、時序、留言三種粒度的資料同時追蹤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303520" cy="7315200"/>
          </a:xfrm>
          <a:prstGeom prst="roundRect">
            <a:avLst>
              <a:gd name="adj" fmla="val 1724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234440" y="260604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2344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3317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靜態資訊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317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3977640"/>
            <a:ext cx="4480560" cy="0"/>
          </a:xfrm>
          <a:prstGeom prst="line">
            <a:avLst/>
          </a:prstGeom>
          <a:noFill/>
          <a:ln w="1905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325880" y="4206240"/>
            <a:ext cx="4389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　·　類別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頻道訂閱數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發布時間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/ Long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72200" y="5852160"/>
            <a:ext cx="22860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5303520" cy="7315200"/>
          </a:xfrm>
          <a:prstGeom prst="roundRect">
            <a:avLst>
              <a:gd name="adj" fmla="val 1724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5528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時序快照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552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多次追蹤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3977640"/>
            <a:ext cx="4480560" cy="0"/>
          </a:xfrm>
          <a:prstGeom prst="line">
            <a:avLst/>
          </a:prstGeom>
          <a:noFill/>
          <a:ln w="1905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949440" y="4206240"/>
            <a:ext cx="4389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0h / 1h / 3h /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48h / 72h 的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觀看 · 按讚 ·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留言數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11795760" y="5852160"/>
            <a:ext cx="228600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2070080" y="2194560"/>
            <a:ext cx="5303520" cy="7315200"/>
          </a:xfrm>
          <a:prstGeom prst="roundRect">
            <a:avLst>
              <a:gd name="adj" fmla="val 1724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2481560" y="260604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124815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57884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留言快照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5788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0–3h 以內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481560" y="3977640"/>
            <a:ext cx="4480560" cy="0"/>
          </a:xfrm>
          <a:prstGeom prst="line">
            <a:avLst/>
          </a:prstGeom>
          <a:noFill/>
          <a:ln w="1905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12573000" y="4206240"/>
            <a:ext cx="4389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每則留言的：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文字內容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發布時間</a:t>
            </a:r>
            <a:endParaRPr lang="en-US" sz="2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按讚數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7352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蒐集規模：四個關鍵數字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從零蒐集到具規模的時序資料集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128016" cy="3291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97280" y="3456432"/>
            <a:ext cx="33832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1,916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33856" y="5332781"/>
            <a:ext cx="338328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分類樣本數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0" y="32918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128016" cy="3291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303520" y="3456432"/>
            <a:ext cx="33832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2,394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340096" y="5332781"/>
            <a:ext cx="338328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迴歸樣本數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235440" y="32918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35440" y="3291840"/>
            <a:ext cx="128016" cy="3291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509760" y="3456432"/>
            <a:ext cx="33832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33,895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546336" y="5332781"/>
            <a:ext cx="338328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時序觀測 rows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441680" y="32918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3441680" y="3291840"/>
            <a:ext cx="128016" cy="3291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3716000" y="3456432"/>
            <a:ext cx="33832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642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3752576" y="5332781"/>
            <a:ext cx="338328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有留言情緒的影片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7498080"/>
            <a:ext cx="1664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跨越多元類別、Shorts 與長影片並存，並具備逐時的成長軌跡與早期留言。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7354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偵測：用 HTTP 狀態碼判斷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一次請求即可區分短影音與長影片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8229600" cy="7315200"/>
          </a:xfrm>
          <a:prstGeom prst="roundRect">
            <a:avLst>
              <a:gd name="adj" fmla="val 1250"/>
            </a:avLst>
          </a:prstGeom>
          <a:solidFill>
            <a:srgbClr val="2C2F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判斷邏輯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0"/>
            <a:ext cx="7498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/shorts/{video_id}</a:t>
            </a:r>
            <a:endParaRPr lang="en-US" sz="2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HTTP 200  →  </a:t>
            </a:r>
            <a:r>
              <a:rPr lang="en-US" sz="2600" b="1" dirty="0">
                <a:solidFill>
                  <a:srgbClr val="8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Shorts ✓</a:t>
            </a:r>
            <a:endParaRPr lang="en-US" sz="2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HTTP 303  →  </a:t>
            </a:r>
            <a:r>
              <a:rPr lang="en-US" sz="26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長影片</a:t>
            </a:r>
            <a:endParaRPr lang="en-US" sz="2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BD0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（redirect → /watch）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7955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爆紅門檻　</a:t>
            </a: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最低 10,000　·　長影片 2,000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09760" y="2377440"/>
            <a:ext cx="7955280" cy="2194560"/>
          </a:xfrm>
          <a:prstGeom prst="roundRect">
            <a:avLst>
              <a:gd name="adj" fmla="val 41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875520" y="301752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8755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064240" y="2834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作為模型特徵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064240" y="35204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is_shorts 直接成為預測欄位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09760" y="4800600"/>
            <a:ext cx="7955280" cy="2194560"/>
          </a:xfrm>
          <a:prstGeom prst="roundRect">
            <a:avLst>
              <a:gd name="adj" fmla="val 41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9875520" y="544068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875520" y="5440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064240" y="52578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資料切分依據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1064240" y="59436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/ 長影片分組切分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09760" y="7223760"/>
            <a:ext cx="7955280" cy="2194560"/>
          </a:xfrm>
          <a:prstGeom prst="roundRect">
            <a:avLst>
              <a:gd name="adj" fmla="val 41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875520" y="7863840"/>
            <a:ext cx="914400" cy="914400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875520" y="7863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064240" y="76809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門檻計算依據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1064240" y="83667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不同類型套用不同爆紅標準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58071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最大的挑戰：發現延遲讓 99% 的資料無法使用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爬到影片時，0–3h 視窗往往已經錯過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6642080" cy="1371600"/>
          </a:xfrm>
          <a:prstGeom prst="roundRect">
            <a:avLst>
              <a:gd name="adj" fmla="val 6667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645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10,238</a:t>
            </a:r>
            <a:r>
              <a:rPr lang="en-US" sz="3000" dirty="0">
                <a:solidFill>
                  <a:srgbClr val="CBD0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支爬取   →   </a:t>
            </a:r>
            <a:r>
              <a:rPr lang="en-US" sz="5000" b="1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</a:t>
            </a:r>
            <a:r>
              <a:rPr lang="en-US" sz="3000" dirty="0">
                <a:solidFill>
                  <a:srgbClr val="CBD0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支可用   </a:t>
            </a:r>
            <a:r>
              <a:rPr lang="en-US" sz="3400" b="1" dirty="0">
                <a:solidFill>
                  <a:srgbClr val="C26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（僅 1.97%）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43000" y="3886200"/>
            <a:ext cx="896112" cy="457200"/>
          </a:xfrm>
          <a:prstGeom prst="roundRect">
            <a:avLst>
              <a:gd name="adj" fmla="val 12000"/>
            </a:avLst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4572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爬了 10,238 支影片，只有 202 支有 0–3h 完整資料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46520" y="361188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766560" y="3886200"/>
            <a:ext cx="896112" cy="45720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766560" y="38862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4572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影片被發現時平均已發布 30 分鐘，0–3h 視窗已錯過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070080" y="361188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2390120" y="3886200"/>
            <a:ext cx="896112" cy="457200"/>
          </a:xfrm>
          <a:prstGeom prst="roundRect">
            <a:avLst>
              <a:gd name="adj" fmla="val 12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2390120" y="38862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35840" y="4572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 fresh_search，本地過濾只追蹤 ≤5 分鐘前發布者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" y="6537960"/>
            <a:ext cx="16642080" cy="3017520"/>
          </a:xfrm>
          <a:prstGeom prst="roundRect">
            <a:avLst>
              <a:gd name="adj" fmla="val 303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188720" y="6720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其他工程挑戰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72694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API 持續改版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 InnerTube 介面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72694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Scheduler 互相覆寫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PID 隔離寫入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61520" y="72694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_sleep race condition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爬蟲靜默停擺 10 小時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653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影片類別分布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Top-10 類別，分布多元而非單一題材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2430669"/>
            <a:ext cx="10917936" cy="6660103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4_categor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40397"/>
            <a:ext cx="10698480" cy="64406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Entertainment 佔最大宗</a:t>
            </a:r>
            <a:endParaRPr lang="en-US" sz="2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其後為 Gaming、People &amp; Blogs、Music</a:t>
            </a:r>
            <a:endParaRPr lang="en-US" sz="2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題材涵蓋多元，非單一類型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涵蓋多元類別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65967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Viral vs Non-viral 的成長軌跡完全不同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兩群影片在極早期就分道揚鑣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2417092"/>
            <a:ext cx="10917936" cy="6687255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5_growth_curve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26820"/>
            <a:ext cx="10698480" cy="64677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3h 之前已分歧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藍／紅曲線在 3 小時前就明顯拉開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3h 之後快速放大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差距隨時間持續擴大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差距在 3 小時就出現了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6802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觀看數分布：Shorts 與長影片行為不同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觀看數為 log 尺度，兩者形狀迥異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2322945"/>
            <a:ext cx="10917936" cy="687555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2_view_cdf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32673"/>
            <a:ext cx="10698480" cy="66560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整體右移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中位觀看數較高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曲線形狀不同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不能混用同一模型評估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兩種成長行為截然不同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51277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資料前處理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　·　標籤設計　·　特徵工程　·　留言情緒　·　資料切分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076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 Pipeline：六個步驟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從原始時序到可訓練的特徵與序列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27048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527048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720" dirty="0"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時序清理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392790" y="5212080"/>
            <a:ext cx="222382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642970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347058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347058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3734410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標籤生成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212799" y="5212080"/>
            <a:ext cx="222382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462979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7167067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167067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720" dirty="0"/>
          </a:p>
        </p:txBody>
      </p:sp>
      <p:sp>
        <p:nvSpPr>
          <p:cNvPr id="17" name="Text 15"/>
          <p:cNvSpPr/>
          <p:nvPr/>
        </p:nvSpPr>
        <p:spPr>
          <a:xfrm>
            <a:off x="6554419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特徵工程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554419" y="5943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Tabular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32809" y="5212080"/>
            <a:ext cx="222382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282989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987077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987077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720" dirty="0"/>
          </a:p>
        </p:txBody>
      </p:sp>
      <p:sp>
        <p:nvSpPr>
          <p:cNvPr id="23" name="Text 21"/>
          <p:cNvSpPr/>
          <p:nvPr/>
        </p:nvSpPr>
        <p:spPr>
          <a:xfrm>
            <a:off x="9374429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374429" y="5943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特徵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852819" y="5212080"/>
            <a:ext cx="222382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2102998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2807086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2807086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720" dirty="0"/>
          </a:p>
        </p:txBody>
      </p:sp>
      <p:sp>
        <p:nvSpPr>
          <p:cNvPr id="29" name="Text 27"/>
          <p:cNvSpPr/>
          <p:nvPr/>
        </p:nvSpPr>
        <p:spPr>
          <a:xfrm>
            <a:off x="12194438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序列建構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2194438" y="5943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672828" y="5212080"/>
            <a:ext cx="222382" cy="0"/>
          </a:xfrm>
          <a:prstGeom prst="line">
            <a:avLst/>
          </a:prstGeom>
          <a:noFill/>
          <a:ln w="38100">
            <a:solidFill>
              <a:srgbClr val="70A1B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14923008" y="36576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15627096" y="4069080"/>
            <a:ext cx="1133856" cy="1133856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15627096" y="40690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720" dirty="0"/>
          </a:p>
        </p:txBody>
      </p:sp>
      <p:sp>
        <p:nvSpPr>
          <p:cNvPr id="35" name="Text 33"/>
          <p:cNvSpPr/>
          <p:nvPr/>
        </p:nvSpPr>
        <p:spPr>
          <a:xfrm>
            <a:off x="15014448" y="534924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資料切分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64552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標籤設計：爆紅是相對的，不是絕對的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以頻道規模為基準，動態決定爆紅門檻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7863840" cy="56692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設計邏輯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88720" y="3246120"/>
            <a:ext cx="7132320" cy="1737360"/>
          </a:xfrm>
          <a:prstGeom prst="roundRect">
            <a:avLst>
              <a:gd name="adj" fmla="val 4211"/>
            </a:avLst>
          </a:prstGeom>
          <a:solidFill>
            <a:srgbClr val="EFF1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63040" y="33375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萬訂閱</a:t>
            </a: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的頻道
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2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萬觀看 </a:t>
            </a: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不算爆紅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88720" y="5166360"/>
            <a:ext cx="7132320" cy="1737360"/>
          </a:xfrm>
          <a:prstGeom prst="roundRect">
            <a:avLst>
              <a:gd name="adj" fmla="val 4211"/>
            </a:avLst>
          </a:prstGeom>
          <a:solidFill>
            <a:srgbClr val="EFF1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463040" y="5257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訂閱</a:t>
            </a: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的小頻道
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8FBF9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10,000 觀看 </a:t>
            </a: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非常驚人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052560" y="2194560"/>
            <a:ext cx="8412480" cy="5669280"/>
          </a:xfrm>
          <a:prstGeom prst="roundRect">
            <a:avLst>
              <a:gd name="adj" fmla="val 1613"/>
            </a:avLst>
          </a:prstGeom>
          <a:solidFill>
            <a:srgbClr val="2C2F2B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4183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門檻公式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0" y="3108960"/>
            <a:ext cx="7680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effective_sub = max(訂閱數, 1000)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max(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10000 (Shorts) / 2000 (長影片),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× effective_sub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3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8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is_viral = views_48h ≥ threshold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296921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病毒率：12.6%，Shorts 略高於長影片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241 支爆紅 ／ 1,916 支總樣本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331378" y="1719072"/>
            <a:ext cx="13625244" cy="598017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3_viral_rate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106" y="1828800"/>
            <a:ext cx="13405788" cy="5760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7863840"/>
            <a:ext cx="1664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822960" y="7863840"/>
            <a:ext cx="128016" cy="19202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143000" y="8028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看點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845820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整體病毒率 12.6%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資料明顯不平衡</a:t>
            </a:r>
            <a:endParaRPr lang="en-US" sz="2000" dirty="0"/>
          </a:p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略高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13.8% vs 長影片 11.9%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5874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特徵工程：五個群組，逐步疊加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量化每一類資訊帶來的邊際貢獻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13898880" cy="1207008"/>
          </a:xfrm>
          <a:prstGeom prst="roundRect">
            <a:avLst>
              <a:gd name="adj" fmla="val 6061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417320" cy="1207008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417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14600" y="22402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個特徵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0" y="2240280"/>
            <a:ext cx="8595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靜態：訂閱數、影片長度、發布時段、類別…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463040" y="3611880"/>
            <a:ext cx="13898880" cy="1207008"/>
          </a:xfrm>
          <a:prstGeom prst="roundRect">
            <a:avLst>
              <a:gd name="adj" fmla="val 6061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463040" y="3611880"/>
            <a:ext cx="1417320" cy="1207008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463040" y="3611880"/>
            <a:ext cx="1417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36118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個特徵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8595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早期流量：views_3h、成長率、互動率…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103120" y="4983480"/>
            <a:ext cx="13898880" cy="1207008"/>
          </a:xfrm>
          <a:prstGeom prst="roundRect">
            <a:avLst>
              <a:gd name="adj" fmla="val 6061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103120" y="4983480"/>
            <a:ext cx="1417320" cy="1207008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103120" y="4983480"/>
            <a:ext cx="1417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794760" y="49834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個特徵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23760" y="4983480"/>
            <a:ext cx="8595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留言二元情緒（RoBERTa positive score）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743200" y="6355080"/>
            <a:ext cx="13898880" cy="1207008"/>
          </a:xfrm>
          <a:prstGeom prst="roundRect">
            <a:avLst>
              <a:gd name="adj" fmla="val 6061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2743200" y="6355080"/>
            <a:ext cx="1417320" cy="1207008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0" y="6355080"/>
            <a:ext cx="1417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434840" y="63550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個特徵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863840" y="6355080"/>
            <a:ext cx="8595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Valence-Arousal（regex 代理指標）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3383280" y="7726680"/>
            <a:ext cx="13898880" cy="1207008"/>
          </a:xfrm>
          <a:prstGeom prst="roundRect">
            <a:avLst>
              <a:gd name="adj" fmla="val 6061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383280" y="7726680"/>
            <a:ext cx="1417320" cy="1207008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83280" y="7726680"/>
            <a:ext cx="1417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074920" y="77266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個特徵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503920" y="7726680"/>
            <a:ext cx="8595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C1 + C2 全部特徵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281825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 C1：RoBERTa 二元情感分類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以中文情感模型推論每則留言的正向程度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9509760" cy="73152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188720" y="251460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2C2F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188720" y="25146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uer/roberta-base-finetuned-jd-binary-chinese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3611880"/>
            <a:ext cx="859536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 0–3h 留言快照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每則留言推論 positive 分數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影片層級彙整三個特徵：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20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comment_sentiment_score（平均正向）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20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top_comment_like_ratio（高讚正向比）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20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comment_count_3h（留言數）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698480" y="2194560"/>
            <a:ext cx="6766560" cy="7315200"/>
          </a:xfrm>
          <a:prstGeom prst="roundRect">
            <a:avLst>
              <a:gd name="adj" fmla="val 1351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106424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資料覆蓋率</a:t>
            </a:r>
            <a:endParaRPr lang="en-US" sz="2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10881360" y="310896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11064240" y="78638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642 </a:t>
            </a: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支影片（34%）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82488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 C2：Valence-Arousal 不需要模型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regex 代理喚醒度，免額外模型即可量化情緒強度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813816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28016" cy="52120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23444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Valence　情感極性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23444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直接沿用 C1 的 positive score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420624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C6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新增特徵
</a:t>
            </a:r>
            <a:endParaRPr lang="en-US" sz="2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343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comment_valence_mean</a:t>
            </a:r>
            <a:endParaRPr lang="en-US" sz="2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343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comment_arousal_mean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326880" y="2194560"/>
            <a:ext cx="813816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9326880" y="2194560"/>
            <a:ext cx="128016" cy="5212080"/>
          </a:xfrm>
          <a:prstGeom prst="rect">
            <a:avLst/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738360" y="2514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2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Arousal　喚醒度（regex 代理）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738360" y="3383280"/>
            <a:ext cx="7498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1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驚嘆號密度　comment_exclamation_ratio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1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emoji 密度　comment_emoji_ratio</a:t>
            </a:r>
            <a:endParaRPr lang="en-US" sz="2100" dirty="0"/>
          </a:p>
          <a:p>
            <a:pPr marL="342900" indent="-342900">
              <a:buSzPct val="100000"/>
              <a:buChar char="▪"/>
            </a:pPr>
            <a:r>
              <a:rPr lang="en-US" sz="21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強烈詞彙比例　comment_intense_ratio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7680960"/>
            <a:ext cx="16642080" cy="1828800"/>
          </a:xfrm>
          <a:prstGeom prst="roundRect">
            <a:avLst>
              <a:gd name="adj" fmla="val 500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7680960"/>
            <a:ext cx="1591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Arousal = 觀眾情緒激動 → 更可能分享　</a:t>
            </a:r>
            <a:r>
              <a:rPr lang="en-US" sz="23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　優點：免額外模型、速度快、覆蓋率同 C1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184945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直接時序切分：測試集幾乎全是 Shorts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是後期補爬，時序上集中在近期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896112" cy="457200"/>
          </a:xfrm>
          <a:prstGeom prst="roundRect">
            <a:avLst>
              <a:gd name="adj" fmla="val 12000"/>
            </a:avLst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9144000" cy="1828800"/>
          </a:xfrm>
          <a:prstGeom prst="roundRect">
            <a:avLst>
              <a:gd name="adj" fmla="val 4000"/>
            </a:avLst>
          </a:prstGeom>
          <a:solidFill>
            <a:srgbClr val="4043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Train（早期）
</a:t>
            </a:r>
            <a:endParaRPr lang="en-US" sz="2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幾乎全是長影片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515600" y="402336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0515600" y="40233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Test（近期）
</a:t>
            </a:r>
            <a:endParaRPr lang="en-US" sz="2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幾乎全是 Shorts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  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0" y="6949440"/>
            <a:ext cx="12801600" cy="2377440"/>
          </a:xfrm>
          <a:prstGeom prst="roundRect">
            <a:avLst>
              <a:gd name="adj" fmla="val 3846"/>
            </a:avLst>
          </a:prstGeom>
          <a:solidFill>
            <a:srgbClr val="2C2F2B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6949440"/>
            <a:ext cx="1207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C2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</a:t>
            </a:r>
            <a:r>
              <a:rPr lang="en-US" sz="3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在長影片上訓練，在 Shorts 上評估
</a:t>
            </a:r>
            <a:endParaRPr lang="en-US" sz="3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C2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結果：毫無意義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7056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解法：Shorts 和長影片各自分組切分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先分組再各自按時序切，維持每個 split 的類型均衡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96112" cy="457200"/>
          </a:xfrm>
          <a:prstGeom prst="roundRect">
            <a:avLst>
              <a:gd name="adj" fmla="val 12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
</a:t>
            </a:r>
            <a:endParaRPr lang="en-US" sz="2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按 publish_time 排序 → 70/15/15</a:t>
            </a:r>
            <a:endParaRPr lang="en-US" sz="2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Long  按 publish_time 排序 → 70/15/15</a:t>
            </a:r>
            <a:endParaRPr lang="en-US" sz="230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23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兩者合併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
</a:t>
            </a:r>
            <a:endParaRPr lang="en-US" sz="2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split 的 Shorts 比例維持 ~34%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68680" y="74066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68680" y="7406640"/>
            <a:ext cx="128016" cy="18288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43000" y="757123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1,133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79576" y="854049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74066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474720" y="7406640"/>
            <a:ext cx="128016" cy="18288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749040" y="757123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785616" y="854049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0760" y="74066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7406640"/>
            <a:ext cx="128016" cy="18288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757123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91656" y="854049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34272" y="3100024"/>
            <a:ext cx="8540496" cy="5595712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0" descr="/sessions/jolly-youthful-hypatia/mnt/Final Presentation/figures/fig01_data_split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209752"/>
            <a:ext cx="8321040" cy="537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6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模型設計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Logistic　·　LightGBM　·　LSTM　·　Stacking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5330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四種模型各自的角色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從可解釋基準線，到序列模型與融合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8366760" cy="3474720"/>
          </a:xfrm>
          <a:prstGeom prst="roundRect">
            <a:avLst>
              <a:gd name="adj" fmla="val 263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280160" y="2743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28016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26080" y="278892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Logistic Regression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926080" y="356616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可解釋基準線，吃 Tabular 特徵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4709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群組 A / B / C1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098280" y="2240280"/>
            <a:ext cx="8366760" cy="3474720"/>
          </a:xfrm>
          <a:prstGeom prst="roundRect">
            <a:avLst>
              <a:gd name="adj" fmla="val 263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555480" y="2743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55548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GBM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201400" y="278892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201400" y="356616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主力模型，跑完所有 Ablation 群組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55480" y="4709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群組 A / B / C1 / C2 / C3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8366760" cy="3474720"/>
          </a:xfrm>
          <a:prstGeom prst="roundRect">
            <a:avLst>
              <a:gd name="adj" fmla="val 263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280160" y="64922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280160" y="6492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∿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926080" y="653796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926080" y="73152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純序列模型，不使用靜態特徵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845820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T×3 時序序列（0–3h）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98280" y="5989320"/>
            <a:ext cx="8366760" cy="3474720"/>
          </a:xfrm>
          <a:prstGeom prst="roundRect">
            <a:avLst>
              <a:gd name="adj" fmla="val 263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555480" y="64922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555480" y="6492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⧉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1201400" y="653796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Stacking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1201400" y="73152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 LightGBM + LSTM 的 meta-learner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55480" y="845820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兩模型 OOF 機率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3966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LightGBM：5-Fold OOF 同時服務 Ablation 與 Stacking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 out-of-fold 設計，兼顧公平比較與防洩漏融合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5-Fold
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Out-of-Fold (OOF)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57800" y="2926080"/>
            <a:ext cx="1097280" cy="0"/>
          </a:xfrm>
          <a:prstGeom prst="line">
            <a:avLst/>
          </a:prstGeom>
          <a:noFill/>
          <a:ln w="38100">
            <a:solidFill>
              <a:srgbClr val="34373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257800" y="4114800"/>
            <a:ext cx="1097280" cy="0"/>
          </a:xfrm>
          <a:prstGeom prst="line">
            <a:avLst/>
          </a:prstGeom>
          <a:noFill/>
          <a:ln w="38100">
            <a:solidFill>
              <a:srgbClr val="34373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6583680" y="210312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583680" y="2103120"/>
            <a:ext cx="128016" cy="219456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949440" y="2103120"/>
            <a:ext cx="10149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用途一　Ablation Study
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每個群組（A/B/C1/C2/C3）獨立訓練，比較 test F1 / AUC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83680" y="452628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583680" y="4526280"/>
            <a:ext cx="128016" cy="219456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10149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用途二　Stacking 的輸入
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OOF 預測機率 P₁ 輸入 meta-learner（模型從未在 in-sample 預測過自己）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7132320"/>
            <a:ext cx="16642080" cy="1371600"/>
          </a:xfrm>
          <a:prstGeom prst="roundRect">
            <a:avLst>
              <a:gd name="adj" fmla="val 6667"/>
            </a:avLst>
          </a:prstGeom>
          <a:solidFill>
            <a:srgbClr val="2C2F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22960" y="7132320"/>
            <a:ext cx="1664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超參數　</a:t>
            </a:r>
            <a:r>
              <a:rPr lang="en-US" sz="2400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 = 63    learning_rate = 0.05    rounds = 500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7150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LSTM：T×3 序列，捕捉早期動態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以正規化的逐時序列，學習成長的形狀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7680960" cy="7315200"/>
          </a:xfrm>
          <a:prstGeom prst="roundRect">
            <a:avLst>
              <a:gd name="adj" fmla="val 1250"/>
            </a:avLst>
          </a:prstGeom>
          <a:solidFill>
            <a:srgbClr val="2C2F2B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8288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9184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828800" y="3657600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91840" y="3657600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3657600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828800" y="4370832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4370832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4370832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828800" y="5084064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5084064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5084064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828800" y="5797296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91840" y="5797296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5797296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828800" y="6510528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91840" y="6510528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6510528"/>
            <a:ext cx="1389888" cy="640080"/>
          </a:xfrm>
          <a:prstGeom prst="rect">
            <a:avLst/>
          </a:prstGeom>
          <a:solidFill>
            <a:srgbClr val="40433E"/>
          </a:solidFill>
          <a:ln w="12700">
            <a:solidFill>
              <a:srgbClr val="4E51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BD0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7132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0CA"/>
                </a:solidFill>
              </a:rPr>
              <a:t>⋮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7543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× 3 序列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2651760"/>
            <a:ext cx="832104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輸入格式
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≈ 18–36 步（每 5–10 分鐘一筆）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維度：view / like / comment count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2400"/>
              </a:spcAft>
              <a:buSzPct val="100000"/>
              <a:buChar char="▪"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每維除以該影片窗口內最大值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
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hidden = 64, layers = 2, dropout = 0.3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損失：BCELoss + pos_weight（處理不平衡）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06748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Stacking：OOF 防洩漏設計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兩個基模型的 OOF 機率，交給 meta-learner 融合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 (5-Fold OOF)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(5-Fold OOF)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77840" y="24688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577840" y="42062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P₂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0" y="3108960"/>
            <a:ext cx="1371600" cy="457200"/>
          </a:xfrm>
          <a:prstGeom prst="line">
            <a:avLst/>
          </a:prstGeom>
          <a:noFill/>
          <a:ln w="38100">
            <a:solidFill>
              <a:srgbClr val="34373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 flipV="1">
            <a:off x="6583680" y="3794760"/>
            <a:ext cx="1371600" cy="1051560"/>
          </a:xfrm>
          <a:prstGeom prst="line">
            <a:avLst/>
          </a:prstGeom>
          <a:noFill/>
          <a:ln w="38100">
            <a:solidFill>
              <a:srgbClr val="34373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8138160" y="278892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229600" y="2788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[P₁, P₂] → Logistic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meta-learner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435840" y="3429000"/>
            <a:ext cx="1188720" cy="0"/>
          </a:xfrm>
          <a:prstGeom prst="line">
            <a:avLst/>
          </a:prstGeom>
          <a:noFill/>
          <a:ln w="38100">
            <a:solidFill>
              <a:srgbClr val="34373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3716000" y="278892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70A1BD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3807440" y="2788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最終機率 P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6675120"/>
            <a:ext cx="1664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70A1BD"/>
            </a:solidFill>
            <a:prstDash val="dash"/>
          </a:ln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188720" y="6903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防洩漏保證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7498080"/>
            <a:ext cx="1591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P₁ / P₂ 皆為 OOF 預測，meta 從未見過 in-sample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meta-learner 只在 OOF 上訓練，不碰 test set</a:t>
            </a:r>
            <a:endParaRPr lang="en-US" sz="2200" dirty="0"/>
          </a:p>
          <a:p>
            <a:pPr marL="342900" indent="-342900">
              <a:buSzPct val="100000"/>
              <a:buChar char="✓"/>
            </a:pPr>
            <a:r>
              <a:rPr lang="en-US" sz="2200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Scaler 僅 fit on train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65309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分類實驗結果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Ablation　·　SHAP　·　留言情緒　·　完整成績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79392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Ablation：五個群組的 F1 與 AUC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逐步加入特徵群組，觀察分數變化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717235" y="1906505"/>
            <a:ext cx="10853530" cy="560531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3_ablation_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085" y="2009355"/>
            <a:ext cx="10647830" cy="53996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7614665"/>
            <a:ext cx="16642080" cy="2418590"/>
          </a:xfrm>
          <a:prstGeom prst="roundRect">
            <a:avLst>
              <a:gd name="adj" fmla="val 476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822960" y="7614665"/>
            <a:ext cx="128016" cy="241859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143000" y="8028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看點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786384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B 跳躍最大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加入早期流量帶來最大增益</a:t>
            </a:r>
            <a:endParaRPr lang="en-US" sz="2000" dirty="0"/>
          </a:p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系列微幅提升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留言情緒為錦上添花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1746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加入早期流量：F1 從 0.327 跳到 0.731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靜態特徵不夠，影片本身的早期反應才是關鍵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CBD0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0.327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僅靜態特徵 (A)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223760" y="3657600"/>
            <a:ext cx="2011680" cy="1280160"/>
          </a:xfrm>
          <a:prstGeom prst="rightArrow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0" y="31089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0.731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9601200" y="5486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加入早期流量 (B)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910560" y="329184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5910560" y="3291840"/>
            <a:ext cx="128016" cy="2377440"/>
          </a:xfrm>
          <a:prstGeom prst="rect">
            <a:avLst/>
          </a:prstGeom>
          <a:solidFill>
            <a:srgbClr val="C26B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6184880" y="3456432"/>
            <a:ext cx="1463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21456" y="4765853"/>
            <a:ext cx="146304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F1 增幅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6766560"/>
            <a:ext cx="16642080" cy="2651760"/>
          </a:xfrm>
          <a:prstGeom prst="roundRect">
            <a:avLst>
              <a:gd name="adj" fmla="val 3448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7040880"/>
            <a:ext cx="1591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　</a:t>
            </a:r>
            <a:r>
              <a:rPr lang="en-US" sz="3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0.733 → 0.937</a:t>
            </a:r>
            <a:r>
              <a:rPr lang="en-US" sz="3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（+27.8%）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88720" y="8046720"/>
            <a:ext cx="1591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結論：靜態特徵不夠，早期行為才是關鍵信號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3846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為什麼早期流量有效：Viral 在 3h 就已領先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3 小時觀看數中位數對比兩群影片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157033" y="1719072"/>
            <a:ext cx="11973935" cy="598017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7_views3h_vs_vi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761" y="1828800"/>
            <a:ext cx="11754479" cy="5760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7863840"/>
            <a:ext cx="1664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822960" y="7863840"/>
            <a:ext cx="128016" cy="19202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143000" y="8028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看點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845820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Viral 中位 = 1,312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endParaRPr lang="en-US" sz="2000" dirty="0"/>
          </a:p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Non-viral 中位 = 184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兩者相差 7 倍，在第 3 小時就出現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086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SHAP 特徵重要性：哪些特徵最關鍵？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SHAP 解讀 LightGBM 的特徵貢獻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1948696"/>
            <a:ext cx="10917936" cy="762404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6_shap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8424"/>
            <a:ext cx="10698480" cy="74045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訂閱數壓倒性領先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log_subscriber_count 高居第一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早期流量緊隨其後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views_3h、view_delta 為 #2、#3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第一名與第二名之間有一條鴻溝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55785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log_subscriber_count SHAP = 第二名的 2.7 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受眾規模是基礎，但早期流量同樣不可或缺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6642080" cy="1554480"/>
          </a:xfrm>
          <a:prstGeom prst="roundRect">
            <a:avLst>
              <a:gd name="adj" fmla="val 4706"/>
            </a:avLst>
          </a:prstGeom>
          <a:solidFill>
            <a:srgbClr val="70A1BD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0" y="21488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log_subscriber_count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344400" y="2148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SHAP </a:t>
            </a: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2.109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867912"/>
            <a:ext cx="16642080" cy="109728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097280" y="38679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3867912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views_3h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344400" y="386791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SHAP </a:t>
            </a:r>
            <a:r>
              <a:rPr lang="en-US" sz="28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129784"/>
            <a:ext cx="16642080" cy="109728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5129784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0" y="5129784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view_delta_1h_3h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0" y="5129784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SHAP </a:t>
            </a:r>
            <a:r>
              <a:rPr lang="en-US" sz="28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0.683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6720840"/>
            <a:ext cx="16642080" cy="2743200"/>
          </a:xfrm>
          <a:prstGeom prst="roundRect">
            <a:avLst>
              <a:gd name="adj" fmla="val 3333"/>
            </a:avLst>
          </a:prstGeom>
          <a:solidFill>
            <a:srgbClr val="2C2F2B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188720" y="6903720"/>
            <a:ext cx="1591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第一名是第二名的 2.7 倍
</a:t>
            </a:r>
            <a:endParaRPr lang="en-US" sz="2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受眾規模是爆紅的基礎；但 #2、#3 都是早期流量——
</a:t>
            </a:r>
            <a:endParaRPr lang="en-US" sz="2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光有受眾不夠，影片本身也必須在 3 小時內引起反應。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97833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留言情緒的效益：C2 Precision 提升最顯著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 只用 regex，效果卻比 RoBERTa 的 C1 更明顯</a:t>
            </a:r>
            <a:endParaRPr lang="en-US" sz="1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1371600" y="2377440"/>
          <a:ext cx="15544800" cy="45720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特徵組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F1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Precision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AUC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B（基準）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0.731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73.1%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0.937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C1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0.752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+4.4%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0.943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C2 ★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0.763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+9.1% → 82%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0.934</a:t>
                      </a:r>
                      <a:endParaRPr lang="en-US" sz="2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0.740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+4.0%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3437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0.939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F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371600" y="7863840"/>
            <a:ext cx="15544800" cy="1554480"/>
          </a:xfrm>
          <a:prstGeom prst="roundRect">
            <a:avLst>
              <a:gd name="adj" fmla="val 5882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1737360" y="7863840"/>
            <a:ext cx="1481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　</a:t>
            </a:r>
            <a:r>
              <a:rPr lang="en-US" sz="24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C2（喚醒度 regex）比 C1（RoBERTa）效果更明顯，且免額外模型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5974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Valence-Arousal：高喚醒留言集中在 Viral 影片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留言情緒在二維空間的分布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70854" y="1719072"/>
            <a:ext cx="8602692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7_comment_valence_aro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582" y="1828800"/>
            <a:ext cx="8383236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右上象限 Viral 偏高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Valence + 高 Arousal 區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情緒越強烈越易爆紅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觀眾越興奮，分享動機越強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高喚醒留言指向爆紅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42279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完整分類成績：所有模型對比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 全面領先，LSTM 單獨使用接近隨機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9728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3385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F1 最高 · LightGBM C2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72084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0.943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5741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 最高 · LightGBM C1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07008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207008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234440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238097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PR-AUC 最高 · LightGBM C3</a:t>
            </a:r>
            <a:endParaRPr lang="en-US" sz="1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2743200" y="3657600"/>
          <a:ext cx="12801600" cy="593445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群組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AUC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PR-AUC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Logistic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0.283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0.643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0.209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Logistic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0.520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0.905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0.649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Logistic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0.528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0.907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0.327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0.733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0.280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0.731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 ★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0.943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 ★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0.763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0.740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0.832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BD0C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LSTM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D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BD0C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D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BD0C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D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BD0C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0.590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D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BD0C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0.146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Stacking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0.674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0.919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0.783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523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ROC 曲線：LightGBM 顯著領先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各模型在不同閾值下的真陽性／偽陽性權衡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69909" y="1719072"/>
            <a:ext cx="9004583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09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37" y="1828800"/>
            <a:ext cx="8785127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 緊貼左上角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 = 0.943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最低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 = 0.590，接近隨機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5282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曲線：不平衡資料下的真實評估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病毒率僅 12.6%，PR 曲線比 ROC 更誠實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69909" y="1719072"/>
            <a:ext cx="9004583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0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37" y="1828800"/>
            <a:ext cx="8785127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Random baseline = 0.126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0.5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 C3 = 0.832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約為隨機的 6.6 倍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86484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Confusion Matrix：模型在哪裡犯錯？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在極不平衡的資料下，漏判的代價最高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067031" y="1719072"/>
            <a:ext cx="8210337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1_confusion_matrix_l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759" y="1828800"/>
            <a:ext cx="7990881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False Negative 最關鍵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漏抓的爆紅影片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病毒率僅 12.6%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漏判等於錯過真正爆紅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161520" y="8595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FN 是最昂貴的錯誤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56620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迴歸實驗結果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R² = 0.853　·　預測 vs 實際　·　殘差分析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75925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迴歸成績：R² = 0.853，LightGBM 優於 LSTM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已知前 48 小時，可預估未來 24 小時的成長量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9728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0.853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3385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R² · LightGBM C1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72084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5741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MAE · log 尺度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070080" y="19659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2070080" y="1965960"/>
            <a:ext cx="128016" cy="137160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2344400" y="2130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1.162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2380976" y="2816352"/>
            <a:ext cx="4846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RMSE · LightGBM C1</a:t>
            </a:r>
            <a:endParaRPr lang="en-US" sz="1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2743200" y="3657600"/>
          <a:ext cx="12801600" cy="29260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群組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R²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MAE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RMSE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0.851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0.841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1.172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LightGBM ★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C1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0.853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0.835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1.162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LSTM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0.705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1.137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EFF1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1.610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22960" y="640080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MAE 0.835（log 尺度）≈ 實際觀看數誤差約 ×2.3 倍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2286000" y="7223760"/>
            <a:ext cx="13716000" cy="1920240"/>
          </a:xfrm>
          <a:prstGeom prst="roundRect">
            <a:avLst>
              <a:gd name="adj" fmla="val 4762"/>
            </a:avLst>
          </a:prstGeom>
          <a:solidFill>
            <a:srgbClr val="70A1BD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2651760" y="7223760"/>
            <a:ext cx="1298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　</a:t>
            </a:r>
            <a:r>
              <a:rPr lang="en-US" sz="25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創作者在發布 48 小時後，可預估接下來 24h 的成長量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599962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vs 實際：點越貼近對角線代表越準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 與長影片皆有良好預測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703407" y="1719072"/>
            <a:ext cx="8937585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4_reg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135" y="1828800"/>
            <a:ext cx="8718129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點貼近對角線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預測值接近真實值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兩類型皆準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Shorts、Long 都對齊良好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68116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殘差分析：大誤差集中在突然爆發的影片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殘差主體集中在 0，但有明顯長尾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455" y="1719072"/>
            <a:ext cx="10617490" cy="808329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5_reg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83" y="1828800"/>
            <a:ext cx="10398034" cy="786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95760" y="1828800"/>
            <a:ext cx="5669280" cy="7863840"/>
          </a:xfrm>
          <a:prstGeom prst="roundRect">
            <a:avLst>
              <a:gd name="adj" fmla="val 1613"/>
            </a:avLst>
          </a:prstGeom>
          <a:solidFill>
            <a:srgbClr val="40433E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1795760" y="1828800"/>
            <a:ext cx="128016" cy="78638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216152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看這張圖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161520" y="2880360"/>
            <a:ext cx="502920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主體集中在 0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大多數預測準確</a:t>
            </a:r>
            <a:endParaRPr lang="en-US" sz="22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22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長尾 = 突然爆發
</a:t>
            </a:r>
            <a:endParaRPr lang="en-US" sz="2200" dirty="0"/>
          </a:p>
          <a:p>
            <a:pPr marL="0" lvl="1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難以預測 viral cascade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42674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37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 Ablation：特徵群組與模型比較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早期流量是主力，情緒特徵僅錦上添花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354310" y="1719072"/>
            <a:ext cx="11579380" cy="5980176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/sessions/jolly-youthful-hypatia/mnt/Final Presentation/figures/fig16_ablation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038" y="1828800"/>
            <a:ext cx="11359924" cy="5760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7863840"/>
            <a:ext cx="1664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822960" y="7863840"/>
            <a:ext cx="128016" cy="192024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1143000" y="8028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看點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845820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LightGBM ≫ LSTM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R² 0.853 vs 0.705</a:t>
            </a:r>
            <a:endParaRPr lang="en-US" sz="2000" dirty="0"/>
          </a:p>
          <a:p>
            <a:pPr marL="342900" indent="-342900">
              <a:buSzPct val="100000"/>
              <a:buChar char="▪"/>
            </a:pPr>
            <a:r>
              <a:rPr lang="en-US" sz="2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→ C1 微幅
</a:t>
            </a:r>
            <a:endParaRPr lang="en-US" sz="2000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5C62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留言情緒對迴歸效益有限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7302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10058400" cy="100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0" b="1" dirty="0">
                <a:solidFill>
                  <a:srgbClr val="4043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56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64592" cy="2011680"/>
          </a:xfrm>
          <a:prstGeom prst="rect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0A1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520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F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280160" y="5486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6858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五個帶得走的洞見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4417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我們學到什麼：五個帶走的結論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6642080" cy="1170432"/>
          </a:xfrm>
          <a:prstGeom prst="roundRect">
            <a:avLst>
              <a:gd name="adj" fmla="val 625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143000" y="2057400"/>
            <a:ext cx="621792" cy="621792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小時資料已足以預測爆紅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161520" y="1783080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0.943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081528"/>
            <a:ext cx="16642080" cy="1170432"/>
          </a:xfrm>
          <a:prstGeom prst="roundRect">
            <a:avLst>
              <a:gd name="adj" fmla="val 625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43000" y="3355848"/>
            <a:ext cx="621792" cy="621792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43000" y="3355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3081528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受眾規模是爆紅的基礎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161520" y="3081528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log_subscriber SHAP = 2.109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4379976"/>
            <a:ext cx="16642080" cy="1170432"/>
          </a:xfrm>
          <a:prstGeom prst="roundRect">
            <a:avLst>
              <a:gd name="adj" fmla="val 625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4654296"/>
            <a:ext cx="621792" cy="621792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4654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03120" y="4379976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早期觀看速度是最強即時信號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161520" y="4379976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views_3h SHAP = 0.770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" y="5678424"/>
            <a:ext cx="16642080" cy="1170432"/>
          </a:xfrm>
          <a:prstGeom prst="roundRect">
            <a:avLst>
              <a:gd name="adj" fmla="val 625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143000" y="5952744"/>
            <a:ext cx="621792" cy="621792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143000" y="5952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103120" y="5678424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留言喚醒度有效（即使只有 regex）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161520" y="5678424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+12%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22960" y="6976872"/>
            <a:ext cx="16642080" cy="1170432"/>
          </a:xfrm>
          <a:prstGeom prst="roundRect">
            <a:avLst>
              <a:gd name="adj" fmla="val 6250"/>
            </a:avLst>
          </a:prstGeom>
          <a:solidFill>
            <a:srgbClr val="343734"/>
          </a:solidFill>
          <a:ln/>
          <a:effectLst>
            <a:outerShdw blurRad="114300" dist="38100" dir="72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43000" y="7251192"/>
            <a:ext cx="621792" cy="621792"/>
          </a:xfrm>
          <a:prstGeom prst="ellipse">
            <a:avLst/>
          </a:prstGeom>
          <a:solidFill>
            <a:srgbClr val="70A1B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1143000" y="72511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103120" y="6976872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評估設計本身很重要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161520" y="6976872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0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分組切分才能公平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0" y="2011680"/>
            <a:ext cx="1188720" cy="548640"/>
          </a:xfrm>
          <a:prstGeom prst="line">
            <a:avLst/>
          </a:prstGeom>
          <a:noFill/>
          <a:ln w="31750">
            <a:solidFill>
              <a:srgbClr val="70A1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3990320" y="2560320"/>
            <a:ext cx="1005840" cy="731520"/>
          </a:xfrm>
          <a:prstGeom prst="line">
            <a:avLst/>
          </a:prstGeom>
          <a:noFill/>
          <a:ln w="31750">
            <a:solidFill>
              <a:srgbClr val="70A1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3291840"/>
            <a:ext cx="822960" cy="1280160"/>
          </a:xfrm>
          <a:prstGeom prst="line">
            <a:avLst/>
          </a:prstGeom>
          <a:noFill/>
          <a:ln w="31750">
            <a:solidFill>
              <a:srgbClr val="70A1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819120" y="4572000"/>
            <a:ext cx="640080" cy="1645920"/>
          </a:xfrm>
          <a:prstGeom prst="line">
            <a:avLst/>
          </a:prstGeom>
          <a:noFill/>
          <a:ln w="31750">
            <a:solidFill>
              <a:srgbClr val="70A1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6459200" y="6217920"/>
            <a:ext cx="548640" cy="1645920"/>
          </a:xfrm>
          <a:prstGeom prst="line">
            <a:avLst/>
          </a:prstGeom>
          <a:noFill/>
          <a:ln w="31750">
            <a:solidFill>
              <a:srgbClr val="70A1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12801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發布後 </a:t>
            </a:r>
            <a:r>
              <a:rPr lang="en-US" sz="6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</a:t>
            </a:r>
            <a:r>
              <a:rPr lang="en-US" sz="6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
</a:t>
            </a:r>
            <a:endParaRPr lang="en-US" sz="6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不只是等待的時間——
</a:t>
            </a:r>
            <a:endParaRPr lang="en-US" sz="6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</a:t>
            </a:r>
            <a:r>
              <a:rPr lang="en-US" sz="6000" b="1" dirty="0">
                <a:solidFill>
                  <a:srgbClr val="70A1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預測的窗口</a:t>
            </a:r>
            <a:r>
              <a:rPr lang="en-US" sz="6000" b="1" dirty="0">
                <a:solidFill>
                  <a:srgbClr val="EF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97280" y="85953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0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　·　資料探勘導論 2026 期末專題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796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96100030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692683-C673-4C8C-BA46-D633D9CC6E6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d834cf4-d476-49b4-a9b7-6f920c3e29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2592</Words>
  <Application>Microsoft Office PowerPoint</Application>
  <PresentationFormat>自訂</PresentationFormat>
  <Paragraphs>645</Paragraphs>
  <Slides>46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1" baseType="lpstr">
      <vt:lpstr>Microsoft JhengHei</vt:lpstr>
      <vt:lpstr>Arial</vt:lpstr>
      <vt:lpstr>Arial Black</vt:lpstr>
      <vt:lpstr>Consolas</vt:lpstr>
      <vt:lpstr>Office Theme [1781096100030]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影片早期成長與爆紅預測</dc:title>
  <dc:subject>PptxGenJS Presentation</dc:subject>
  <dc:creator>阿維</dc:creator>
  <cp:lastModifiedBy>Willie Chang</cp:lastModifiedBy>
  <cp:revision>3</cp:revision>
  <dcterms:created xsi:type="dcterms:W3CDTF">2026-06-10T12:41:04Z</dcterms:created>
  <dcterms:modified xsi:type="dcterms:W3CDTF">2026-06-10T13:30:24Z</dcterms:modified>
</cp:coreProperties>
</file>