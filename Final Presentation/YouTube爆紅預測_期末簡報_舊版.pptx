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7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1791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站定，讓封面停留 5 秒。不要急著講，讓聽眾自己讀完標題。然後開口：「我們要問一個問題——」直接進下一張。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「在進入正題之前，先讓大家知道今天會走過哪些地方。」</a:t>
            </a:r>
          </a:p>
          <a:p>
            <a:r>
              <a:t>「我們從問題定義出發，接著談建爬蟲遇到的坑，然後介紹方法，再看結果，最後總結。」</a:t>
            </a:r>
          </a:p>
          <a:p>
            <a:r>
              <a:t>（停頓）「先從一個問題開始——」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「你剛上傳了一支影片。三小時過去了——左邊這支有 184 個觀看，右邊這支有 1,312 個。」</a:t>
            </a:r>
          </a:p>
          <a:p>
            <a:r>
              <a:t>「48 小時後，右邊達到了爆紅門檻，左邊沒有。」</a:t>
            </a:r>
          </a:p>
          <a:p>
            <a:r>
              <a:t>「這 7 倍的差距是偶然嗎？還是我們在 3 小時的時候就能預測？這就是本專題要回答的問題。」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「本專題有兩個任務。分類：用前 3 小時預測 48h 爆紅；迴歸：用前 48h 預測接下來 24h 新增觀看。」</a:t>
            </a:r>
          </a:p>
          <a:p>
            <a:r>
              <a:t>「共同難點：只有 12.6% 的影片爆紅，資料極度不平衡，而且 Shorts 和長影片成長模式完全不同。」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「我們從頭建立爬蟲，追蹤每支影片 0h、1h、3h、48h、72h 的快照，蒐集到 1,916 支分類樣本。」</a:t>
            </a:r>
          </a:p>
          <a:p>
            <a:r>
              <a:t>「但這個過程遠沒有這幾個數字這麼平順——」（停頓切換下一張）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「在進入方法之前，先感受一下資料的樣貌。」</a:t>
            </a:r>
          </a:p>
          <a:p>
            <a:r>
              <a:t>「左邊是影片類別——Entertainment 佔最大宗，但 Gaming、Music、People &amp; Blogs 也不少。」</a:t>
            </a:r>
          </a:p>
          <a:p>
            <a:r>
              <a:t>「右邊是 48 小時觀看數的 CDF，注意 x 軸是 log 尺度。Shorts（橘色）的中位數比長影片高，但分布也更分散。這就是為什麼預測是個有趣的問題——同一類型的影片，觀看數可以差幾個數量級。」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「建爬蟲遇到的最大挑戰，不是技術問題，而是策略問題。」</a:t>
            </a:r>
          </a:p>
          <a:p>
            <a:r>
              <a:t>「我們一開始用 Explore 和 Channel 發現影片，結果爬了 10,238 支，只有 202 支有完整 0–3h 資料——1.97%。原因：影片被發現時平均已過 30 分鐘，窗口已關。」</a:t>
            </a:r>
          </a:p>
          <a:p>
            <a:r>
              <a:t>「解法是改用 fresh_search，本地過濾上傳不超過 5 分鐘的影片。」</a:t>
            </a:r>
          </a:p>
          <a:p>
            <a:r>
              <a:t>「同時期還有：YouTube API 一直改版；兩個爬蟲同時寫同一個暫存檔導致 JSON 損毀；一行 race condition 讓爬蟲停了 10 小時都無人知道。」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「直接做時序切分有一個根本偏差。」</a:t>
            </a:r>
          </a:p>
          <a:p>
            <a:r>
              <a:t>「Shorts 是後期才大量補爬的，時序上集中近期——直接切，test set 裡幾乎全是 Shorts。等於模型在長影片上訓練，卻在 Shorts 上評估，結果沒有意義。」</a:t>
            </a:r>
          </a:p>
          <a:p>
            <a:r>
              <a:t>「解法是分組切分：Shorts 和長影片各自排序，各自 70/15/15，再合併。每個 split Shorts 比例維持 34%。」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「爆紅的定義，我們刻意設計成相對性的。對 100 萬訂閱的頻道，10 萬觀看不算爆紅；對 500 訂閱的小頻道，10,000 次已經非常驚人。」</a:t>
            </a:r>
          </a:p>
          <a:p>
            <a:r>
              <a:t>「公式：門檻等於訂閱數的兩倍，但設有最低絕對值——Shorts 至少 10,000，長影片至少 2,000。」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「我們設計了五個特徵群組，每個都是前一個的超集——這讓我們可以量化每類資訊的邊際貢獻。」</a:t>
            </a:r>
          </a:p>
          <a:p>
            <a:r>
              <a:t>「A 是純靜態特徵 6 個；B 加入早期流量，擴展到 20 個；C1/C2/C3 加入留言情緒，C2 只用 regex，不需要額外模型。」</a:t>
            </a:r>
          </a:p>
          <a:p>
            <a:r>
              <a:t>「留言特徵覆蓋 34% 的影片，其餘填 0。」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「我們比較四種模型。LightGBM 是主力，跑完五個 Ablation 群組，同時用 5-Fold OOF 為 Stacking 提供輸入。」</a:t>
            </a:r>
          </a:p>
          <a:p>
            <a:r>
              <a:t>「LSTM 讀取 0–3h 的時序序列，T×3 格式。」</a:t>
            </a:r>
          </a:p>
          <a:p>
            <a:r>
              <a:t>「Stacking 把兩個模型的 OOF 機率拼起來，用 Logistic Regression 當 meta-learner——meta 只在 OOF 上訓練，從未見過 test set。」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「Ablation Study 的結果非常清楚。從 Group A 到 Group B，LightGBM 的 F1 從 0.327 跳到 0.731，提升了 124%。AUC 從 0.733 升到 0.937。」</a:t>
            </a:r>
          </a:p>
          <a:p>
            <a:r>
              <a:t>「這告訴我們：訂閱數等靜態特徵本身不足以預測爆紅。關鍵是影片在前 3 小時的反應速度。」</a:t>
            </a:r>
          </a:p>
          <a:p>
            <a:r>
              <a:t>「Viral 影片的 views_3h 中位數是 1,312，Non-viral 只有 184——7 倍差距，在第 3 小時就已經出現了。」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「SHAP 分析給了我們一個清楚的解釋。log_subscriber_count 的 SHAP 值是 2.109，排第二的 views_3h 是 0.770——差了 2.7 倍，這不是微幅差距。」</a:t>
            </a:r>
          </a:p>
          <a:p>
            <a:r>
              <a:t>「直覺上合理：100 萬訂閱的頻道發影片，天生就有更大的受眾基礎。」</a:t>
            </a:r>
          </a:p>
          <a:p>
            <a:r>
              <a:t>「但重要的是，排第二、第三的早期觀看指標告訴我們：光有受眾不夠，影片還必須在早期就觸發成長動能。」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「加入留言情緒，在只有 34% 覆蓋率的情況下依然有改善。」</a:t>
            </a:r>
          </a:p>
          <a:p>
            <a:r>
              <a:t>「最有趣的是 C2——不是用模型，而是用 regex 計算驚嘆號密度、emoji 密度、還有強烈詞彙比例，作為喚醒度的代理指標。」</a:t>
            </a:r>
          </a:p>
          <a:p>
            <a:r>
              <a:t>「結果是 Precision 從 73% 提升到 82%，提升了 12%。散布圖也清楚顯示，高 Valence 加高 Arousal 的影片，Viral 比例明顯更高。」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「這是完整的分類結果。F1 最高是 LightGBM C2 的 0.763，AUC 最高是 LightGBM C1 的 0.943。」</a:t>
            </a:r>
          </a:p>
          <a:p>
            <a:r>
              <a:t>「LSTM 只有 0.257——序列模型沒有訂閱數這個最強的靜態特徵，上限很有限。」</a:t>
            </a:r>
          </a:p>
          <a:p>
            <a:r>
              <a:t>「Stacking AUC=0.919，但 F1 只有 0.674，因為 LSTM 的低品質預測拉低了融合效果。」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「知道 AUC=0.943 之後，來看看模型實際上在哪裡犯錯。」</a:t>
            </a:r>
          </a:p>
          <a:p>
            <a:r>
              <a:t>「混淆矩陣（左）：最值得關注的是 False Negative，也就是實際爆紅但模型沒抓到的影片——在只有 12.6% 病毒率的情況下，這些是最貴的錯誤。」</a:t>
            </a:r>
          </a:p>
          <a:p>
            <a:r>
              <a:t>「右邊的閾值敏感度圖告訴我們：如果應用場景是『早期預警』，可以把閾值調低，讓 Recall 升高，代價是 Precision 下降。不同的使用情境有不同的最佳閾值。」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「補充一張 PR 曲線。在病毒率只有 12.6% 的情況下，ROC 容易過於樂觀——隨機猜測的 ROC-AUC 是 0.5，但 PR-AUC 的 random baseline 只有 0.126。」</a:t>
            </a:r>
          </a:p>
          <a:p>
            <a:r>
              <a:t>「LightGBM C3 的 PR-AUC = 0.832，是 random baseline 的 6.6 倍，說明模型的確在不平衡資料上學到了有效的判別能力。」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「迴歸任務用前 48h 預測接下來 24h。LightGBM C1 的 R²=0.853，MAE=0.835（log 尺度）。」</a:t>
            </a:r>
          </a:p>
          <a:p>
            <a:r>
              <a:t>「這個模型的用途是：創作者在發布 48 小時後，可以預估影片還有多少成長空間。」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「看完整體 R²，我們再深入看殘差。左邊的殘差分布圖——大部分預測誤差集中在 ±1 之內，但有一條長尾，那是觀看數突然爆發的影片。」</a:t>
            </a:r>
          </a:p>
          <a:p>
            <a:r>
              <a:t>「這類社群擴散（viral cascade）有很強的隨機性，僅靠前 48h 資料很難完全預測。」</a:t>
            </a:r>
          </a:p>
          <a:p>
            <a:r>
              <a:t>「右邊的群組比較，加入留言情緒（C1）只有微小提升，說明對迴歸來說，早期流量本身已是主要信號，情緒是錦上添花。」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「讓我做個總結。」</a:t>
            </a:r>
          </a:p>
          <a:p>
            <a:r>
              <a:t>「第一，3 小時的資料已經足夠，AUC=0.943。」</a:t>
            </a:r>
          </a:p>
          <a:p>
            <a:r>
              <a:t>「第二，最關鍵的特徵是頻道訂閱數，SHAP 值 2.109，是第二名的 2.7 倍。」</a:t>
            </a:r>
          </a:p>
          <a:p>
            <a:r>
              <a:t>「第三，即使只有 34% 覆蓋率，留言喚醒度特徵讓 Precision 提升了 12%。」</a:t>
            </a:r>
          </a:p>
          <a:p>
            <a:r>
              <a:t>「第四，分組時序切分是保證評估有意義的必要設計。」</a:t>
            </a:r>
          </a:p>
          <a:p>
            <a:r>
              <a:t>「第五，迴歸 R²=0.853，可以在 48 小時後預測接下來的增量。」</a:t>
            </a:r>
          </a:p>
          <a:p>
            <a:r>
              <a:t>「最後——發布後 3 小時，不只是等待的時間，它是預測的窗口。謝謝大家。」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urve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4160520"/>
            <a:ext cx="7863840" cy="5239512"/>
          </a:xfrm>
          <a:prstGeom prst="rect">
            <a:avLst/>
          </a:prstGeom>
          <a:effectLst/>
        </p:spPr>
      </p:pic>
      <p:pic>
        <p:nvPicPr>
          <p:cNvPr id="3" name="Picture 2" descr="p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9040" y="777240"/>
            <a:ext cx="2103120" cy="1499616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2834640"/>
            <a:ext cx="1618488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YouTube 影片早期成長</a:t>
            </a:r>
          </a:p>
          <a:p>
            <a:pPr algn="l"/>
            <a:r>
              <a:rPr sz="88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與爆紅預測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806440"/>
            <a:ext cx="12801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3 小時預測 48 小時爆紅的可行性研究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90982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9B9E97"/>
                </a:solidFill>
                <a:latin typeface="Microsoft JhengHei"/>
                <a:ea typeface="Microsoft JhengHei"/>
                <a:cs typeface="Microsoft JhengHei"/>
              </a:rPr>
              <a:t>資料探勘導論・期末專題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868680"/>
            <a:ext cx="12801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今天要講五件事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0" y="4754880"/>
            <a:ext cx="12801600" cy="0"/>
          </a:xfrm>
          <a:prstGeom prst="line">
            <a:avLst/>
          </a:prstGeom>
          <a:ln w="25400">
            <a:solidFill>
              <a:srgbClr val="6C6F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2084832" y="4096512"/>
            <a:ext cx="1316736" cy="1316736"/>
          </a:xfrm>
          <a:prstGeom prst="ellipse">
            <a:avLst/>
          </a:prstGeom>
          <a:solidFill>
            <a:srgbClr val="70A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84832" y="4096512"/>
            <a:ext cx="1316736" cy="1316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EFF1E8"/>
                </a:solidFill>
                <a:latin typeface="Arial Black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5715000"/>
            <a:ext cx="31455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為什麼要預測爆紅？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6355080"/>
            <a:ext cx="31455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 i="0">
                <a:solidFill>
                  <a:srgbClr val="9B9E97"/>
                </a:solidFill>
                <a:latin typeface="Microsoft JhengHei"/>
                <a:ea typeface="Microsoft JhengHei"/>
                <a:cs typeface="Microsoft JhengHei"/>
              </a:rPr>
              <a:t>背景與問題</a:t>
            </a:r>
          </a:p>
        </p:txBody>
      </p:sp>
      <p:sp>
        <p:nvSpPr>
          <p:cNvPr id="8" name="Oval 7"/>
          <p:cNvSpPr/>
          <p:nvPr/>
        </p:nvSpPr>
        <p:spPr>
          <a:xfrm>
            <a:off x="5285232" y="4096512"/>
            <a:ext cx="1316736" cy="1316736"/>
          </a:xfrm>
          <a:prstGeom prst="ellipse">
            <a:avLst/>
          </a:prstGeom>
          <a:solidFill>
            <a:srgbClr val="70A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85232" y="4096512"/>
            <a:ext cx="1316736" cy="1316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EFF1E8"/>
                </a:solidFill>
                <a:latin typeface="Arial Black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832" y="5715000"/>
            <a:ext cx="31455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爬蟲踩了哪些雷？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6355080"/>
            <a:ext cx="31455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 i="0">
                <a:solidFill>
                  <a:srgbClr val="9B9E97"/>
                </a:solidFill>
                <a:latin typeface="Microsoft JhengHei"/>
                <a:ea typeface="Microsoft JhengHei"/>
                <a:cs typeface="Microsoft JhengHei"/>
              </a:rPr>
              <a:t>工程挑戰</a:t>
            </a:r>
          </a:p>
        </p:txBody>
      </p:sp>
      <p:sp>
        <p:nvSpPr>
          <p:cNvPr id="12" name="Oval 11"/>
          <p:cNvSpPr/>
          <p:nvPr/>
        </p:nvSpPr>
        <p:spPr>
          <a:xfrm>
            <a:off x="8485632" y="4096512"/>
            <a:ext cx="1316736" cy="1316736"/>
          </a:xfrm>
          <a:prstGeom prst="ellipse">
            <a:avLst/>
          </a:prstGeom>
          <a:solidFill>
            <a:srgbClr val="70A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85632" y="4096512"/>
            <a:ext cx="1316736" cy="1316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EFF1E8"/>
                </a:solidFill>
                <a:latin typeface="Arial Black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1231" y="5715000"/>
            <a:ext cx="31455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怎麼定義特徵與模型？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1231" y="6355080"/>
            <a:ext cx="31455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 i="0">
                <a:solidFill>
                  <a:srgbClr val="9B9E97"/>
                </a:solidFill>
                <a:latin typeface="Microsoft JhengHei"/>
                <a:ea typeface="Microsoft JhengHei"/>
                <a:cs typeface="Microsoft JhengHei"/>
              </a:rPr>
              <a:t>方法論</a:t>
            </a:r>
          </a:p>
        </p:txBody>
      </p:sp>
      <p:sp>
        <p:nvSpPr>
          <p:cNvPr id="16" name="Oval 15"/>
          <p:cNvSpPr/>
          <p:nvPr/>
        </p:nvSpPr>
        <p:spPr>
          <a:xfrm>
            <a:off x="11686032" y="4096512"/>
            <a:ext cx="1316736" cy="1316736"/>
          </a:xfrm>
          <a:prstGeom prst="ellipse">
            <a:avLst/>
          </a:prstGeom>
          <a:solidFill>
            <a:srgbClr val="70A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686032" y="4096512"/>
            <a:ext cx="1316736" cy="1316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EFF1E8"/>
                </a:solidFill>
                <a:latin typeface="Arial Black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71632" y="5715000"/>
            <a:ext cx="31455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模型到底多準？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71632" y="6355080"/>
            <a:ext cx="31455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 i="0">
                <a:solidFill>
                  <a:srgbClr val="9B9E97"/>
                </a:solidFill>
                <a:latin typeface="Microsoft JhengHei"/>
                <a:ea typeface="Microsoft JhengHei"/>
                <a:cs typeface="Microsoft JhengHei"/>
              </a:rPr>
              <a:t>結果與發現</a:t>
            </a:r>
          </a:p>
        </p:txBody>
      </p:sp>
      <p:sp>
        <p:nvSpPr>
          <p:cNvPr id="20" name="Oval 19"/>
          <p:cNvSpPr/>
          <p:nvPr/>
        </p:nvSpPr>
        <p:spPr>
          <a:xfrm>
            <a:off x="14886432" y="4096512"/>
            <a:ext cx="1316736" cy="1316736"/>
          </a:xfrm>
          <a:prstGeom prst="ellipse">
            <a:avLst/>
          </a:prstGeom>
          <a:solidFill>
            <a:srgbClr val="70A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886432" y="4096512"/>
            <a:ext cx="1316736" cy="1316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EFF1E8"/>
                </a:solidFill>
                <a:latin typeface="Arial Black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72032" y="5715000"/>
            <a:ext cx="31455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我們學到什麼？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72032" y="6355080"/>
            <a:ext cx="31455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 i="0">
                <a:solidFill>
                  <a:srgbClr val="9B9E97"/>
                </a:solidFill>
                <a:latin typeface="Microsoft JhengHei"/>
                <a:ea typeface="Microsoft JhengHei"/>
                <a:cs typeface="Microsoft JhengHei"/>
              </a:rPr>
              <a:t>結論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8915400"/>
            <a:ext cx="1828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9B9E97"/>
                </a:solidFill>
                <a:latin typeface="Microsoft JhengHei"/>
                <a:ea typeface="Microsoft JhengHei"/>
                <a:cs typeface="Microsoft JhengHei"/>
              </a:rPr>
              <a:t>總時間約 20 分鐘・5 個章節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A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85800"/>
            <a:ext cx="18288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同樣在 3 小時前發布──</a:t>
            </a:r>
          </a:p>
        </p:txBody>
      </p:sp>
      <p:pic>
        <p:nvPicPr>
          <p:cNvPr id="3" name="Picture 2" descr="fig05_growth_curve_ex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2057400"/>
            <a:ext cx="8016367" cy="4846320"/>
          </a:xfrm>
          <a:prstGeom prst="rect">
            <a:avLst/>
          </a:prstGeom>
          <a:ln w="19050">
            <a:solidFill>
              <a:srgbClr val="EFF1E8"/>
            </a:solidFill>
          </a:ln>
          <a:effectLst/>
        </p:spPr>
      </p:pic>
      <p:cxnSp>
        <p:nvCxnSpPr>
          <p:cNvPr id="4" name="Connector 3"/>
          <p:cNvCxnSpPr/>
          <p:nvPr/>
        </p:nvCxnSpPr>
        <p:spPr>
          <a:xfrm>
            <a:off x="6293284" y="2396642"/>
            <a:ext cx="0" cy="4041831"/>
          </a:xfrm>
          <a:prstGeom prst="line">
            <a:avLst/>
          </a:prstGeom>
          <a:ln w="20320">
            <a:solidFill>
              <a:srgbClr val="34373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281604" y="7013448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↑ 分類模型只看到這裡（0–3h）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402336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BCD1D7"/>
                </a:solidFill>
                <a:latin typeface="Microsoft JhengHei"/>
                <a:ea typeface="Microsoft JhengHei"/>
                <a:cs typeface="Microsoft JhengHei"/>
              </a:rPr>
              <a:t>Non-viral</a:t>
            </a:r>
          </a:p>
          <a:p>
            <a:pPr algn="ctr">
              <a:spcAft>
                <a:spcPts val="400"/>
              </a:spcAft>
            </a:pPr>
            <a:r>
              <a:rPr sz="8800" b="1" i="0">
                <a:solidFill>
                  <a:srgbClr val="BCD1D7"/>
                </a:solidFill>
                <a:latin typeface="Arial Black"/>
                <a:ea typeface="Microsoft JhengHei"/>
                <a:cs typeface="Microsoft JhengHei"/>
              </a:rPr>
              <a:t>184</a:t>
            </a:r>
          </a:p>
          <a:p>
            <a:pPr algn="ctr"/>
            <a:r>
              <a:rPr sz="2000" b="0" i="0">
                <a:solidFill>
                  <a:srgbClr val="BCD1D7"/>
                </a:solidFill>
                <a:latin typeface="Microsoft JhengHei"/>
                <a:ea typeface="Microsoft JhengHei"/>
                <a:cs typeface="Microsoft JhengHei"/>
              </a:rPr>
              <a:t>觀看（3 小時）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624560" y="3291840"/>
            <a:ext cx="402336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Viral</a:t>
            </a:r>
          </a:p>
          <a:p>
            <a:pPr algn="ctr">
              <a:spcAft>
                <a:spcPts val="400"/>
              </a:spcAft>
            </a:pPr>
            <a:r>
              <a:rPr sz="8800" b="1" i="0">
                <a:solidFill>
                  <a:srgbClr val="EFF1E8"/>
                </a:solidFill>
                <a:latin typeface="Arial Black"/>
                <a:ea typeface="Microsoft JhengHei"/>
                <a:cs typeface="Microsoft JhengHei"/>
              </a:rPr>
              <a:t>1,312</a:t>
            </a:r>
          </a:p>
          <a:p>
            <a:pPr algn="ctr"/>
            <a:r>
              <a:rPr sz="200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觀看（3 小時）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503920"/>
            <a:ext cx="18288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1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7 倍的差距，能被預測嗎？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5943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兩個預測問題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828800"/>
            <a:ext cx="7863840" cy="4114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5400">
            <a:solidFill>
              <a:srgbClr val="3437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00200" y="219456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任務 1・分類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697480"/>
            <a:ext cx="6858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48 小時內會爆紅嗎？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3886200"/>
            <a:ext cx="68580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輸入　</a:t>
            </a:r>
            <a:r>
              <a:rPr sz="2600" b="0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發布後 0–3 小時的時序資料</a:t>
            </a:r>
          </a:p>
          <a:p>
            <a:pPr algn="l"/>
            <a:r>
              <a:rPr sz="26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輸出　</a:t>
            </a:r>
            <a:r>
              <a:rPr sz="2600" b="0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是否爆紅（二元分類）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1828800"/>
            <a:ext cx="7863840" cy="4114800"/>
          </a:xfrm>
          <a:prstGeom prst="roundRect">
            <a:avLst>
              <a:gd name="adj" fmla="val 7000"/>
            </a:avLst>
          </a:prstGeom>
          <a:solidFill>
            <a:srgbClr val="343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29800" y="219456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任務 2・迴歸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2697480"/>
            <a:ext cx="6858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接下來還會漲多少？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3886200"/>
            <a:ext cx="68580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輸入　</a:t>
            </a:r>
            <a:r>
              <a:rPr sz="260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發布後 0–48 小時的時序資料</a:t>
            </a:r>
          </a:p>
          <a:p>
            <a:pPr algn="l"/>
            <a:r>
              <a:rPr sz="26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輸出　</a:t>
            </a:r>
            <a:r>
              <a:rPr sz="260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接下來 24 小時的新增觀看數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6455664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分類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6510528"/>
            <a:ext cx="2926080" cy="384048"/>
          </a:xfrm>
          <a:prstGeom prst="rect">
            <a:avLst/>
          </a:prstGeom>
          <a:solidFill>
            <a:srgbClr val="70A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68880" y="6510528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輸入 0–3h</a:t>
            </a:r>
          </a:p>
        </p:txBody>
      </p:sp>
      <p:sp>
        <p:nvSpPr>
          <p:cNvPr id="14" name="Diamond 13"/>
          <p:cNvSpPr/>
          <p:nvPr/>
        </p:nvSpPr>
        <p:spPr>
          <a:xfrm>
            <a:off x="12335255" y="6510528"/>
            <a:ext cx="384048" cy="384048"/>
          </a:xfrm>
          <a:prstGeom prst="diamond">
            <a:avLst/>
          </a:prstGeom>
          <a:solidFill>
            <a:srgbClr val="343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47319" y="6510528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48h 標籤：是否爆紅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68880" y="7260336"/>
            <a:ext cx="13350240" cy="0"/>
          </a:xfrm>
          <a:prstGeom prst="line">
            <a:avLst/>
          </a:prstGeom>
          <a:ln w="25400">
            <a:solidFill>
              <a:srgbClr val="3437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468880" y="7187184"/>
            <a:ext cx="0" cy="146304"/>
          </a:xfrm>
          <a:prstGeom prst="line">
            <a:avLst/>
          </a:prstGeom>
          <a:ln w="25400">
            <a:solidFill>
              <a:srgbClr val="3437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011680" y="7370064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7F827C"/>
                </a:solidFill>
                <a:latin typeface="Microsoft JhengHei"/>
                <a:ea typeface="Microsoft JhengHei"/>
                <a:cs typeface="Microsoft JhengHei"/>
              </a:rPr>
              <a:t>0h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394960" y="7187184"/>
            <a:ext cx="0" cy="146304"/>
          </a:xfrm>
          <a:prstGeom prst="line">
            <a:avLst/>
          </a:prstGeom>
          <a:ln w="25400">
            <a:solidFill>
              <a:srgbClr val="3437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937760" y="7370064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7F827C"/>
                </a:solidFill>
                <a:latin typeface="Microsoft JhengHei"/>
                <a:ea typeface="Microsoft JhengHei"/>
                <a:cs typeface="Microsoft JhengHei"/>
              </a:rPr>
              <a:t>3h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527280" y="7187184"/>
            <a:ext cx="0" cy="146304"/>
          </a:xfrm>
          <a:prstGeom prst="line">
            <a:avLst/>
          </a:prstGeom>
          <a:ln w="25400">
            <a:solidFill>
              <a:srgbClr val="3437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2070080" y="7370064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7F827C"/>
                </a:solidFill>
                <a:latin typeface="Microsoft JhengHei"/>
                <a:ea typeface="Microsoft JhengHei"/>
                <a:cs typeface="Microsoft JhengHei"/>
              </a:rPr>
              <a:t>48h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5819120" y="7187184"/>
            <a:ext cx="0" cy="146304"/>
          </a:xfrm>
          <a:prstGeom prst="line">
            <a:avLst/>
          </a:prstGeom>
          <a:ln w="25400">
            <a:solidFill>
              <a:srgbClr val="3437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5361920" y="7370064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7F827C"/>
                </a:solidFill>
                <a:latin typeface="Microsoft JhengHei"/>
                <a:ea typeface="Microsoft JhengHei"/>
                <a:cs typeface="Microsoft JhengHei"/>
              </a:rPr>
              <a:t>72h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7790688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迴歸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8880" y="7845552"/>
            <a:ext cx="10058400" cy="384048"/>
          </a:xfrm>
          <a:prstGeom prst="rect">
            <a:avLst/>
          </a:prstGeom>
          <a:solidFill>
            <a:srgbClr val="6E96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68880" y="7845552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輸入 0–48h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527280" y="7845552"/>
            <a:ext cx="3291840" cy="384048"/>
          </a:xfrm>
          <a:prstGeom prst="rect">
            <a:avLst/>
          </a:prstGeom>
          <a:solidFill>
            <a:srgbClr val="343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527280" y="7845552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預測 +24h 新增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8796528"/>
            <a:ext cx="16093440" cy="1005840"/>
          </a:xfrm>
          <a:prstGeom prst="roundRect">
            <a:avLst>
              <a:gd name="adj" fmla="val 50000"/>
            </a:avLst>
          </a:prstGeom>
          <a:noFill/>
          <a:ln w="31750">
            <a:solidFill>
              <a:srgbClr val="70A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97280" y="8796528"/>
            <a:ext cx="160934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共同挑戰　</a:t>
            </a:r>
            <a:r>
              <a:rPr sz="2200" b="0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病毒率僅 12.6%・觀看數長尾分布・Shorts 與長影片行為迥異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640080"/>
            <a:ext cx="16002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自建爬蟲：從零蒐集 1,916 支影片的時序資料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2194560"/>
            <a:ext cx="4480560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3437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697480"/>
            <a:ext cx="4480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0" b="1" i="0">
                <a:solidFill>
                  <a:srgbClr val="343734"/>
                </a:solidFill>
                <a:latin typeface="Arial Black"/>
                <a:ea typeface="Microsoft JhengHei"/>
                <a:cs typeface="Microsoft JhengHei"/>
              </a:rPr>
              <a:t>1,916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02336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分類樣本（支影片）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194560"/>
            <a:ext cx="4480560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3437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35040" y="2697480"/>
            <a:ext cx="4480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0" b="1" i="0">
                <a:solidFill>
                  <a:srgbClr val="343734"/>
                </a:solidFill>
                <a:latin typeface="Arial Black"/>
                <a:ea typeface="Microsoft JhengHei"/>
                <a:cs typeface="Microsoft JhengHei"/>
              </a:rPr>
              <a:t>2,394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402336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迴歸樣本（支影片）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5212079"/>
            <a:ext cx="4480560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3437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5714999"/>
            <a:ext cx="4480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0" b="1" i="0">
                <a:solidFill>
                  <a:srgbClr val="343734"/>
                </a:solidFill>
                <a:latin typeface="Arial Black"/>
                <a:ea typeface="Microsoft JhengHei"/>
                <a:cs typeface="Microsoft JhengHei"/>
              </a:rPr>
              <a:t>33,895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7040879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時序觀測（rows）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5212079"/>
            <a:ext cx="4480560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3437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35040" y="5714999"/>
            <a:ext cx="4480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0" b="1" i="0">
                <a:solidFill>
                  <a:srgbClr val="343734"/>
                </a:solidFill>
                <a:latin typeface="Arial Black"/>
                <a:ea typeface="Microsoft JhengHei"/>
                <a:cs typeface="Microsoft JhengHei"/>
              </a:rPr>
              <a:t>642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7040879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含留言情緒特徵（支）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247120" y="2194560"/>
            <a:ext cx="5852160" cy="841248"/>
          </a:xfrm>
          <a:prstGeom prst="roundRect">
            <a:avLst>
              <a:gd name="adj" fmla="val 12000"/>
            </a:avLst>
          </a:prstGeom>
          <a:solidFill>
            <a:srgbClr val="343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247120" y="2194560"/>
            <a:ext cx="5852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影片發現（fresh_search）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3972032" y="3072384"/>
            <a:ext cx="402336" cy="292608"/>
          </a:xfrm>
          <a:prstGeom prst="downArrow">
            <a:avLst/>
          </a:prstGeom>
          <a:solidFill>
            <a:srgbClr val="70A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1247120" y="3401568"/>
            <a:ext cx="5852160" cy="841248"/>
          </a:xfrm>
          <a:prstGeom prst="roundRect">
            <a:avLst>
              <a:gd name="adj" fmla="val 12000"/>
            </a:avLst>
          </a:prstGeom>
          <a:solidFill>
            <a:srgbClr val="343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247120" y="3401568"/>
            <a:ext cx="5852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靜態資訊抓取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3972032" y="4279392"/>
            <a:ext cx="402336" cy="292608"/>
          </a:xfrm>
          <a:prstGeom prst="downArrow">
            <a:avLst/>
          </a:prstGeom>
          <a:solidFill>
            <a:srgbClr val="70A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1247120" y="4608576"/>
            <a:ext cx="5852160" cy="841248"/>
          </a:xfrm>
          <a:prstGeom prst="roundRect">
            <a:avLst>
              <a:gd name="adj" fmla="val 12000"/>
            </a:avLst>
          </a:prstGeom>
          <a:solidFill>
            <a:srgbClr val="343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247120" y="4608576"/>
            <a:ext cx="5852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時序追蹤（0h–72h 快照）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13972032" y="5486400"/>
            <a:ext cx="402336" cy="292608"/>
          </a:xfrm>
          <a:prstGeom prst="downArrow">
            <a:avLst/>
          </a:prstGeom>
          <a:solidFill>
            <a:srgbClr val="70A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1247120" y="5815583"/>
            <a:ext cx="5852160" cy="841248"/>
          </a:xfrm>
          <a:prstGeom prst="roundRect">
            <a:avLst>
              <a:gd name="adj" fmla="val 12000"/>
            </a:avLst>
          </a:prstGeom>
          <a:solidFill>
            <a:srgbClr val="343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247120" y="5815583"/>
            <a:ext cx="5852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留言快照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13972032" y="6693407"/>
            <a:ext cx="402336" cy="292608"/>
          </a:xfrm>
          <a:prstGeom prst="downArrow">
            <a:avLst/>
          </a:prstGeom>
          <a:solidFill>
            <a:srgbClr val="70A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1247120" y="7022592"/>
            <a:ext cx="5852160" cy="841248"/>
          </a:xfrm>
          <a:prstGeom prst="roundRect">
            <a:avLst>
              <a:gd name="adj" fmla="val 12000"/>
            </a:avLst>
          </a:prstGeom>
          <a:solidFill>
            <a:srgbClr val="343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247120" y="7022592"/>
            <a:ext cx="5852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前處理・特徵建構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8183879"/>
            <a:ext cx="5852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7F827C"/>
                </a:solidFill>
                <a:latin typeface="Microsoft JhengHei"/>
                <a:ea typeface="Microsoft JhengHei"/>
                <a:cs typeface="Microsoft JhengHei"/>
              </a:rPr>
              <a:t>Shorts 偵測：HTTP HEAD 200 / 303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548640"/>
            <a:ext cx="16002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資料長什麼樣子：類別分布與觀看數 CDF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17320"/>
            <a:ext cx="16002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1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在講方法之前，先看看資料本身</a:t>
            </a:r>
          </a:p>
        </p:txBody>
      </p:sp>
      <p:pic>
        <p:nvPicPr>
          <p:cNvPr id="4" name="Picture 3" descr="fig04_category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2194560"/>
            <a:ext cx="6835044" cy="4114800"/>
          </a:xfrm>
          <a:prstGeom prst="rect">
            <a:avLst/>
          </a:prstGeom>
          <a:ln w="15875">
            <a:solidFill>
              <a:srgbClr val="343734"/>
            </a:solidFill>
          </a:ln>
          <a:effectLst/>
        </p:spPr>
      </p:pic>
      <p:pic>
        <p:nvPicPr>
          <p:cNvPr id="5" name="Picture 4" descr="fig02_view_cdf_by_ty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2194560"/>
            <a:ext cx="6613804" cy="4114800"/>
          </a:xfrm>
          <a:prstGeom prst="rect">
            <a:avLst/>
          </a:prstGeom>
          <a:ln w="15875">
            <a:solidFill>
              <a:srgbClr val="343734"/>
            </a:solidFill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2011680" y="6446520"/>
            <a:ext cx="683504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前 10 大類別：Entertainment 最多，Gaming、Music 次之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46520"/>
            <a:ext cx="661380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48h 觀看數 CDF（log 尺度）：Shorts 與長影片形狀迥異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7589520"/>
            <a:ext cx="14310360" cy="1828800"/>
          </a:xfrm>
          <a:prstGeom prst="roundRect">
            <a:avLst>
              <a:gd name="adj" fmla="val 10000"/>
            </a:avLst>
          </a:prstGeom>
          <a:solidFill>
            <a:srgbClr val="343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60320" y="7589520"/>
            <a:ext cx="237744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關鍵觀察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7589520"/>
            <a:ext cx="1097280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・觀看數分布極度右偏（長尾），直接預測難度高</a:t>
            </a:r>
          </a:p>
          <a:p>
            <a:pPr algn="l"/>
            <a:r>
              <a:rPr sz="200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・Shorts 中位數觀看數 &gt; 長影片，但方差也更大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A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457200"/>
            <a:ext cx="160934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0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爬蟲踩雷：10,238 支影片，只有 202 支能用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81328"/>
            <a:ext cx="1609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四個讓我們重寫爬蟲的問題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194560"/>
            <a:ext cx="8092440" cy="3520440"/>
          </a:xfrm>
          <a:prstGeom prst="roundRect">
            <a:avLst>
              <a:gd name="adj" fmla="val 6000"/>
            </a:avLst>
          </a:prstGeom>
          <a:solidFill>
            <a:srgbClr val="EF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508760" y="2542032"/>
            <a:ext cx="566928" cy="566928"/>
          </a:xfrm>
          <a:prstGeom prst="ellipse">
            <a:avLst/>
          </a:prstGeom>
          <a:solidFill>
            <a:srgbClr val="70A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8760" y="254203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EFF1E8"/>
                </a:solidFill>
                <a:latin typeface="Arial Black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523744"/>
            <a:ext cx="6583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發現延遲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337560"/>
            <a:ext cx="7223759" cy="2240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問題　</a:t>
            </a:r>
            <a:r>
              <a:rPr sz="1750" b="0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10,238 支只有 202 支有 0–3h 資料（1.97%）</a:t>
            </a:r>
          </a:p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原因　</a:t>
            </a:r>
            <a:r>
              <a:rPr sz="1750" b="0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發現時影片平均已 30 分鐘，黃金窗口已關閉</a:t>
            </a:r>
          </a:p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解法　</a:t>
            </a:r>
            <a:r>
              <a:rPr sz="1750" b="0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改 fresh_search＋只收上傳 ≤5 分鐘的影片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45919" y="5212079"/>
            <a:ext cx="6949440" cy="0"/>
          </a:xfrm>
          <a:prstGeom prst="line">
            <a:avLst/>
          </a:prstGeom>
          <a:ln w="19050">
            <a:solidFill>
              <a:srgbClr val="3437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645919" y="5029199"/>
            <a:ext cx="4572000" cy="118872"/>
          </a:xfrm>
          <a:prstGeom prst="rect">
            <a:avLst/>
          </a:prstGeom>
          <a:solidFill>
            <a:srgbClr val="70A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4828031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0–3h 窗口已錯過</a:t>
            </a:r>
          </a:p>
        </p:txBody>
      </p:sp>
      <p:sp>
        <p:nvSpPr>
          <p:cNvPr id="12" name="Oval 11"/>
          <p:cNvSpPr/>
          <p:nvPr/>
        </p:nvSpPr>
        <p:spPr>
          <a:xfrm>
            <a:off x="1581911" y="5148071"/>
            <a:ext cx="128016" cy="128016"/>
          </a:xfrm>
          <a:prstGeom prst="ellipse">
            <a:avLst/>
          </a:prstGeom>
          <a:solidFill>
            <a:srgbClr val="343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19" y="5285231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7F827C"/>
                </a:solidFill>
                <a:latin typeface="Microsoft JhengHei"/>
                <a:ea typeface="Microsoft JhengHei"/>
                <a:cs typeface="Microsoft JhengHei"/>
              </a:rPr>
              <a:t>發布</a:t>
            </a:r>
          </a:p>
        </p:txBody>
      </p:sp>
      <p:sp>
        <p:nvSpPr>
          <p:cNvPr id="14" name="Oval 13"/>
          <p:cNvSpPr/>
          <p:nvPr/>
        </p:nvSpPr>
        <p:spPr>
          <a:xfrm>
            <a:off x="3118104" y="5129783"/>
            <a:ext cx="164592" cy="164592"/>
          </a:xfrm>
          <a:prstGeom prst="ellipse">
            <a:avLst/>
          </a:prstGeom>
          <a:solidFill>
            <a:srgbClr val="E62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68880" y="5285231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E62117"/>
                </a:solidFill>
                <a:latin typeface="Microsoft JhengHei"/>
                <a:ea typeface="Microsoft JhengHei"/>
                <a:cs typeface="Microsoft JhengHei"/>
              </a:rPr>
              <a:t>發現時已 30min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19" y="2194560"/>
            <a:ext cx="8092440" cy="3520440"/>
          </a:xfrm>
          <a:prstGeom prst="roundRect">
            <a:avLst>
              <a:gd name="adj" fmla="val 6000"/>
            </a:avLst>
          </a:prstGeom>
          <a:solidFill>
            <a:srgbClr val="343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058399" y="2542032"/>
            <a:ext cx="566928" cy="566928"/>
          </a:xfrm>
          <a:prstGeom prst="ellipse">
            <a:avLst/>
          </a:prstGeom>
          <a:noFill/>
          <a:ln w="19050">
            <a:solidFill>
              <a:srgbClr val="EF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399" y="254203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EFF1E8"/>
                </a:solidFill>
                <a:latin typeface="Arial Black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35640" y="2523744"/>
            <a:ext cx="6583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YouTube API 持續改版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04119" y="3337560"/>
            <a:ext cx="7223759" cy="2240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問題　</a:t>
            </a:r>
            <a:r>
              <a:rPr sz="175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trending 端點下架、RSS 404、留言 ViewModel 搬家</a:t>
            </a:r>
          </a:p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解法　</a:t>
            </a:r>
            <a:r>
              <a:rPr sz="175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全面改用 InnerTube；新增 _extract_mutations() 解析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5943600"/>
            <a:ext cx="8092440" cy="3520440"/>
          </a:xfrm>
          <a:prstGeom prst="roundRect">
            <a:avLst>
              <a:gd name="adj" fmla="val 6000"/>
            </a:avLst>
          </a:prstGeom>
          <a:solidFill>
            <a:srgbClr val="343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508760" y="6291072"/>
            <a:ext cx="566928" cy="566928"/>
          </a:xfrm>
          <a:prstGeom prst="ellipse">
            <a:avLst/>
          </a:prstGeom>
          <a:noFill/>
          <a:ln w="19050">
            <a:solidFill>
              <a:srgbClr val="EF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08760" y="629107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EFF1E8"/>
                </a:solidFill>
                <a:latin typeface="Arial Black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6272784"/>
            <a:ext cx="6583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雙 Scheduler 互相覆寫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7086600"/>
            <a:ext cx="7223759" cy="2240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問題　</a:t>
            </a:r>
            <a:r>
              <a:rPr sz="175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兩個 process 同寫同一 tmp 檔 → JSON 損毀</a:t>
            </a:r>
          </a:p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解法　</a:t>
            </a:r>
            <a:r>
              <a:rPr sz="175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tmp 檔名加 PID 隔離；救回 2,081 筆資料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46919" y="5943600"/>
            <a:ext cx="8092440" cy="3520440"/>
          </a:xfrm>
          <a:prstGeom prst="roundRect">
            <a:avLst>
              <a:gd name="adj" fmla="val 6000"/>
            </a:avLst>
          </a:prstGeom>
          <a:solidFill>
            <a:srgbClr val="343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058399" y="6291072"/>
            <a:ext cx="566928" cy="566928"/>
          </a:xfrm>
          <a:prstGeom prst="ellipse">
            <a:avLst/>
          </a:prstGeom>
          <a:noFill/>
          <a:ln w="19050">
            <a:solidFill>
              <a:srgbClr val="EF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399" y="629107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EFF1E8"/>
                </a:solidFill>
                <a:latin typeface="Arial Black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35640" y="6272784"/>
            <a:ext cx="6583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10 小時無聲停擺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4119" y="7086600"/>
            <a:ext cx="7223759" cy="2240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問題　</a:t>
            </a:r>
            <a:r>
              <a:rPr sz="175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_sleep 負數 race condition → crash 無人察覺</a:t>
            </a:r>
          </a:p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解法　</a:t>
            </a:r>
            <a:r>
              <a:rPr sz="175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先算 remaining，≤0 直接 break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0" y="1417320"/>
            <a:ext cx="9144000" cy="8869680"/>
          </a:xfrm>
          <a:prstGeom prst="rect">
            <a:avLst/>
          </a:prstGeom>
          <a:solidFill>
            <a:srgbClr val="EF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16093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測試集幾乎全是 Shorts？分組時序切分解決評估偏差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874519"/>
            <a:ext cx="1371600" cy="502920"/>
          </a:xfrm>
          <a:prstGeom prst="roundRect">
            <a:avLst>
              <a:gd name="adj" fmla="val 30000"/>
            </a:avLst>
          </a:prstGeom>
          <a:solidFill>
            <a:srgbClr val="E62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7132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舊切法：直接時序切分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1783080"/>
            <a:ext cx="10972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 i="0">
                <a:solidFill>
                  <a:srgbClr val="9B9E97"/>
                </a:solidFill>
                <a:latin typeface="Microsoft JhengHei"/>
                <a:ea typeface="Microsoft JhengHei"/>
                <a:cs typeface="Microsoft JhengHei"/>
              </a:rPr>
              <a:t>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長影片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3931920"/>
            <a:ext cx="5852160" cy="548640"/>
          </a:xfrm>
          <a:prstGeom prst="rect">
            <a:avLst/>
          </a:prstGeom>
          <a:noFill/>
          <a:ln w="12700">
            <a:solidFill>
              <a:srgbClr val="6C6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468880" y="3931920"/>
            <a:ext cx="4213555" cy="548640"/>
          </a:xfrm>
          <a:prstGeom prst="rect">
            <a:avLst/>
          </a:prstGeom>
          <a:solidFill>
            <a:srgbClr val="70A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68880" y="3931920"/>
            <a:ext cx="421355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集中在早期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937760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Shorts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4937760"/>
            <a:ext cx="5852160" cy="548640"/>
          </a:xfrm>
          <a:prstGeom prst="rect">
            <a:avLst/>
          </a:prstGeom>
          <a:noFill/>
          <a:ln w="12700">
            <a:solidFill>
              <a:srgbClr val="6C6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87568" y="4937760"/>
            <a:ext cx="2633472" cy="548640"/>
          </a:xfrm>
          <a:prstGeom prst="rect">
            <a:avLst/>
          </a:prstGeom>
          <a:solidFill>
            <a:srgbClr val="EF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87568" y="4937760"/>
            <a:ext cx="263347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集中在近期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50608" y="3611880"/>
            <a:ext cx="0" cy="2148840"/>
          </a:xfrm>
          <a:prstGeom prst="line">
            <a:avLst/>
          </a:prstGeom>
          <a:ln w="22225">
            <a:solidFill>
              <a:srgbClr val="EFF1E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36208" y="327355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切分點｜右側＝Test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5596128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9B9E97"/>
                </a:solidFill>
                <a:latin typeface="Microsoft JhengHei"/>
                <a:ea typeface="Microsoft JhengHei"/>
                <a:cs typeface="Microsoft JhengHei"/>
              </a:rPr>
              <a:t>→ 影片發布時間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6172200"/>
            <a:ext cx="6675120" cy="685800"/>
          </a:xfrm>
          <a:prstGeom prst="roundRect">
            <a:avLst>
              <a:gd name="adj" fmla="val 25000"/>
            </a:avLst>
          </a:prstGeom>
          <a:solidFill>
            <a:srgbClr val="E62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6172200"/>
            <a:ext cx="66751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結果：Test set 幾乎全是 Shorts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7178040"/>
            <a:ext cx="7498079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Train 在長影片上學習，Test 卻在 Shorts 上評估</a:t>
            </a:r>
          </a:p>
          <a:p>
            <a:pPr algn="l"/>
            <a:r>
              <a:rPr sz="21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→ 模型評估失真、無法公平比較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1874519"/>
            <a:ext cx="1371600" cy="502920"/>
          </a:xfrm>
          <a:prstGeom prst="roundRect">
            <a:avLst>
              <a:gd name="adj" fmla="val 30000"/>
            </a:avLst>
          </a:prstGeom>
          <a:solidFill>
            <a:srgbClr val="70A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84080" y="1874519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解法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560320"/>
            <a:ext cx="6217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分組時序切分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33520" y="1783080"/>
            <a:ext cx="10972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347472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Shorts、長影片各自依時間排序，各切 70/15/15 再合併</a:t>
            </a:r>
          </a:p>
        </p:txBody>
      </p:sp>
      <p:pic>
        <p:nvPicPr>
          <p:cNvPr id="27" name="Picture 26" descr="fig01_data_split_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4160520"/>
            <a:ext cx="5661009" cy="3657600"/>
          </a:xfrm>
          <a:prstGeom prst="rect">
            <a:avLst/>
          </a:prstGeom>
          <a:ln w="15875">
            <a:solidFill>
              <a:srgbClr val="343734"/>
            </a:solidFill>
          </a:ln>
          <a:effectLst/>
        </p:spPr>
      </p:pic>
      <p:sp>
        <p:nvSpPr>
          <p:cNvPr id="28" name="Rounded Rectangle 27"/>
          <p:cNvSpPr/>
          <p:nvPr/>
        </p:nvSpPr>
        <p:spPr>
          <a:xfrm>
            <a:off x="10058400" y="8092440"/>
            <a:ext cx="2331720" cy="640080"/>
          </a:xfrm>
          <a:prstGeom prst="roundRect">
            <a:avLst>
              <a:gd name="adj" fmla="val 20000"/>
            </a:avLst>
          </a:prstGeom>
          <a:solidFill>
            <a:srgbClr val="343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0" y="809244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Train 1,133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710160" y="8092440"/>
            <a:ext cx="2331720" cy="640080"/>
          </a:xfrm>
          <a:prstGeom prst="roundRect">
            <a:avLst>
              <a:gd name="adj" fmla="val 20000"/>
            </a:avLst>
          </a:prstGeom>
          <a:solidFill>
            <a:srgbClr val="343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710160" y="809244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Valid 380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361920" y="8092440"/>
            <a:ext cx="2331720" cy="640080"/>
          </a:xfrm>
          <a:prstGeom prst="roundRect">
            <a:avLst>
              <a:gd name="adj" fmla="val 20000"/>
            </a:avLst>
          </a:prstGeom>
          <a:solidFill>
            <a:srgbClr val="343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5361920" y="809244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Test 403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900684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每個 split 維持 ~34% Shorts，評估才有意義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594360"/>
            <a:ext cx="16002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「爆紅」的定義：同時考量觀看數與頻道規模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2103120"/>
            <a:ext cx="9509760" cy="3154680"/>
          </a:xfrm>
          <a:prstGeom prst="roundRect">
            <a:avLst>
              <a:gd name="adj" fmla="val 7000"/>
            </a:avLst>
          </a:prstGeom>
          <a:solidFill>
            <a:srgbClr val="343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91640" y="2487168"/>
            <a:ext cx="850392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 b="0" i="0">
                <a:solidFill>
                  <a:srgbClr val="EFF1E8"/>
                </a:solidFill>
                <a:latin typeface="Consolas"/>
                <a:ea typeface="Microsoft JhengHei"/>
                <a:cs typeface="Microsoft JhengHei"/>
              </a:rPr>
              <a:t>effective_sub = max(訂閱數, 1,000)</a:t>
            </a:r>
          </a:p>
          <a:p>
            <a:pPr algn="l">
              <a:spcAft>
                <a:spcPts val="800"/>
              </a:spcAft>
            </a:pPr>
            <a:r>
              <a:rPr sz="2400" b="0" i="0">
                <a:solidFill>
                  <a:srgbClr val="EFF1E8"/>
                </a:solidFill>
                <a:latin typeface="Consolas"/>
                <a:ea typeface="Microsoft JhengHei"/>
                <a:cs typeface="Microsoft JhengHei"/>
              </a:rPr>
              <a:t>threshold = max(最低門檻, 2 × effective_sub)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AEB0A9"/>
                </a:solidFill>
                <a:latin typeface="Consolas"/>
                <a:ea typeface="Microsoft JhengHei"/>
                <a:cs typeface="Microsoft JhengHei"/>
              </a:rPr>
              <a:t>最低門檻：Shorts 10,000／長影片 2,000</a:t>
            </a:r>
          </a:p>
          <a:p>
            <a:pPr algn="l"/>
            <a:r>
              <a:rPr sz="2400" b="1" i="0">
                <a:solidFill>
                  <a:srgbClr val="70A1BD"/>
                </a:solidFill>
                <a:latin typeface="Consolas"/>
                <a:ea typeface="Microsoft JhengHei"/>
                <a:cs typeface="Microsoft JhengHei"/>
              </a:rPr>
              <a:t>is_viral = views_48h ≥ threshold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989320"/>
            <a:ext cx="43891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 i="0">
                <a:solidFill>
                  <a:srgbClr val="70A1BD"/>
                </a:solidFill>
                <a:latin typeface="Arial Black"/>
                <a:ea typeface="Microsoft JhengHei"/>
                <a:cs typeface="Microsoft JhengHei"/>
              </a:rPr>
              <a:t>12.6%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6126480"/>
            <a:ext cx="49377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病毒率</a:t>
            </a:r>
          </a:p>
          <a:p>
            <a:pPr algn="l"/>
            <a:r>
              <a:rPr sz="1800" b="0" i="0">
                <a:solidFill>
                  <a:srgbClr val="7F827C"/>
                </a:solidFill>
                <a:latin typeface="Microsoft JhengHei"/>
                <a:ea typeface="Microsoft JhengHei"/>
                <a:cs typeface="Microsoft JhengHei"/>
              </a:rPr>
              <a:t>1,916 支影片中 241 支爆紅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338560" y="2103120"/>
          <a:ext cx="5852160" cy="2267712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EFF1E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範例情境</a:t>
                      </a:r>
                    </a:p>
                  </a:txBody>
                  <a:tcPr marL="128016" marR="128016" marT="27432" marB="27432" anchor="ctr">
                    <a:solidFill>
                      <a:srgbClr val="3437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EFF1E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爆紅門檻</a:t>
                      </a:r>
                    </a:p>
                  </a:txBody>
                  <a:tcPr marL="128016" marR="128016" marT="27432" marB="27432" anchor="ctr">
                    <a:solidFill>
                      <a:srgbClr val="343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3437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訂閱 500・Shorts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3437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10,000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3437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訂閱 8,000・長影片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3437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16,000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3437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訂閱 100,000・任一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3437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200,000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" name="Picture 7" descr="fig03_viral_rate_by_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5074920"/>
            <a:ext cx="6675120" cy="2868425"/>
          </a:xfrm>
          <a:prstGeom prst="rect">
            <a:avLst/>
          </a:prstGeom>
          <a:ln w="15875">
            <a:solidFill>
              <a:srgbClr val="343734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10607040" y="8092440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Shorts 病毒率 13.8% vs 長影片 11.9%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640080"/>
            <a:ext cx="16002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五個特徵群組的 Ablation Study 設計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80160" y="2377440"/>
            <a:ext cx="8138160" cy="969264"/>
          </a:xfrm>
          <a:prstGeom prst="roundRect">
            <a:avLst>
              <a:gd name="adj" fmla="val 10000"/>
            </a:avLst>
          </a:prstGeom>
          <a:solidFill>
            <a:srgbClr val="343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00200" y="2377440"/>
            <a:ext cx="7680960" cy="9692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C3・28 個特徵　</a:t>
            </a:r>
            <a:r>
              <a:rPr sz="170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＋C1+C2 全部情緒特徵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3584448"/>
            <a:ext cx="7406640" cy="969264"/>
          </a:xfrm>
          <a:prstGeom prst="roundRect">
            <a:avLst>
              <a:gd name="adj" fmla="val 10000"/>
            </a:avLst>
          </a:prstGeom>
          <a:solidFill>
            <a:srgbClr val="6E96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00200" y="3584448"/>
            <a:ext cx="6949440" cy="9692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C2・25 個特徵　</a:t>
            </a:r>
            <a:r>
              <a:rPr sz="170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＋Valence–Arousal proxy（regex）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4791456"/>
            <a:ext cx="6949440" cy="969264"/>
          </a:xfrm>
          <a:prstGeom prst="roundRect">
            <a:avLst>
              <a:gd name="adj" fmla="val 10000"/>
            </a:avLst>
          </a:prstGeom>
          <a:solidFill>
            <a:srgbClr val="A0B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00200" y="4791456"/>
            <a:ext cx="6492240" cy="9692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C1・23 個特徵　</a:t>
            </a:r>
            <a:r>
              <a:rPr sz="1700" b="0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＋留言二元情緒（RoBERTa）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5998464"/>
            <a:ext cx="6217920" cy="969264"/>
          </a:xfrm>
          <a:prstGeom prst="roundRect">
            <a:avLst>
              <a:gd name="adj" fmla="val 10000"/>
            </a:avLst>
          </a:prstGeom>
          <a:solidFill>
            <a:srgbClr val="C8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00200" y="5998464"/>
            <a:ext cx="5760720" cy="9692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B・20 個特徵　</a:t>
            </a:r>
            <a:r>
              <a:rPr sz="1700" b="0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＋早期流量：views_3h・成長率・互動率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7205472"/>
            <a:ext cx="2926080" cy="969264"/>
          </a:xfrm>
          <a:prstGeom prst="roundRect">
            <a:avLst>
              <a:gd name="adj" fmla="val 10000"/>
            </a:avLst>
          </a:prstGeom>
          <a:solidFill>
            <a:srgbClr val="EFF1E8"/>
          </a:solidFill>
          <a:ln w="19050">
            <a:solidFill>
              <a:srgbClr val="3437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00200" y="7205472"/>
            <a:ext cx="2468880" cy="9692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A・6 個特徵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7205472"/>
            <a:ext cx="6400800" cy="9692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7F827C"/>
                </a:solidFill>
                <a:latin typeface="Microsoft JhengHei"/>
                <a:ea typeface="Microsoft JhengHei"/>
                <a:cs typeface="Microsoft JhengHei"/>
              </a:rPr>
              <a:t>靜態：訂閱數、長度、發布時段…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87325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每一層都是前一層的超集 → 可量化每類資訊的邊際貢獻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521440" y="2377440"/>
            <a:ext cx="5669280" cy="5760720"/>
          </a:xfrm>
          <a:prstGeom prst="roundRect">
            <a:avLst>
              <a:gd name="adj" fmla="val 8000"/>
            </a:avLst>
          </a:prstGeom>
          <a:solidFill>
            <a:srgbClr val="343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978640" y="2880360"/>
            <a:ext cx="4754880" cy="4846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22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情緒特徵實作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C1 模型</a:t>
            </a:r>
          </a:p>
          <a:p>
            <a:pPr algn="l">
              <a:spcAft>
                <a:spcPts val="1600"/>
              </a:spcAft>
            </a:pPr>
            <a:r>
              <a:rPr sz="1400" b="0" i="0">
                <a:solidFill>
                  <a:srgbClr val="EFF1E8"/>
                </a:solidFill>
                <a:latin typeface="Consolas"/>
                <a:ea typeface="Microsoft JhengHei"/>
                <a:cs typeface="Microsoft JhengHei"/>
              </a:rPr>
              <a:t>uer/roberta-base-finetuned-jd-binary-chinese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C2 規則（不需模型）</a:t>
            </a:r>
          </a:p>
          <a:p>
            <a:pPr algn="l">
              <a:spcAft>
                <a:spcPts val="1600"/>
              </a:spcAft>
            </a:pPr>
            <a:r>
              <a:rPr sz="160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驚嘆號密度＋emoji＋強烈詞彙比例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覆蓋率</a:t>
            </a:r>
          </a:p>
          <a:p>
            <a:pPr algn="l"/>
            <a:r>
              <a:rPr sz="2600" b="1" i="0">
                <a:solidFill>
                  <a:srgbClr val="EFF1E8"/>
                </a:solidFill>
                <a:latin typeface="Arial Black"/>
                <a:ea typeface="Microsoft JhengHei"/>
                <a:cs typeface="Microsoft JhengHei"/>
              </a:rPr>
              <a:t>34%</a:t>
            </a:r>
            <a:r>
              <a:rPr sz="160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（642 支），其餘影片填 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A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548640"/>
            <a:ext cx="16002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四種模型架構：從線性到 Stacking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737360"/>
            <a:ext cx="4983480" cy="2331720"/>
          </a:xfrm>
          <a:prstGeom prst="roundRect">
            <a:avLst>
              <a:gd name="adj" fmla="val 8000"/>
            </a:avLst>
          </a:prstGeom>
          <a:solidFill>
            <a:srgbClr val="343734"/>
          </a:solidFill>
          <a:ln w="9525">
            <a:solidFill>
              <a:srgbClr val="BCD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c_sigma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2121408"/>
            <a:ext cx="731520" cy="73152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2423160" y="2048255"/>
            <a:ext cx="35204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Logistic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2697480"/>
            <a:ext cx="35204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5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群組 A/B/C1</a:t>
            </a:r>
          </a:p>
          <a:p>
            <a:pPr algn="l"/>
            <a:r>
              <a:rPr sz="165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StandardScaler・class_weight=balanced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737360"/>
            <a:ext cx="4983480" cy="2331720"/>
          </a:xfrm>
          <a:prstGeom prst="roundRect">
            <a:avLst>
              <a:gd name="adj" fmla="val 8000"/>
            </a:avLst>
          </a:prstGeom>
          <a:solidFill>
            <a:srgbClr val="343734"/>
          </a:solidFill>
          <a:ln w="9525">
            <a:solidFill>
              <a:srgbClr val="BCD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c_tree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121408"/>
            <a:ext cx="731520" cy="731520"/>
          </a:xfrm>
          <a:prstGeom prst="rect">
            <a:avLst/>
          </a:prstGeom>
          <a:effectLst/>
        </p:spPr>
      </p:pic>
      <p:sp>
        <p:nvSpPr>
          <p:cNvPr id="9" name="TextBox 8"/>
          <p:cNvSpPr txBox="1"/>
          <p:nvPr/>
        </p:nvSpPr>
        <p:spPr>
          <a:xfrm>
            <a:off x="7680960" y="2048255"/>
            <a:ext cx="35204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LightGBM（主力）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697480"/>
            <a:ext cx="35204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5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群組 A–C3 全跑</a:t>
            </a:r>
          </a:p>
          <a:p>
            <a:pPr algn="l"/>
            <a:r>
              <a:rPr sz="165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5-Fold OOF・scale_pos_weight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343400"/>
            <a:ext cx="4983480" cy="2331720"/>
          </a:xfrm>
          <a:prstGeom prst="roundRect">
            <a:avLst>
              <a:gd name="adj" fmla="val 8000"/>
            </a:avLst>
          </a:prstGeom>
          <a:solidFill>
            <a:srgbClr val="343734"/>
          </a:solidFill>
          <a:ln w="9525">
            <a:solidFill>
              <a:srgbClr val="BCD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c_wave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0" y="4727448"/>
            <a:ext cx="731520" cy="731520"/>
          </a:xfrm>
          <a:prstGeom prst="rect">
            <a:avLst/>
          </a:prstGeom>
          <a:effectLst/>
        </p:spPr>
      </p:pic>
      <p:sp>
        <p:nvSpPr>
          <p:cNvPr id="13" name="TextBox 12"/>
          <p:cNvSpPr txBox="1"/>
          <p:nvPr/>
        </p:nvSpPr>
        <p:spPr>
          <a:xfrm>
            <a:off x="2423160" y="4654296"/>
            <a:ext cx="35204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LSTM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5303520"/>
            <a:ext cx="35204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5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群組 B・0–3h 序列（T×3）</a:t>
            </a:r>
          </a:p>
          <a:p>
            <a:pPr algn="l"/>
            <a:r>
              <a:rPr sz="165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BCELoss + pos_weight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4343400"/>
            <a:ext cx="4983480" cy="2331720"/>
          </a:xfrm>
          <a:prstGeom prst="roundRect">
            <a:avLst>
              <a:gd name="adj" fmla="val 8000"/>
            </a:avLst>
          </a:prstGeom>
          <a:solidFill>
            <a:srgbClr val="343734"/>
          </a:solidFill>
          <a:ln w="9525">
            <a:solidFill>
              <a:srgbClr val="BCD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c_layers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4727448"/>
            <a:ext cx="731520" cy="731520"/>
          </a:xfrm>
          <a:prstGeom prst="rect">
            <a:avLst/>
          </a:prstGeom>
          <a:effectLst/>
        </p:spPr>
      </p:pic>
      <p:sp>
        <p:nvSpPr>
          <p:cNvPr id="17" name="TextBox 16"/>
          <p:cNvSpPr txBox="1"/>
          <p:nvPr/>
        </p:nvSpPr>
        <p:spPr>
          <a:xfrm>
            <a:off x="7680960" y="4654296"/>
            <a:ext cx="35204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Stacking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303520"/>
            <a:ext cx="35204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5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LGB OOF + LSTM OOF</a:t>
            </a:r>
          </a:p>
          <a:p>
            <a:pPr algn="l"/>
            <a:r>
              <a:rPr sz="165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→ Logistic meta-learner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070080" y="1737360"/>
            <a:ext cx="5120640" cy="3657600"/>
          </a:xfrm>
          <a:prstGeom prst="roundRect">
            <a:avLst>
              <a:gd name="adj" fmla="val 8000"/>
            </a:avLst>
          </a:prstGeom>
          <a:noFill/>
          <a:ln w="22225">
            <a:solidFill>
              <a:srgbClr val="EFF1E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527280" y="2148840"/>
            <a:ext cx="429768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防洩漏設計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・分類特徵嚴格只用 ≤3h 資訊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・Scaler 只 fit 在 train</a:t>
            </a:r>
          </a:p>
          <a:p>
            <a:pPr algn="l"/>
            <a:r>
              <a:rPr sz="180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・Meta-learner 只在 OOF 預測上訓練，從未見過 test 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967728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Stacking 架構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7452360"/>
            <a:ext cx="2651760" cy="731520"/>
          </a:xfrm>
          <a:prstGeom prst="roundRect">
            <a:avLst>
              <a:gd name="adj" fmla="val 12000"/>
            </a:avLst>
          </a:prstGeom>
          <a:solidFill>
            <a:srgbClr val="343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63040" y="745236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LightGBM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63040" y="8732520"/>
            <a:ext cx="2651760" cy="731520"/>
          </a:xfrm>
          <a:prstGeom prst="roundRect">
            <a:avLst>
              <a:gd name="adj" fmla="val 12000"/>
            </a:avLst>
          </a:prstGeom>
          <a:solidFill>
            <a:srgbClr val="343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463040" y="873252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LSTM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160520" y="7818120"/>
            <a:ext cx="1645920" cy="0"/>
          </a:xfrm>
          <a:prstGeom prst="line">
            <a:avLst/>
          </a:prstGeom>
          <a:ln w="25400">
            <a:solidFill>
              <a:srgbClr val="EFF1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160520" y="7434072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OOF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160520" y="9098280"/>
            <a:ext cx="1645920" cy="0"/>
          </a:xfrm>
          <a:prstGeom prst="line">
            <a:avLst/>
          </a:prstGeom>
          <a:ln w="25400">
            <a:solidFill>
              <a:srgbClr val="EFF1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160520" y="8714232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OOF</a:t>
            </a:r>
          </a:p>
        </p:txBody>
      </p:sp>
      <p:sp>
        <p:nvSpPr>
          <p:cNvPr id="30" name="Oval 29"/>
          <p:cNvSpPr/>
          <p:nvPr/>
        </p:nvSpPr>
        <p:spPr>
          <a:xfrm>
            <a:off x="5897880" y="7498079"/>
            <a:ext cx="640080" cy="640080"/>
          </a:xfrm>
          <a:prstGeom prst="ellipse">
            <a:avLst/>
          </a:prstGeom>
          <a:solidFill>
            <a:srgbClr val="EF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97880" y="7498079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P₁</a:t>
            </a:r>
          </a:p>
        </p:txBody>
      </p:sp>
      <p:sp>
        <p:nvSpPr>
          <p:cNvPr id="32" name="Oval 31"/>
          <p:cNvSpPr/>
          <p:nvPr/>
        </p:nvSpPr>
        <p:spPr>
          <a:xfrm>
            <a:off x="5897880" y="8778240"/>
            <a:ext cx="640080" cy="640080"/>
          </a:xfrm>
          <a:prstGeom prst="ellipse">
            <a:avLst/>
          </a:prstGeom>
          <a:solidFill>
            <a:srgbClr val="EF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897880" y="87782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P₂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83680" y="7818120"/>
            <a:ext cx="1325880" cy="594360"/>
          </a:xfrm>
          <a:prstGeom prst="line">
            <a:avLst/>
          </a:prstGeom>
          <a:ln w="25400">
            <a:solidFill>
              <a:srgbClr val="EFF1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583680" y="8503920"/>
            <a:ext cx="1325880" cy="594360"/>
          </a:xfrm>
          <a:prstGeom prst="line">
            <a:avLst/>
          </a:prstGeom>
          <a:ln w="25400">
            <a:solidFill>
              <a:srgbClr val="EFF1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955279" y="8074152"/>
            <a:ext cx="2468880" cy="777240"/>
          </a:xfrm>
          <a:prstGeom prst="roundRect">
            <a:avLst>
              <a:gd name="adj" fmla="val 12000"/>
            </a:avLst>
          </a:prstGeom>
          <a:solidFill>
            <a:srgbClr val="343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955279" y="8074152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[P₁ , P₂] 拼接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469880" y="8467344"/>
            <a:ext cx="822960" cy="0"/>
          </a:xfrm>
          <a:prstGeom prst="line">
            <a:avLst/>
          </a:prstGeom>
          <a:ln w="25400">
            <a:solidFill>
              <a:srgbClr val="EFF1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1384280" y="8074152"/>
            <a:ext cx="3017520" cy="777240"/>
          </a:xfrm>
          <a:prstGeom prst="roundRect">
            <a:avLst>
              <a:gd name="adj" fmla="val 12000"/>
            </a:avLst>
          </a:prstGeom>
          <a:solidFill>
            <a:srgbClr val="343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384280" y="8074152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Logistic（meta）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47520" y="8467344"/>
            <a:ext cx="822960" cy="0"/>
          </a:xfrm>
          <a:prstGeom prst="line">
            <a:avLst/>
          </a:prstGeom>
          <a:ln w="25400">
            <a:solidFill>
              <a:srgbClr val="EFF1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5361920" y="8028431"/>
            <a:ext cx="2011680" cy="868680"/>
          </a:xfrm>
          <a:prstGeom prst="roundRect">
            <a:avLst>
              <a:gd name="adj" fmla="val 16000"/>
            </a:avLst>
          </a:prstGeom>
          <a:solidFill>
            <a:srgbClr val="EF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5361920" y="8028431"/>
            <a:ext cx="20116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最終機率 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A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457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核心發現 1 ─ Ablation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51560"/>
            <a:ext cx="40233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0" b="1" i="0">
                <a:solidFill>
                  <a:srgbClr val="BCD1D7"/>
                </a:solidFill>
                <a:latin typeface="Arial Black"/>
                <a:ea typeface="Microsoft JhengHei"/>
                <a:cs typeface="Microsoft JhengHei"/>
              </a:rPr>
              <a:t>0.327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95728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BCD1D7"/>
                </a:solidFill>
                <a:latin typeface="Microsoft JhengHei"/>
                <a:ea typeface="Microsoft JhengHei"/>
                <a:cs typeface="Microsoft JhengHei"/>
              </a:rPr>
              <a:t>Group A（僅靜態特徵）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349240" y="1572768"/>
            <a:ext cx="1463040" cy="566928"/>
          </a:xfrm>
          <a:prstGeom prst="rightArrow">
            <a:avLst/>
          </a:prstGeom>
          <a:solidFill>
            <a:srgbClr val="EF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166360" y="102412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EFF1E8"/>
                </a:solidFill>
                <a:latin typeface="Arial Black"/>
                <a:ea typeface="Microsoft JhengHei"/>
                <a:cs typeface="Microsoft JhengHei"/>
              </a:rPr>
              <a:t>+124%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960120"/>
            <a:ext cx="4572000" cy="1783080"/>
          </a:xfrm>
          <a:prstGeom prst="roundRect">
            <a:avLst>
              <a:gd name="adj" fmla="val 13000"/>
            </a:avLst>
          </a:prstGeom>
          <a:solidFill>
            <a:srgbClr val="EF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78040" y="1078992"/>
            <a:ext cx="4572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600" b="1" i="0">
                <a:solidFill>
                  <a:srgbClr val="70A1BD"/>
                </a:solidFill>
                <a:latin typeface="Arial Black"/>
                <a:ea typeface="Microsoft JhengHei"/>
                <a:cs typeface="Microsoft JhengHei"/>
              </a:rPr>
              <a:t>0.731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228600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Group B（＋早期流量）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0" y="1188720"/>
            <a:ext cx="49377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分類 F1-score（LightGBM）</a:t>
            </a:r>
          </a:p>
          <a:p>
            <a:pPr algn="l"/>
            <a:r>
              <a:rPr sz="220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AUC 0.733 → 0.937（+27.8%）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54680"/>
            <a:ext cx="1600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加入早期流量特徵，預測力翻倍</a:t>
            </a:r>
          </a:p>
        </p:txBody>
      </p:sp>
      <p:pic>
        <p:nvPicPr>
          <p:cNvPr id="12" name="Picture 11" descr="fig13_ablation_classifi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114800"/>
            <a:ext cx="8474864" cy="4297680"/>
          </a:xfrm>
          <a:prstGeom prst="rect">
            <a:avLst/>
          </a:prstGeom>
          <a:ln w="15875">
            <a:solidFill>
              <a:srgbClr val="EFF1E8"/>
            </a:solidFill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1097280" y="8549640"/>
            <a:ext cx="84748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A → B 一步：F1 +124%、AUC +27.8%；C 群再加留言情緒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4114800"/>
            <a:ext cx="7315200" cy="3886200"/>
          </a:xfrm>
          <a:prstGeom prst="roundRect">
            <a:avLst>
              <a:gd name="adj" fmla="val 8000"/>
            </a:avLst>
          </a:prstGeom>
          <a:solidFill>
            <a:srgbClr val="343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ig07_views3h_vs_vi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4398264"/>
            <a:ext cx="6766560" cy="3316204"/>
          </a:xfrm>
          <a:prstGeom prst="rect">
            <a:avLst/>
          </a:prstGeom>
          <a:effectLst/>
        </p:spPr>
      </p:pic>
      <p:sp>
        <p:nvSpPr>
          <p:cNvPr id="16" name="TextBox 15"/>
          <p:cNvSpPr txBox="1"/>
          <p:nvPr/>
        </p:nvSpPr>
        <p:spPr>
          <a:xfrm>
            <a:off x="9966960" y="8229600"/>
            <a:ext cx="7315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・靜態特徵(訂閱數、長度)≠ 爆紅保證</a:t>
            </a:r>
          </a:p>
          <a:p>
            <a:pPr algn="l"/>
            <a:r>
              <a:rPr sz="20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・早期觀看速度＝爆紅的核心即時信號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A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457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核心發現 2 ─ SHAP 可解釋性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51560"/>
            <a:ext cx="11430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1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「你能爆紅，最重要的原因是──你的頻道本來就有受眾。」</a:t>
            </a:r>
          </a:p>
        </p:txBody>
      </p:sp>
      <p:pic>
        <p:nvPicPr>
          <p:cNvPr id="4" name="Picture 3" descr="fig06_shap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286000"/>
            <a:ext cx="7589520" cy="5252829"/>
          </a:xfrm>
          <a:prstGeom prst="rect">
            <a:avLst/>
          </a:prstGeom>
          <a:ln w="15875">
            <a:solidFill>
              <a:srgbClr val="EFF1E8"/>
            </a:solidFill>
          </a:ln>
          <a:effectLst/>
        </p:spPr>
      </p:pic>
      <p:sp>
        <p:nvSpPr>
          <p:cNvPr id="5" name="Rounded Rectangle 4"/>
          <p:cNvSpPr/>
          <p:nvPr/>
        </p:nvSpPr>
        <p:spPr>
          <a:xfrm>
            <a:off x="1097280" y="2377440"/>
            <a:ext cx="7863840" cy="2103120"/>
          </a:xfrm>
          <a:prstGeom prst="roundRect">
            <a:avLst>
              <a:gd name="adj" fmla="val 10000"/>
            </a:avLst>
          </a:prstGeom>
          <a:solidFill>
            <a:srgbClr val="EF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54480" y="2670048"/>
            <a:ext cx="3566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 i="0">
                <a:solidFill>
                  <a:srgbClr val="70A1BD"/>
                </a:solidFill>
                <a:latin typeface="Arial Black"/>
                <a:ea typeface="Microsoft JhengHei"/>
                <a:cs typeface="Microsoft JhengHei"/>
              </a:rPr>
              <a:t>2.109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2761488"/>
            <a:ext cx="3566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7F827C"/>
                </a:solidFill>
                <a:latin typeface="Microsoft JhengHei"/>
                <a:ea typeface="Microsoft JhengHei"/>
                <a:cs typeface="Microsoft JhengHei"/>
              </a:rPr>
              <a:t>#1  SHAP 值</a:t>
            </a:r>
          </a:p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343734"/>
                </a:solidFill>
                <a:latin typeface="Consolas"/>
                <a:ea typeface="Microsoft JhengHei"/>
                <a:cs typeface="Microsoft JhengHei"/>
              </a:rPr>
              <a:t>log_subscriber_count</a:t>
            </a:r>
          </a:p>
          <a:p>
            <a:pPr algn="l"/>
            <a:r>
              <a:rPr sz="1700" b="0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頻道訂閱數（log）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70916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↑ 第 1 名是第 2 名的 2.7 倍──這不是微幅差距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EFF1E8"/>
                </a:solidFill>
                <a:latin typeface="Arial Black"/>
                <a:ea typeface="Microsoft JhengHei"/>
                <a:cs typeface="Microsoft JhengHei"/>
              </a:rPr>
              <a:t>0.770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5687568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#2  views_3h ─ 3 小時觀看數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653796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BCD1D7"/>
                </a:solidFill>
                <a:latin typeface="Arial Black"/>
                <a:ea typeface="Microsoft JhengHei"/>
                <a:cs typeface="Microsoft JhengHei"/>
              </a:rPr>
              <a:t>0.683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6601968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BCD1D7"/>
                </a:solidFill>
                <a:latin typeface="Microsoft JhengHei"/>
                <a:ea typeface="Microsoft JhengHei"/>
                <a:cs typeface="Microsoft JhengHei"/>
              </a:rPr>
              <a:t>#3  view_delta_1h_3h ─ 1→3h 增量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7818120"/>
            <a:ext cx="80467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但光有受眾還不夠──</a:t>
            </a:r>
          </a:p>
          <a:p>
            <a:pPr algn="l"/>
            <a:r>
              <a:rPr sz="190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排 2、3 名的早期觀看指標代表「即時動能」，兩者缺一不可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5029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核心發現 3 ─ 留言情緒特徵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60120"/>
            <a:ext cx="16002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留言喚醒度讓 Precision 從 73% 升到 82%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2331720"/>
          <a:ext cx="8595360" cy="283464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EFF1E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特徵組</a:t>
                      </a:r>
                    </a:p>
                  </a:txBody>
                  <a:tcPr marL="128016" marR="128016" marT="27432" marB="27432" anchor="ctr">
                    <a:solidFill>
                      <a:srgbClr val="3437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EFF1E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F1</a:t>
                      </a:r>
                    </a:p>
                  </a:txBody>
                  <a:tcPr marL="128016" marR="128016" marT="27432" marB="27432" anchor="ctr">
                    <a:solidFill>
                      <a:srgbClr val="3437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EFF1E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Precision 提升</a:t>
                      </a:r>
                    </a:p>
                  </a:txBody>
                  <a:tcPr marL="128016" marR="128016" marT="27432" marB="27432" anchor="ctr">
                    <a:solidFill>
                      <a:srgbClr val="343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3437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B（基準）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3437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0.731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3437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73.1%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3437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C1 二元情緒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3437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0.752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3437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+4.4%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900" b="1" i="0">
                          <a:solidFill>
                            <a:srgbClr val="EFF1E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C2 喚醒度 ★</a:t>
                      </a:r>
                    </a:p>
                  </a:txBody>
                  <a:tcPr marL="128016" marR="128016" marT="27432" marB="27432" anchor="ctr">
                    <a:solidFill>
                      <a:srgbClr val="70A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i="0">
                          <a:solidFill>
                            <a:srgbClr val="EFF1E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0.763</a:t>
                      </a:r>
                    </a:p>
                  </a:txBody>
                  <a:tcPr marL="128016" marR="128016" marT="27432" marB="27432" anchor="ctr">
                    <a:solidFill>
                      <a:srgbClr val="70A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i="0">
                          <a:solidFill>
                            <a:srgbClr val="EFF1E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+9.1%</a:t>
                      </a:r>
                    </a:p>
                  </a:txBody>
                  <a:tcPr marL="128016" marR="128016" marT="27432" marB="27432" anchor="ctr">
                    <a:solidFill>
                      <a:srgbClr val="70A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3437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C3 全部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3437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0.740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3437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+4.0%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097280" y="5669280"/>
            <a:ext cx="8595360" cy="1234440"/>
          </a:xfrm>
          <a:prstGeom prst="roundRect">
            <a:avLst>
              <a:gd name="adj" fmla="val 12000"/>
            </a:avLst>
          </a:prstGeom>
          <a:noFill/>
          <a:ln w="31750">
            <a:solidFill>
              <a:srgbClr val="70A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5669280"/>
            <a:ext cx="859536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C2：Precision </a:t>
            </a:r>
            <a:r>
              <a:rPr sz="2800" b="1" i="0">
                <a:solidFill>
                  <a:srgbClr val="70A1BD"/>
                </a:solidFill>
                <a:latin typeface="Arial Black"/>
                <a:ea typeface="Microsoft JhengHei"/>
                <a:cs typeface="Microsoft JhengHei"/>
              </a:rPr>
              <a:t>73% → 82%</a:t>
            </a:r>
            <a:r>
              <a:rPr sz="2800" b="1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（+12%）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7315200"/>
            <a:ext cx="8778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高喚醒留言（驚嘆號・emoji・強烈詞彙）</a:t>
            </a:r>
          </a:p>
          <a:p>
            <a:pPr algn="l"/>
            <a:r>
              <a:rPr sz="2000" b="0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→ 觀眾更興奮 → 病毒性更高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8641080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7F827C"/>
                </a:solidFill>
                <a:latin typeface="Microsoft JhengHei"/>
                <a:ea typeface="Microsoft JhengHei"/>
                <a:cs typeface="Microsoft JhengHei"/>
              </a:rPr>
              <a:t>覆蓋率僅 34%（642 支），其餘填 0，仍有明顯效益</a:t>
            </a:r>
          </a:p>
        </p:txBody>
      </p:sp>
      <p:pic>
        <p:nvPicPr>
          <p:cNvPr id="9" name="Picture 8" descr="fig17_comment_valence_arous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2103120"/>
            <a:ext cx="7408441" cy="6949440"/>
          </a:xfrm>
          <a:prstGeom prst="rect">
            <a:avLst/>
          </a:prstGeom>
          <a:ln w="15875">
            <a:solidFill>
              <a:srgbClr val="343734"/>
            </a:solidFill>
          </a:ln>
          <a:effectLst/>
        </p:spPr>
      </p:pic>
      <p:sp>
        <p:nvSpPr>
          <p:cNvPr id="10" name="Rounded Rectangle 9"/>
          <p:cNvSpPr/>
          <p:nvPr/>
        </p:nvSpPr>
        <p:spPr>
          <a:xfrm>
            <a:off x="15226561" y="3794760"/>
            <a:ext cx="2240280" cy="502920"/>
          </a:xfrm>
          <a:prstGeom prst="roundRect">
            <a:avLst>
              <a:gd name="adj" fmla="val 30000"/>
            </a:avLst>
          </a:prstGeom>
          <a:solidFill>
            <a:srgbClr val="70A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226561" y="379476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viral 集中區 ↗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A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502920"/>
            <a:ext cx="16002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分類完整結果：AUC 最高 0.943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600200"/>
            <a:ext cx="5212080" cy="1463040"/>
          </a:xfrm>
          <a:prstGeom prst="roundRect">
            <a:avLst>
              <a:gd name="adj" fmla="val 13000"/>
            </a:avLst>
          </a:prstGeom>
          <a:solidFill>
            <a:srgbClr val="EF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19" y="1600200"/>
            <a:ext cx="246888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800" b="1" i="0">
                <a:solidFill>
                  <a:srgbClr val="70A1BD"/>
                </a:solidFill>
                <a:latin typeface="Arial Black"/>
                <a:ea typeface="Microsoft JhengHei"/>
                <a:cs typeface="Microsoft JhengHei"/>
              </a:rPr>
              <a:t>0.763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1600200"/>
            <a:ext cx="219456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F1 最高</a:t>
            </a:r>
          </a:p>
          <a:p>
            <a:pPr algn="l"/>
            <a:r>
              <a:rPr sz="1500" b="0" i="0">
                <a:solidFill>
                  <a:srgbClr val="7F827C"/>
                </a:solidFill>
                <a:latin typeface="Microsoft JhengHei"/>
                <a:ea typeface="Microsoft JhengHei"/>
                <a:cs typeface="Microsoft JhengHei"/>
              </a:rPr>
              <a:t>LightGBM・C2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600200"/>
            <a:ext cx="5212080" cy="1463040"/>
          </a:xfrm>
          <a:prstGeom prst="roundRect">
            <a:avLst>
              <a:gd name="adj" fmla="val 13000"/>
            </a:avLst>
          </a:prstGeom>
          <a:solidFill>
            <a:srgbClr val="EF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0" y="1600200"/>
            <a:ext cx="246888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800" b="1" i="0">
                <a:solidFill>
                  <a:srgbClr val="70A1BD"/>
                </a:solidFill>
                <a:latin typeface="Arial Black"/>
                <a:ea typeface="Microsoft JhengHei"/>
                <a:cs typeface="Microsoft JhengHei"/>
              </a:rPr>
              <a:t>0.943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1600200"/>
            <a:ext cx="219456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AUC 最高</a:t>
            </a:r>
          </a:p>
          <a:p>
            <a:pPr algn="l"/>
            <a:r>
              <a:rPr sz="1500" b="0" i="0">
                <a:solidFill>
                  <a:srgbClr val="7F827C"/>
                </a:solidFill>
                <a:latin typeface="Microsoft JhengHei"/>
                <a:ea typeface="Microsoft JhengHei"/>
                <a:cs typeface="Microsoft JhengHei"/>
              </a:rPr>
              <a:t>LightGBM・C1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978640" y="1600200"/>
            <a:ext cx="5212080" cy="1463040"/>
          </a:xfrm>
          <a:prstGeom prst="roundRect">
            <a:avLst>
              <a:gd name="adj" fmla="val 13000"/>
            </a:avLst>
          </a:prstGeom>
          <a:solidFill>
            <a:srgbClr val="EF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298680" y="1600200"/>
            <a:ext cx="246888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800" b="1" i="0">
                <a:solidFill>
                  <a:srgbClr val="70A1BD"/>
                </a:solidFill>
                <a:latin typeface="Arial Black"/>
                <a:ea typeface="Microsoft JhengHei"/>
                <a:cs typeface="Microsoft JhengHei"/>
              </a:rPr>
              <a:t>0.832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59000" y="1600200"/>
            <a:ext cx="219456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PR-AUC 最高</a:t>
            </a:r>
          </a:p>
          <a:p>
            <a:pPr algn="l"/>
            <a:r>
              <a:rPr sz="1500" b="0" i="0">
                <a:solidFill>
                  <a:srgbClr val="7F827C"/>
                </a:solidFill>
                <a:latin typeface="Microsoft JhengHei"/>
                <a:ea typeface="Microsoft JhengHei"/>
                <a:cs typeface="Microsoft JhengHei"/>
              </a:rPr>
              <a:t>LightGBM・C3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97280" y="3657600"/>
          <a:ext cx="9326880" cy="3712464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EFF1E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模型</a:t>
                      </a:r>
                    </a:p>
                  </a:txBody>
                  <a:tcPr marL="128016" marR="128016" marT="27432" marB="27432" anchor="ctr">
                    <a:solidFill>
                      <a:srgbClr val="3437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EFF1E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特徵組</a:t>
                      </a:r>
                    </a:p>
                  </a:txBody>
                  <a:tcPr marL="128016" marR="128016" marT="27432" marB="27432" anchor="ctr">
                    <a:solidFill>
                      <a:srgbClr val="3437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EFF1E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F1</a:t>
                      </a:r>
                    </a:p>
                  </a:txBody>
                  <a:tcPr marL="128016" marR="128016" marT="27432" marB="27432" anchor="ctr">
                    <a:solidFill>
                      <a:srgbClr val="3437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EFF1E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AUC</a:t>
                      </a:r>
                    </a:p>
                  </a:txBody>
                  <a:tcPr marL="128016" marR="128016" marT="27432" marB="27432" anchor="ctr">
                    <a:solidFill>
                      <a:srgbClr val="343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EFF1E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Logistic</a:t>
                      </a:r>
                    </a:p>
                  </a:txBody>
                  <a:tcPr marL="128016" marR="128016" marT="27432" marB="27432" anchor="ctr">
                    <a:solidFill>
                      <a:srgbClr val="3437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EFF1E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</a:t>
                      </a:r>
                    </a:p>
                  </a:txBody>
                  <a:tcPr marL="128016" marR="128016" marT="27432" marB="27432" anchor="ctr">
                    <a:solidFill>
                      <a:srgbClr val="3437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EFF1E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0.520</a:t>
                      </a:r>
                    </a:p>
                  </a:txBody>
                  <a:tcPr marL="128016" marR="128016" marT="27432" marB="27432" anchor="ctr">
                    <a:solidFill>
                      <a:srgbClr val="3437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EFF1E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0.905</a:t>
                      </a:r>
                    </a:p>
                  </a:txBody>
                  <a:tcPr marL="128016" marR="128016" marT="27432" marB="27432" anchor="ctr">
                    <a:solidFill>
                      <a:srgbClr val="343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EFF1E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LightGBM</a:t>
                      </a:r>
                    </a:p>
                  </a:txBody>
                  <a:tcPr marL="128016" marR="128016" marT="27432" marB="27432" anchor="ctr">
                    <a:solidFill>
                      <a:srgbClr val="3437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EFF1E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</a:t>
                      </a:r>
                    </a:p>
                  </a:txBody>
                  <a:tcPr marL="128016" marR="128016" marT="27432" marB="27432" anchor="ctr">
                    <a:solidFill>
                      <a:srgbClr val="3437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EFF1E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0.731</a:t>
                      </a:r>
                    </a:p>
                  </a:txBody>
                  <a:tcPr marL="128016" marR="128016" marT="27432" marB="27432" anchor="ctr">
                    <a:solidFill>
                      <a:srgbClr val="3437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EFF1E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0.937</a:t>
                      </a:r>
                    </a:p>
                  </a:txBody>
                  <a:tcPr marL="128016" marR="128016" marT="27432" marB="27432" anchor="ctr">
                    <a:solidFill>
                      <a:srgbClr val="343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3437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LightGBM</a:t>
                      </a:r>
                    </a:p>
                  </a:txBody>
                  <a:tcPr marL="128016" marR="128016" marT="27432" marB="27432" anchor="ctr">
                    <a:solidFill>
                      <a:srgbClr val="EF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3437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C2 ★</a:t>
                      </a:r>
                    </a:p>
                  </a:txBody>
                  <a:tcPr marL="128016" marR="128016" marT="27432" marB="27432" anchor="ctr">
                    <a:solidFill>
                      <a:srgbClr val="EF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3437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0.763</a:t>
                      </a:r>
                    </a:p>
                  </a:txBody>
                  <a:tcPr marL="128016" marR="128016" marT="27432" marB="27432" anchor="ctr">
                    <a:solidFill>
                      <a:srgbClr val="EF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3437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0.934</a:t>
                      </a:r>
                    </a:p>
                  </a:txBody>
                  <a:tcPr marL="128016" marR="128016" marT="27432" marB="27432" anchor="ctr">
                    <a:solidFill>
                      <a:srgbClr val="EF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3437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LightGBM</a:t>
                      </a:r>
                    </a:p>
                  </a:txBody>
                  <a:tcPr marL="128016" marR="128016" marT="27432" marB="27432" anchor="ctr">
                    <a:solidFill>
                      <a:srgbClr val="EF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3437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C1 ★</a:t>
                      </a:r>
                    </a:p>
                  </a:txBody>
                  <a:tcPr marL="128016" marR="128016" marT="27432" marB="27432" anchor="ctr">
                    <a:solidFill>
                      <a:srgbClr val="EF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3437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0.752</a:t>
                      </a:r>
                    </a:p>
                  </a:txBody>
                  <a:tcPr marL="128016" marR="128016" marT="27432" marB="27432" anchor="ctr">
                    <a:solidFill>
                      <a:srgbClr val="EF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3437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0.943</a:t>
                      </a:r>
                    </a:p>
                  </a:txBody>
                  <a:tcPr marL="128016" marR="128016" marT="27432" marB="27432" anchor="ctr">
                    <a:solidFill>
                      <a:srgbClr val="EF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800" b="0" i="1">
                          <a:solidFill>
                            <a:srgbClr val="AEB0A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LSTM</a:t>
                      </a:r>
                    </a:p>
                  </a:txBody>
                  <a:tcPr marL="128016" marR="128016" marT="27432" marB="27432" anchor="ctr">
                    <a:solidFill>
                      <a:srgbClr val="3437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1">
                          <a:solidFill>
                            <a:srgbClr val="AEB0A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</a:t>
                      </a:r>
                    </a:p>
                  </a:txBody>
                  <a:tcPr marL="128016" marR="128016" marT="27432" marB="27432" anchor="ctr">
                    <a:solidFill>
                      <a:srgbClr val="3437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1">
                          <a:solidFill>
                            <a:srgbClr val="AEB0A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0.257</a:t>
                      </a:r>
                    </a:p>
                  </a:txBody>
                  <a:tcPr marL="128016" marR="128016" marT="27432" marB="27432" anchor="ctr">
                    <a:solidFill>
                      <a:srgbClr val="3437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1">
                          <a:solidFill>
                            <a:srgbClr val="AEB0A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0.590</a:t>
                      </a:r>
                    </a:p>
                  </a:txBody>
                  <a:tcPr marL="128016" marR="128016" marT="27432" marB="27432" anchor="ctr">
                    <a:solidFill>
                      <a:srgbClr val="343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EFF1E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Stacking</a:t>
                      </a:r>
                    </a:p>
                  </a:txBody>
                  <a:tcPr marL="128016" marR="128016" marT="27432" marB="27432" anchor="ctr">
                    <a:solidFill>
                      <a:srgbClr val="3437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EFF1E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LGB+LSTM</a:t>
                      </a:r>
                    </a:p>
                  </a:txBody>
                  <a:tcPr marL="128016" marR="128016" marT="27432" marB="27432" anchor="ctr">
                    <a:solidFill>
                      <a:srgbClr val="3437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EFF1E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0.674</a:t>
                      </a:r>
                    </a:p>
                  </a:txBody>
                  <a:tcPr marL="128016" marR="128016" marT="27432" marB="27432" anchor="ctr">
                    <a:solidFill>
                      <a:srgbClr val="3437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EFF1E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0.919</a:t>
                      </a:r>
                    </a:p>
                  </a:txBody>
                  <a:tcPr marL="128016" marR="128016" marT="27432" marB="27432" anchor="ctr">
                    <a:solidFill>
                      <a:srgbClr val="343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97280" y="7589520"/>
            <a:ext cx="9509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BCD1D7"/>
                </a:solidFill>
                <a:latin typeface="Microsoft JhengHei"/>
                <a:ea typeface="Microsoft JhengHei"/>
                <a:cs typeface="Microsoft JhengHei"/>
              </a:rPr>
              <a:t>LSTM 缺少訂閱數等靜態特徵，上限受限</a:t>
            </a:r>
          </a:p>
          <a:p>
            <a:pPr algn="l"/>
            <a:r>
              <a:rPr sz="1700" b="0" i="0">
                <a:solidFill>
                  <a:srgbClr val="BCD1D7"/>
                </a:solidFill>
                <a:latin typeface="Microsoft JhengHei"/>
                <a:ea typeface="Microsoft JhengHei"/>
                <a:cs typeface="Microsoft JhengHei"/>
              </a:rPr>
              <a:t>Stacking AUC 0.919，但 F1 被 LSTM 低品質預測拖累</a:t>
            </a:r>
          </a:p>
        </p:txBody>
      </p:sp>
      <p:pic>
        <p:nvPicPr>
          <p:cNvPr id="14" name="Picture 13" descr="fig09_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3657600"/>
            <a:ext cx="6035040" cy="5402151"/>
          </a:xfrm>
          <a:prstGeom prst="rect">
            <a:avLst/>
          </a:prstGeom>
          <a:ln w="15875">
            <a:solidFill>
              <a:srgbClr val="EFF1E8"/>
            </a:solidFill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594360"/>
            <a:ext cx="16002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Confusion Matrix：模型在哪裡犯錯？</a:t>
            </a:r>
          </a:p>
        </p:txBody>
      </p:sp>
      <p:pic>
        <p:nvPicPr>
          <p:cNvPr id="3" name="Picture 2" descr="fig11_confusion_matrix_lgb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2011680"/>
            <a:ext cx="5203364" cy="5120640"/>
          </a:xfrm>
          <a:prstGeom prst="rect">
            <a:avLst/>
          </a:prstGeom>
          <a:ln w="15875">
            <a:solidFill>
              <a:srgbClr val="343734"/>
            </a:solidFill>
          </a:ln>
          <a:effectLst/>
        </p:spPr>
      </p:pic>
      <p:pic>
        <p:nvPicPr>
          <p:cNvPr id="4" name="Picture 3" descr="fig12_threshold_sensi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057400"/>
            <a:ext cx="7680960" cy="5042462"/>
          </a:xfrm>
          <a:prstGeom prst="rect">
            <a:avLst/>
          </a:prstGeom>
          <a:ln w="15875">
            <a:solidFill>
              <a:srgbClr val="343734"/>
            </a:solidFill>
          </a:ln>
          <a:effectLst/>
        </p:spPr>
      </p:pic>
      <p:cxnSp>
        <p:nvCxnSpPr>
          <p:cNvPr id="5" name="Connector 4"/>
          <p:cNvCxnSpPr/>
          <p:nvPr/>
        </p:nvCxnSpPr>
        <p:spPr>
          <a:xfrm>
            <a:off x="8732520" y="2103120"/>
            <a:ext cx="0" cy="7132320"/>
          </a:xfrm>
          <a:prstGeom prst="line">
            <a:avLst/>
          </a:prstGeom>
          <a:ln w="15240">
            <a:solidFill>
              <a:srgbClr val="C9CB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71600" y="7452360"/>
            <a:ext cx="69494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100" b="1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最該關注：</a:t>
            </a:r>
            <a:r>
              <a:rPr sz="2100" b="1" i="0">
                <a:solidFill>
                  <a:srgbClr val="E62117"/>
                </a:solidFill>
                <a:latin typeface="Microsoft JhengHei"/>
                <a:ea typeface="Microsoft JhengHei"/>
                <a:cs typeface="Microsoft JhengHei"/>
              </a:rPr>
              <a:t>FN ─ 漏抓的爆紅影片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病毒率僅 12.6%，漏掉一支爆紅影片</a:t>
            </a:r>
          </a:p>
          <a:p>
            <a:pPr algn="l"/>
            <a:r>
              <a:rPr sz="1800" b="0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是最貴的錯誤（LightGBM B，test n=403）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7452360"/>
            <a:ext cx="77724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100" b="1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預設 threshold = 0.5 不一定最佳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早期預警場景 → 調低閾值：</a:t>
            </a:r>
          </a:p>
          <a:p>
            <a:pPr algn="l"/>
            <a:r>
              <a:rPr sz="18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Recall ↑、Precision ↓</a:t>
            </a:r>
            <a:r>
              <a:rPr sz="1800" b="0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，依使用情境取捨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594360"/>
            <a:ext cx="16002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PR 曲線：不平衡資料下的真實評估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81328"/>
            <a:ext cx="16002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1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ROC 在不平衡資料下容易過於樂觀，因此同時檢視 PR 曲線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468880"/>
            <a:ext cx="7315200" cy="5212080"/>
          </a:xfrm>
          <a:prstGeom prst="roundRect">
            <a:avLst>
              <a:gd name="adj" fmla="val 8000"/>
            </a:avLst>
          </a:prstGeom>
          <a:solidFill>
            <a:srgbClr val="343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91640" y="2880360"/>
            <a:ext cx="621792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AEB0A9"/>
                </a:solidFill>
                <a:latin typeface="Microsoft JhengHei"/>
                <a:ea typeface="Microsoft JhengHei"/>
                <a:cs typeface="Microsoft JhengHei"/>
              </a:rPr>
              <a:t>Random baseline（＝病毒率）</a:t>
            </a:r>
          </a:p>
          <a:p>
            <a:pPr algn="l">
              <a:spcAft>
                <a:spcPts val="1800"/>
              </a:spcAft>
            </a:pPr>
            <a:r>
              <a:rPr sz="30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PR-AUC ≈ 0.126</a:t>
            </a:r>
            <a:r>
              <a:rPr sz="1800" b="0" i="0">
                <a:solidFill>
                  <a:srgbClr val="AEB0A9"/>
                </a:solidFill>
                <a:latin typeface="Microsoft JhengHei"/>
                <a:ea typeface="Microsoft JhengHei"/>
                <a:cs typeface="Microsoft JhengHei"/>
              </a:rPr>
              <a:t>（不是 0.5）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AEB0A9"/>
                </a:solidFill>
                <a:latin typeface="Microsoft JhengHei"/>
                <a:ea typeface="Microsoft JhengHei"/>
                <a:cs typeface="Microsoft JhengHei"/>
              </a:rPr>
              <a:t>LightGBM C3</a:t>
            </a:r>
          </a:p>
          <a:p>
            <a:pPr algn="l">
              <a:spcAft>
                <a:spcPts val="2000"/>
              </a:spcAft>
            </a:pPr>
            <a:r>
              <a:rPr sz="30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PR-AUC = 0.832</a:t>
            </a:r>
          </a:p>
          <a:p>
            <a:pPr algn="l">
              <a:spcAft>
                <a:spcPts val="200"/>
              </a:spcAft>
            </a:pPr>
            <a:r>
              <a:rPr sz="6400" b="1" i="0">
                <a:solidFill>
                  <a:srgbClr val="70A1BD"/>
                </a:solidFill>
                <a:latin typeface="Arial Black"/>
                <a:ea typeface="Microsoft JhengHei"/>
                <a:cs typeface="Microsoft JhengHei"/>
              </a:rPr>
              <a:t>6.6×</a:t>
            </a:r>
          </a:p>
          <a:p>
            <a:pPr algn="l"/>
            <a:r>
              <a:rPr sz="180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相對 baseline 的提升（+0.706）</a:t>
            </a:r>
          </a:p>
        </p:txBody>
      </p:sp>
      <p:pic>
        <p:nvPicPr>
          <p:cNvPr id="6" name="Picture 5" descr="fig10_pr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2240280"/>
            <a:ext cx="7589520" cy="6793615"/>
          </a:xfrm>
          <a:prstGeom prst="rect">
            <a:avLst/>
          </a:prstGeom>
          <a:ln w="15875">
            <a:solidFill>
              <a:srgbClr val="343734"/>
            </a:solidFill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594360"/>
            <a:ext cx="16002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迴歸任務：48h 後預測未來 24h，R²=0.853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2194560"/>
          <a:ext cx="8412480" cy="2267712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EFF1E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模型</a:t>
                      </a:r>
                    </a:p>
                  </a:txBody>
                  <a:tcPr marL="128016" marR="128016" marT="27432" marB="27432" anchor="ctr">
                    <a:solidFill>
                      <a:srgbClr val="3437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EFF1E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特徵組</a:t>
                      </a:r>
                    </a:p>
                  </a:txBody>
                  <a:tcPr marL="128016" marR="128016" marT="27432" marB="27432" anchor="ctr">
                    <a:solidFill>
                      <a:srgbClr val="3437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EFF1E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R²</a:t>
                      </a:r>
                    </a:p>
                  </a:txBody>
                  <a:tcPr marL="128016" marR="128016" marT="27432" marB="27432" anchor="ctr">
                    <a:solidFill>
                      <a:srgbClr val="3437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EFF1E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MAE</a:t>
                      </a:r>
                    </a:p>
                  </a:txBody>
                  <a:tcPr marL="128016" marR="128016" marT="27432" marB="27432" anchor="ctr">
                    <a:solidFill>
                      <a:srgbClr val="343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3437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LightGBM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3437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3437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0.851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3437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0.841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900" b="1" i="0">
                          <a:solidFill>
                            <a:srgbClr val="EFF1E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LightGBM ★</a:t>
                      </a:r>
                    </a:p>
                  </a:txBody>
                  <a:tcPr marL="128016" marR="128016" marT="27432" marB="27432" anchor="ctr">
                    <a:solidFill>
                      <a:srgbClr val="70A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i="0">
                          <a:solidFill>
                            <a:srgbClr val="EFF1E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C1</a:t>
                      </a:r>
                    </a:p>
                  </a:txBody>
                  <a:tcPr marL="128016" marR="128016" marT="27432" marB="27432" anchor="ctr">
                    <a:solidFill>
                      <a:srgbClr val="70A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i="0">
                          <a:solidFill>
                            <a:srgbClr val="EFF1E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0.853</a:t>
                      </a:r>
                    </a:p>
                  </a:txBody>
                  <a:tcPr marL="128016" marR="128016" marT="27432" marB="27432" anchor="ctr">
                    <a:solidFill>
                      <a:srgbClr val="70A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i="0">
                          <a:solidFill>
                            <a:srgbClr val="EFF1E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0.835</a:t>
                      </a:r>
                    </a:p>
                  </a:txBody>
                  <a:tcPr marL="128016" marR="128016" marT="27432" marB="27432" anchor="ctr">
                    <a:solidFill>
                      <a:srgbClr val="70A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3437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LSTM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3437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3437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0.705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3437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1.137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1097280" y="4892040"/>
            <a:ext cx="8412480" cy="1143000"/>
          </a:xfrm>
          <a:prstGeom prst="roundRect">
            <a:avLst>
              <a:gd name="adj" fmla="val 14000"/>
            </a:avLst>
          </a:prstGeom>
          <a:noFill/>
          <a:ln w="25400">
            <a:solidFill>
              <a:srgbClr val="70A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4892040"/>
            <a:ext cx="841248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MAE 0.835（log 尺度）</a:t>
            </a:r>
            <a:r>
              <a:rPr sz="2200" b="0" i="0">
                <a:solidFill>
                  <a:srgbClr val="343734"/>
                </a:solidFill>
                <a:latin typeface="Microsoft JhengHei"/>
                <a:ea typeface="Microsoft JhengHei"/>
                <a:cs typeface="Microsoft JhengHei"/>
              </a:rPr>
              <a:t> ≈ 實際觀看數誤差約 ×2.3 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6537960"/>
            <a:ext cx="8412480" cy="1828800"/>
          </a:xfrm>
          <a:prstGeom prst="roundRect">
            <a:avLst>
              <a:gd name="adj" fmla="val 10000"/>
            </a:avLst>
          </a:prstGeom>
          <a:solidFill>
            <a:srgbClr val="343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6812280"/>
            <a:ext cx="75895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應用場景</a:t>
            </a:r>
          </a:p>
          <a:p>
            <a:pPr algn="l"/>
            <a:r>
              <a:rPr sz="21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創作者在發布 48 小時後，可預估影片接下來還會漲多少</a:t>
            </a:r>
          </a:p>
        </p:txBody>
      </p:sp>
      <p:pic>
        <p:nvPicPr>
          <p:cNvPr id="8" name="Picture 7" descr="fig14_reg_pred_vs_ac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2103120"/>
            <a:ext cx="7315200" cy="6598383"/>
          </a:xfrm>
          <a:prstGeom prst="rect">
            <a:avLst/>
          </a:prstGeom>
          <a:ln w="15875">
            <a:solidFill>
              <a:srgbClr val="343734"/>
            </a:solidFill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A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548640"/>
            <a:ext cx="16002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迴歸誤差從哪來？殘差分析與群組比較</a:t>
            </a:r>
          </a:p>
        </p:txBody>
      </p:sp>
      <p:pic>
        <p:nvPicPr>
          <p:cNvPr id="3" name="Picture 2" descr="fig15_reg_residu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2103120"/>
            <a:ext cx="5199017" cy="3931920"/>
          </a:xfrm>
          <a:prstGeom prst="rect">
            <a:avLst/>
          </a:prstGeom>
          <a:ln w="25400">
            <a:solidFill>
              <a:srgbClr val="343734"/>
            </a:solidFill>
          </a:ln>
          <a:effectLst/>
        </p:spPr>
      </p:pic>
      <p:pic>
        <p:nvPicPr>
          <p:cNvPr id="4" name="Picture 3" descr="fig16_ablation_regres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2103120"/>
            <a:ext cx="7753599" cy="3931920"/>
          </a:xfrm>
          <a:prstGeom prst="rect">
            <a:avLst/>
          </a:prstGeom>
          <a:ln w="25400">
            <a:solidFill>
              <a:srgbClr val="343734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463040" y="626364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殘差集中於 0 附近</a:t>
            </a:r>
          </a:p>
          <a:p>
            <a:pPr algn="l"/>
            <a:r>
              <a:rPr sz="180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但右側長尾明顯──高成長影片難預測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263640"/>
            <a:ext cx="7863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B → C1：R² 0.851 → 0.853（情緒特徵小幅提升）</a:t>
            </a:r>
          </a:p>
          <a:p>
            <a:pPr algn="l"/>
            <a:r>
              <a:rPr sz="180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LSTM 0.705 明顯落後 LightGBM 0.853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7772400"/>
            <a:ext cx="15453359" cy="1828800"/>
          </a:xfrm>
          <a:prstGeom prst="roundRect">
            <a:avLst>
              <a:gd name="adj" fmla="val 8000"/>
            </a:avLst>
          </a:prstGeom>
          <a:noFill/>
          <a:ln w="22225">
            <a:solidFill>
              <a:srgbClr val="EFF1E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0" y="8046720"/>
            <a:ext cx="14538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・誤差最大：觀看數「突然爆發」的影片──社群擴散（viral cascade）效應</a:t>
            </a:r>
          </a:p>
          <a:p>
            <a:pPr algn="l"/>
            <a:r>
              <a:rPr sz="200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・此類外部衝擊有很強隨機性，難以從前 48 小時資料完全預測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A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urve_c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640080"/>
            <a:ext cx="6583680" cy="438912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1097280" y="868680"/>
            <a:ext cx="1371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3 小時，足以預測爆紅</a:t>
            </a:r>
          </a:p>
        </p:txBody>
      </p:sp>
      <p:sp>
        <p:nvSpPr>
          <p:cNvPr id="4" name="Oval 3"/>
          <p:cNvSpPr/>
          <p:nvPr/>
        </p:nvSpPr>
        <p:spPr>
          <a:xfrm>
            <a:off x="1280160" y="2788920"/>
            <a:ext cx="731520" cy="731520"/>
          </a:xfrm>
          <a:prstGeom prst="ellipse">
            <a:avLst/>
          </a:prstGeom>
          <a:solidFill>
            <a:srgbClr val="EF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c_check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608" y="2944368"/>
            <a:ext cx="420624" cy="420624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2331720" y="2788920"/>
            <a:ext cx="13258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AUC 0.943</a:t>
            </a:r>
            <a:r>
              <a:rPr sz="2400" b="0" i="0">
                <a:solidFill>
                  <a:srgbClr val="BCD1D7"/>
                </a:solidFill>
                <a:latin typeface="Microsoft JhengHei"/>
                <a:ea typeface="Microsoft JhengHei"/>
                <a:cs typeface="Microsoft JhengHei"/>
              </a:rPr>
              <a:t>　──　</a:t>
            </a:r>
            <a:r>
              <a:rPr sz="240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3 小時資料已足以預測爆紅</a:t>
            </a:r>
          </a:p>
        </p:txBody>
      </p:sp>
      <p:sp>
        <p:nvSpPr>
          <p:cNvPr id="7" name="Oval 6"/>
          <p:cNvSpPr/>
          <p:nvPr/>
        </p:nvSpPr>
        <p:spPr>
          <a:xfrm>
            <a:off x="1280160" y="3794760"/>
            <a:ext cx="731520" cy="731520"/>
          </a:xfrm>
          <a:prstGeom prst="ellipse">
            <a:avLst/>
          </a:prstGeom>
          <a:solidFill>
            <a:srgbClr val="EF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c_bars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5608" y="3950208"/>
            <a:ext cx="420624" cy="420624"/>
          </a:xfrm>
          <a:prstGeom prst="rect">
            <a:avLst/>
          </a:prstGeom>
          <a:effectLst/>
        </p:spPr>
      </p:pic>
      <p:sp>
        <p:nvSpPr>
          <p:cNvPr id="9" name="TextBox 8"/>
          <p:cNvSpPr txBox="1"/>
          <p:nvPr/>
        </p:nvSpPr>
        <p:spPr>
          <a:xfrm>
            <a:off x="2331720" y="3794760"/>
            <a:ext cx="13258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SHAP 2.109</a:t>
            </a:r>
            <a:r>
              <a:rPr sz="2400" b="0" i="0">
                <a:solidFill>
                  <a:srgbClr val="BCD1D7"/>
                </a:solidFill>
                <a:latin typeface="Microsoft JhengHei"/>
                <a:ea typeface="Microsoft JhengHei"/>
                <a:cs typeface="Microsoft JhengHei"/>
              </a:rPr>
              <a:t>　──　</a:t>
            </a:r>
            <a:r>
              <a:rPr sz="240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受眾規模是爆紅的基礎</a:t>
            </a:r>
          </a:p>
        </p:txBody>
      </p:sp>
      <p:sp>
        <p:nvSpPr>
          <p:cNvPr id="10" name="Oval 9"/>
          <p:cNvSpPr/>
          <p:nvPr/>
        </p:nvSpPr>
        <p:spPr>
          <a:xfrm>
            <a:off x="1280160" y="4800600"/>
            <a:ext cx="731520" cy="731520"/>
          </a:xfrm>
          <a:prstGeom prst="ellipse">
            <a:avLst/>
          </a:prstGeom>
          <a:solidFill>
            <a:srgbClr val="EF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c_comment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608" y="4956048"/>
            <a:ext cx="420624" cy="420624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2331720" y="4800600"/>
            <a:ext cx="13258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Precision +12%</a:t>
            </a:r>
            <a:r>
              <a:rPr sz="2400" b="0" i="0">
                <a:solidFill>
                  <a:srgbClr val="BCD1D7"/>
                </a:solidFill>
                <a:latin typeface="Microsoft JhengHei"/>
                <a:ea typeface="Microsoft JhengHei"/>
                <a:cs typeface="Microsoft JhengHei"/>
              </a:rPr>
              <a:t>　──　</a:t>
            </a:r>
            <a:r>
              <a:rPr sz="240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留言喚醒度特徵有效(C2)</a:t>
            </a:r>
          </a:p>
        </p:txBody>
      </p:sp>
      <p:sp>
        <p:nvSpPr>
          <p:cNvPr id="13" name="Oval 12"/>
          <p:cNvSpPr/>
          <p:nvPr/>
        </p:nvSpPr>
        <p:spPr>
          <a:xfrm>
            <a:off x="1280160" y="5806440"/>
            <a:ext cx="731520" cy="731520"/>
          </a:xfrm>
          <a:prstGeom prst="ellipse">
            <a:avLst/>
          </a:prstGeom>
          <a:solidFill>
            <a:srgbClr val="EF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c_scale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608" y="5961888"/>
            <a:ext cx="420624" cy="420624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2331720" y="5806440"/>
            <a:ext cx="13258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分組時序切分</a:t>
            </a:r>
            <a:r>
              <a:rPr sz="2400" b="0" i="0">
                <a:solidFill>
                  <a:srgbClr val="BCD1D7"/>
                </a:solidFill>
                <a:latin typeface="Microsoft JhengHei"/>
                <a:ea typeface="Microsoft JhengHei"/>
                <a:cs typeface="Microsoft JhengHei"/>
              </a:rPr>
              <a:t>　──　</a:t>
            </a:r>
            <a:r>
              <a:rPr sz="240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評估公平性的關鍵設計</a:t>
            </a:r>
          </a:p>
        </p:txBody>
      </p:sp>
      <p:sp>
        <p:nvSpPr>
          <p:cNvPr id="16" name="Oval 15"/>
          <p:cNvSpPr/>
          <p:nvPr/>
        </p:nvSpPr>
        <p:spPr>
          <a:xfrm>
            <a:off x="1280160" y="6812280"/>
            <a:ext cx="731520" cy="731520"/>
          </a:xfrm>
          <a:prstGeom prst="ellipse">
            <a:avLst/>
          </a:prstGeom>
          <a:solidFill>
            <a:srgbClr val="EF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c_trend_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35608" y="6967728"/>
            <a:ext cx="420624" cy="420624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2331720" y="6812280"/>
            <a:ext cx="13258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迴歸 R² 0.853</a:t>
            </a:r>
            <a:r>
              <a:rPr sz="2400" b="0" i="0">
                <a:solidFill>
                  <a:srgbClr val="BCD1D7"/>
                </a:solidFill>
                <a:latin typeface="Microsoft JhengHei"/>
                <a:ea typeface="Microsoft JhengHei"/>
                <a:cs typeface="Microsoft JhengHei"/>
              </a:rPr>
              <a:t>　──　</a:t>
            </a:r>
            <a:r>
              <a:rPr sz="2400" b="0" i="0">
                <a:solidFill>
                  <a:srgbClr val="EFF1E8"/>
                </a:solidFill>
                <a:latin typeface="Microsoft JhengHei"/>
                <a:ea typeface="Microsoft JhengHei"/>
                <a:cs typeface="Microsoft JhengHei"/>
              </a:rPr>
              <a:t>48h 後可預測未來增量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8229600"/>
            <a:ext cx="12435840" cy="1417320"/>
          </a:xfrm>
          <a:prstGeom prst="roundRect">
            <a:avLst>
              <a:gd name="adj" fmla="val 12000"/>
            </a:avLst>
          </a:prstGeom>
          <a:solidFill>
            <a:srgbClr val="343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80160" y="8229600"/>
            <a:ext cx="124358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1">
                <a:solidFill>
                  <a:srgbClr val="70A1BD"/>
                </a:solidFill>
                <a:latin typeface="Microsoft JhengHei"/>
                <a:ea typeface="Microsoft JhengHei"/>
                <a:cs typeface="Microsoft JhengHei"/>
              </a:rPr>
              <a:t>「發布後 3 小時，不只是等待的時間──它是預測的窗口。」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1949</Words>
  <Application>Microsoft Office PowerPoint</Application>
  <PresentationFormat>自訂</PresentationFormat>
  <Paragraphs>368</Paragraphs>
  <Slides>20</Slides>
  <Notes>20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6" baseType="lpstr">
      <vt:lpstr>Microsoft JhengHei</vt:lpstr>
      <vt:lpstr>Arial</vt:lpstr>
      <vt:lpstr>Arial Black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YouTube 影片早期成長與爆紅預測</dc:title>
  <dc:subject/>
  <dc:creator>資料探勘導論期末專題</dc:creator>
  <cp:keywords/>
  <dc:description>generated using python-pptx</dc:description>
  <cp:lastModifiedBy>Willie Chang</cp:lastModifiedBy>
  <cp:revision>1</cp:revision>
  <dcterms:created xsi:type="dcterms:W3CDTF">2013-01-27T09:14:16Z</dcterms:created>
  <dcterms:modified xsi:type="dcterms:W3CDTF">2026-06-10T10:12:19Z</dcterms:modified>
  <cp:category/>
</cp:coreProperties>
</file>